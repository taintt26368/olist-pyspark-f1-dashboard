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d8fcce8ad14cb2" /><Relationship Type="http://schemas.openxmlformats.org/officeDocument/2006/relationships/extended-properties" Target="/docProps/app.xml" Id="R877a5afbf6eb4325" /><Relationship Type="http://schemas.openxmlformats.org/officeDocument/2006/relationships/officeDocument" Target="/ppt/presentation.xml" Id="R566f0e39692d43bc" /></Relationships>
</file>

<file path=ppt/presentation.xml><?xml version="1.0" encoding="utf-8"?>
<p:presentation xmlns:p="http://schemas.openxmlformats.org/presentationml/2006/main">
  <p:sldMasterIdLst>
    <p:sldMasterId xmlns:r="http://schemas.openxmlformats.org/officeDocument/2006/relationships" id="2147483648" r:id="Rb84be3ebe3b64215"/>
  </p:sldMasterIdLst>
  <p:notesMasterIdLst>
    <p:notesMasterId xmlns:r="http://schemas.openxmlformats.org/officeDocument/2006/relationships" r:id="Re9527b1e60324f46"/>
  </p:notesMasterIdLst>
  <p:sldIdLst>
    <p:sldId xmlns:r="http://schemas.openxmlformats.org/officeDocument/2006/relationships" id="256" r:id="R1cf9941b50704585"/>
    <p:sldId xmlns:r="http://schemas.openxmlformats.org/officeDocument/2006/relationships" id="257" r:id="Rd68b9fe71cb84351"/>
    <p:sldId xmlns:r="http://schemas.openxmlformats.org/officeDocument/2006/relationships" id="258" r:id="Rdc4187fa14864c80"/>
    <p:sldId xmlns:r="http://schemas.openxmlformats.org/officeDocument/2006/relationships" id="259" r:id="R2c9d727d96d944b8"/>
    <p:sldId xmlns:r="http://schemas.openxmlformats.org/officeDocument/2006/relationships" id="260" r:id="R44f7b1d7615141ac"/>
    <p:sldId xmlns:r="http://schemas.openxmlformats.org/officeDocument/2006/relationships" id="261" r:id="R9d7af85d7a10480e"/>
    <p:sldId xmlns:r="http://schemas.openxmlformats.org/officeDocument/2006/relationships" id="262" r:id="Rc0c9f2f561bb4869"/>
    <p:sldId xmlns:r="http://schemas.openxmlformats.org/officeDocument/2006/relationships" id="263" r:id="Raeb9ac5e4b6e4bfd"/>
    <p:sldId xmlns:r="http://schemas.openxmlformats.org/officeDocument/2006/relationships" id="264" r:id="Rccfef7ebe4b64524"/>
    <p:sldId xmlns:r="http://schemas.openxmlformats.org/officeDocument/2006/relationships" id="265" r:id="R5a7276cee67648f2"/>
    <p:sldId xmlns:r="http://schemas.openxmlformats.org/officeDocument/2006/relationships" id="266" r:id="Re850617183e24eda"/>
    <p:sldId xmlns:r="http://schemas.openxmlformats.org/officeDocument/2006/relationships" id="267" r:id="R48612d40994c4475"/>
    <p:sldId xmlns:r="http://schemas.openxmlformats.org/officeDocument/2006/relationships" id="268" r:id="R1f545f4aa48341ff"/>
    <p:sldId xmlns:r="http://schemas.openxmlformats.org/officeDocument/2006/relationships" id="269" r:id="R5bef3a8b555a43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41576494645492b" /><Relationship Type="http://schemas.openxmlformats.org/officeDocument/2006/relationships/slideMaster" Target="/ppt/slideMasters/slideMaster1.xml" Id="Rb84be3ebe3b64215" /><Relationship Type="http://schemas.openxmlformats.org/officeDocument/2006/relationships/notesMaster" Target="/ppt/notesMasters/notesMaster1.xml" Id="Re9527b1e60324f46" /><Relationship Type="http://schemas.openxmlformats.org/officeDocument/2006/relationships/presProps" Target="/ppt/presProps.xml" Id="Ra24c81093048457f" /><Relationship Type="http://schemas.openxmlformats.org/officeDocument/2006/relationships/viewProps" Target="/ppt/viewProps.xml" Id="R709577907cc446b5" /><Relationship Type="http://schemas.openxmlformats.org/officeDocument/2006/relationships/tableStyles" Target="/ppt/tableStyles.xml" Id="R60fce6461a5a4520" /><Relationship Type="http://schemas.openxmlformats.org/officeDocument/2006/relationships/slide" Target="/ppt/slides/slide1.xml" Id="R1cf9941b50704585" /><Relationship Type="http://schemas.openxmlformats.org/officeDocument/2006/relationships/slide" Target="/ppt/slides/slide2.xml" Id="Rd68b9fe71cb84351" /><Relationship Type="http://schemas.openxmlformats.org/officeDocument/2006/relationships/slide" Target="/ppt/slides/slide3.xml" Id="Rdc4187fa14864c80" /><Relationship Type="http://schemas.openxmlformats.org/officeDocument/2006/relationships/slide" Target="/ppt/slides/slide4.xml" Id="R2c9d727d96d944b8" /><Relationship Type="http://schemas.openxmlformats.org/officeDocument/2006/relationships/slide" Target="/ppt/slides/slide5.xml" Id="R44f7b1d7615141ac" /><Relationship Type="http://schemas.openxmlformats.org/officeDocument/2006/relationships/slide" Target="/ppt/slides/slide6.xml" Id="R9d7af85d7a10480e" /><Relationship Type="http://schemas.openxmlformats.org/officeDocument/2006/relationships/slide" Target="/ppt/slides/slide7.xml" Id="Rc0c9f2f561bb4869" /><Relationship Type="http://schemas.openxmlformats.org/officeDocument/2006/relationships/slide" Target="/ppt/slides/slide8.xml" Id="Raeb9ac5e4b6e4bfd" /><Relationship Type="http://schemas.openxmlformats.org/officeDocument/2006/relationships/slide" Target="/ppt/slides/slide9.xml" Id="Rccfef7ebe4b64524" /><Relationship Type="http://schemas.openxmlformats.org/officeDocument/2006/relationships/slide" Target="/ppt/slides/slide10.xml" Id="R5a7276cee67648f2" /><Relationship Type="http://schemas.openxmlformats.org/officeDocument/2006/relationships/slide" Target="/ppt/slides/slide11.xml" Id="Re850617183e24eda" /><Relationship Type="http://schemas.openxmlformats.org/officeDocument/2006/relationships/slide" Target="/ppt/slides/slide12.xml" Id="R48612d40994c4475" /><Relationship Type="http://schemas.openxmlformats.org/officeDocument/2006/relationships/slide" Target="/ppt/slides/slide13.xml" Id="R1f545f4aa48341ff" /><Relationship Type="http://schemas.openxmlformats.org/officeDocument/2006/relationships/slide" Target="/ppt/slides/slide14.xml" Id="R5bef3a8b555a43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f2c2ce0f5847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d03c7543334dd3" /><Relationship Type="http://schemas.openxmlformats.org/officeDocument/2006/relationships/notesMaster" Target="/ppt/notesMasters/notesMaster1.xml" Id="R9b0403f9bd0641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9f68c19a244493" /><Relationship Type="http://schemas.openxmlformats.org/officeDocument/2006/relationships/notesMaster" Target="/ppt/notesMasters/notesMaster1.xml" Id="Re8b76a1c0d7846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15150a795540a5" /><Relationship Type="http://schemas.openxmlformats.org/officeDocument/2006/relationships/notesMaster" Target="/ppt/notesMasters/notesMaster1.xml" Id="R72ffc67823814a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1b3a47c2b14802" /><Relationship Type="http://schemas.openxmlformats.org/officeDocument/2006/relationships/notesMaster" Target="/ppt/notesMasters/notesMaster1.xml" Id="Rd3d0fced2d4d42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f9af2f3a2744eb" /><Relationship Type="http://schemas.openxmlformats.org/officeDocument/2006/relationships/notesMaster" Target="/ppt/notesMasters/notesMaster1.xml" Id="Rf6b414838f8849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b00eae3c1d4694" /><Relationship Type="http://schemas.openxmlformats.org/officeDocument/2006/relationships/notesMaster" Target="/ppt/notesMasters/notesMaster1.xml" Id="Rb7bb53d2796941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b835f543ed467f" /><Relationship Type="http://schemas.openxmlformats.org/officeDocument/2006/relationships/notesMaster" Target="/ppt/notesMasters/notesMaster1.xml" Id="R56029e71c5d54c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497f41be694c0f" /><Relationship Type="http://schemas.openxmlformats.org/officeDocument/2006/relationships/notesMaster" Target="/ppt/notesMasters/notesMaster1.xml" Id="R906195dd221c4c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f694cd33b84fea" /><Relationship Type="http://schemas.openxmlformats.org/officeDocument/2006/relationships/notesMaster" Target="/ppt/notesMasters/notesMaster1.xml" Id="Rf643ca8b032041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07cb3a5d134af6" /><Relationship Type="http://schemas.openxmlformats.org/officeDocument/2006/relationships/notesMaster" Target="/ppt/notesMasters/notesMaster1.xml" Id="R3521f2fc3a6744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398c5707b94ce7" /><Relationship Type="http://schemas.openxmlformats.org/officeDocument/2006/relationships/notesMaster" Target="/ppt/notesMasters/notesMaster1.xml" Id="Rfaa9aeca9abd4e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ce5e12f86640ac" /><Relationship Type="http://schemas.openxmlformats.org/officeDocument/2006/relationships/notesMaster" Target="/ppt/notesMasters/notesMaster1.xml" Id="R7ef8fd3517b14b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70f0d3c0b44947" /><Relationship Type="http://schemas.openxmlformats.org/officeDocument/2006/relationships/notesMaster" Target="/ppt/notesMasters/notesMaster1.xml" Id="R699d181cd09d4c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5c23745e3849fe" /><Relationship Type="http://schemas.openxmlformats.org/officeDocument/2006/relationships/notesMaster" Target="/ppt/notesMasters/notesMaster1.xml" Id="R62659fa2d07b44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thông điệp: đây là quy trình PySpark có kiểm chứng từ dữ liệu đến model. Common threshold của lần chạy chính thức là 0,094; tiêu chí lựa chọn là F1 trên validation. Không mô tả F1 là hàm mất mát hay tiêu chí huấn luyện.</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Bối cảnh nghiên cứu là ưu tiên kiểm tra đơn có nguy cơ giao trễ bằng dữ liệu có sẵn tại thời điểm đặt hàng. Model chỉ hỗ trợ sàng lọc, không thay quyết định vận hành.</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orders là bảng trung tâm. Các bảng con phải groupBy order_id trước khi join để không fan-out. orders_enriched có 96.470 order_id duy nhất.</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kiểm tra schema, khóa, null, timestamp và bất thường được chạy trước khi phân tích. Dataset gốc không bị sửa; output làm sạch và tích hợp nằm ở thư mục riêng.</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Năm script chạy theo thứ tự 01 đến 05. Mỗi bước có assertion và output bằng chứng; bước 05 dùng F1 để lựa chọn trên validation.</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EDA chỉ mô tả liên hệ trong dữ liệu lịch sử, không chứng minh quan hệ nhân quả. Tỷ lệ late toàn bộ được tính trực tiếp là 6,7731%.</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feature địa lý và vận chuyển chỉ được dùng nếu biết tại thời điểm đặt hàng. Không dùng thông tin sau giao hàng hoặc cột trực tiếp tạo label.</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gồm StringIndexer, OneHotEncoder, Imputer median và VectorAssembler; 3 categorical feature và 15 numeric feature tạo vector 141 vị trí.</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model vẫn được PySpark MLlib fit() theo cấu hình khóa: Logistic Regression maxIter 50, regParam 0,01; Random Forest 30 trees, maxDepth 6, seed 42. F1 không huấn luyện model; F1 chỉ xếp hạng threshold và chọn model trên validation.</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AUC và threshold trả lời hai câu hỏi khác nhau. AUC test: baseline 0,500000, Logistic Regression 0,701896, Random Forest 0,687284. Common threshold 0,094 được chọn bằng F1 trên validation, không từ test.</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split với seed 42: train_full 77.379, test 19.091; train_fit 62.054, validation 15.325. Chương trình thử 110 candidate. Chỉ candidate có alert rate của cả hai model ≤20% mới hợp lệ; xếp hạng theo average_f1, minimum_f1, average_recall, average_alert_rate rồi threshold.</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test tại cùng common threshold 0,094. Baseline: TN 17.830, FN 1.261, F1 0,00%. Logistic Regression: TP 553, TN 14.473, FP 3.357, FN 708, Precision 14,14%, Recall 43,85%, F1 21,39%, AUC 0,701896, alert rate 20,48%. Random Forest: TP 241, TN 17.057, FP 773, FN 1.020, Precision 23,77%, Recall 19,11%, F1 21,19%, AUC 0,687284, alert rate 5,31%.</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minh họa là Logistic Regression vì F1 validation 22,39% cao hơn Random Forest 22,01%. Quyết định được khóa trước test. Hạn chế chính: class imbalance, Precision thấp, thiếu dữ liệu logistics, probability score chưa calibration và threshold không tối ưu tuyệt đối cho mọi dataset.</a:t>
            </a:r>
          </a:p>
          <a:p xmlns:a="http://schemas.openxmlformats.org/drawingml/2006/main">
            <a:r>
              <a:t>[Sources]</a:t>
            </a:r>
          </a:p>
          <a:p xmlns:a="http://schemas.openxmlformats.org/drawingml/2006/main">
            <a:r>
              <a:t>- C:\data_python\olist_tieu_luan\outputs\tables\05_run_metadata.csv</a:t>
            </a:r>
          </a:p>
          <a:p xmlns:a="http://schemas.openxmlformats.org/drawingml/2006/main">
            <a: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Q&amp;A – các số cần thống nhất:</a:t>
            </a:r>
          </a:p>
          <a:p xmlns:a="http://schemas.openxmlformats.org/drawingml/2006/main">
            <a:r>
              <a:rPr sz="1200" b="1">
                <a:solidFill>
                  <a:schemeClr val="tx1"/>
                </a:solidFill>
                <a:latin typeface="+mn-lt"/>
                <a:ea typeface="+mn-lt"/>
                <a:cs typeface="+mn-lt"/>
              </a:rPr>
              <a:t>• Common threshold: 0,094; 110 candidate; chọn bằng F1 trên validation.</a:t>
            </a:r>
          </a:p>
          <a:p xmlns:a="http://schemas.openxmlformats.org/drawingml/2006/main">
            <a:r>
              <a:rPr sz="1200">
                <a:solidFill>
                  <a:schemeClr val="tx1"/>
                </a:solidFill>
                <a:latin typeface="+mn-lt"/>
                <a:ea typeface="+mn-lt"/>
                <a:cs typeface="+mn-lt"/>
              </a:rPr>
              <a:t>• Validation LR: TP 458, TN 11.692, FP 2.586, FN 589, Precision 15,05%, Recall 43,74%, F1 22,39%, AUC 0,695851, alert rate 19,86%.</a:t>
            </a:r>
          </a:p>
          <a:p xmlns:a="http://schemas.openxmlformats.org/drawingml/2006/main">
            <a:r>
              <a:rPr sz="1200" b="1">
                <a:solidFill>
                  <a:schemeClr val="tx1"/>
                </a:solidFill>
                <a:latin typeface="+mn-lt"/>
                <a:ea typeface="+mn-lt"/>
                <a:cs typeface="+mn-lt"/>
              </a:rPr>
              <a:t>• Validation RF: TP 192, TN 13.772, FP 506, FN 855, Precision 27,51%, Recall 18,34%, F1 22,01%, AUC 0,684502, alert rate 4,55%.</a:t>
            </a:r>
          </a:p>
          <a:p xmlns:a="http://schemas.openxmlformats.org/drawingml/2006/main">
            <a:r>
              <a:rPr sz="1200">
                <a:solidFill>
                  <a:schemeClr val="tx1"/>
                </a:solidFill>
                <a:latin typeface="+mn-lt"/>
                <a:ea typeface="+mn-lt"/>
                <a:cs typeface="+mn-lt"/>
              </a:rPr>
              <a:t>• Model minh họa: Logistic Regression, chọn từ validation.</a:t>
            </a:r>
          </a:p>
          <a:p xmlns:a="http://schemas.openxmlformats.org/drawingml/2006/main">
            <a:r>
              <a:rPr sz="1200" b="1">
                <a:solidFill>
                  <a:schemeClr val="tx1"/>
                </a:solidFill>
                <a:latin typeface="+mn-lt"/>
                <a:ea typeface="+mn-lt"/>
                <a:cs typeface="+mn-lt"/>
              </a:rPr>
              <a:t>• Test không tham gia chọn threshold/model.</a:t>
            </a:r>
          </a:p>
          <a:p xmlns:a="http://schemas.openxmlformats.org/drawingml/2006/main">
            <a:r>
              <a:rPr sz="1200">
                <a:solidFill>
                  <a:schemeClr val="tx1"/>
                </a:solidFill>
                <a:latin typeface="+mn-lt"/>
                <a:ea typeface="+mn-lt"/>
                <a:cs typeface="+mn-lt"/>
              </a:rPr>
              <a:t>• Reproducibility signature: ec543f47703be58e1068a1bebb9c44c632f3e9766da82d87ddb134b460c25dbd; hai lần chạy MATCH.</a:t>
            </a:r>
          </a:p>
          <a:p xmlns:a="http://schemas.openxmlformats.org/drawingml/2006/main">
            <a:r>
              <a:rPr sz="1200" b="1">
                <a:solidFill>
                  <a:schemeClr val="tx1"/>
                </a:solidFill>
                <a:latin typeface="+mn-lt"/>
                <a:ea typeface="+mn-lt"/>
                <a:cs typeface="+mn-lt"/>
              </a:rPr>
              <a:t>[Sources]</a:t>
            </a:r>
          </a:p>
          <a:p xmlns:a="http://schemas.openxmlformats.org/drawingml/2006/main">
            <a:r>
              <a:rPr sz="1200">
                <a:solidFill>
                  <a:schemeClr val="tx1"/>
                </a:solidFill>
                <a:latin typeface="+mn-lt"/>
                <a:ea typeface="+mn-lt"/>
                <a:cs typeface="+mn-lt"/>
              </a:rPr>
              <a:t>- C:\data_python\olist_tieu_luan\outputs\tables\05_run_metadata.csv</a:t>
            </a:r>
          </a:p>
          <a:p xmlns:a="http://schemas.openxmlformats.org/drawingml/2006/main">
            <a:r>
              <a:rPr sz="1200" b="1">
                <a:solidFill>
                  <a:schemeClr val="tx1"/>
                </a:solidFill>
                <a:latin typeface="+mn-lt"/>
                <a:ea typeface="+mn-lt"/>
                <a:cs typeface="+mn-lt"/>
              </a:rPr>
              <a:t>- C:\data_python\olist_tieu_luan\outputs\tables\05_reproducibility_signature.csv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e336a8bcd944dc" /></Relationships>
</file>

<file path=ppt/slideLayouts/slideLayout1.xml><?xml version="1.0" encoding="utf-8"?>
<p:sldLayout xmlns:p="http://schemas.openxmlformats.org/presentationml/2006/main" preserve="1">
  <p:cSld name="DEFAULT">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434610e5b56b44f8" /><Relationship Type="http://schemas.openxmlformats.org/officeDocument/2006/relationships/theme" Target="/ppt/slideMasters/theme/theme2.xml" Id="Rc945916e707742e1" /><Relationship Type="http://schemas.openxmlformats.org/officeDocument/2006/relationships/slideLayout" Target="/ppt/slideLayouts/slideLayout1.xml" Id="R2ef5517564a74de0"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434610e5b56b44f8">
            <a:lum/>
          </a:blip>
          <a:srcRect l="0" t="0" r="0" b="0"/>
          <a:stretch>
            <a:fillRect l="0" t="-14000" r="0" b="0"/>
          </a:stretch>
        </a:blip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f5517564a74de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be472e6094438c" /><Relationship Type="http://schemas.openxmlformats.org/officeDocument/2006/relationships/image" Target="/ppt/media/image2.jpeg" Id="R2e2dbeb461a74897" /><Relationship Type="http://schemas.openxmlformats.org/officeDocument/2006/relationships/notesSlide" Target="/ppt/notesSlides/notesSlide1.xml" Id="Rc484931cd3464e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dd569940ff47ac" /><Relationship Type="http://schemas.openxmlformats.org/officeDocument/2006/relationships/notesSlide" Target="/ppt/notesSlides/notesSlide2.xml" Id="Rb75662e6e58c45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451b24e6d746f8" /><Relationship Type="http://schemas.openxmlformats.org/officeDocument/2006/relationships/notesSlide" Target="/ppt/notesSlides/notesSlide3.xml" Id="Rb1b71b3d2a604d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9b841cb9634b14" /><Relationship Type="http://schemas.openxmlformats.org/officeDocument/2006/relationships/notesSlide" Target="/ppt/notesSlides/notesSlide4.xml" Id="R5194a5af7b1947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4b08f799c94201" /><Relationship Type="http://schemas.openxmlformats.org/officeDocument/2006/relationships/notesSlide" Target="/ppt/notesSlides/notesSlide5.xml" Id="R8be5fd2f7ddd42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08fb0feb3a4a4f" /><Relationship Type="http://schemas.openxmlformats.org/officeDocument/2006/relationships/image" Target="/ppt/media/image.jpeg" Id="R1821e94f10114ca7" /><Relationship Type="http://schemas.openxmlformats.org/officeDocument/2006/relationships/image" Target="/ppt/media/image.png" Id="R75a076fcb28143e7" /><Relationship Type="http://schemas.openxmlformats.org/officeDocument/2006/relationships/image" Target="/ppt/media/image2.png" Id="R341703bf28b7436a" /><Relationship Type="http://schemas.openxmlformats.org/officeDocument/2006/relationships/notesSlide" Target="/ppt/notesSlides/notesSlide6.xml" Id="R7d947558989446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dd4794f6f14a61" /><Relationship Type="http://schemas.openxmlformats.org/officeDocument/2006/relationships/notesSlide" Target="/ppt/notesSlides/notesSlide7.xml" Id="R20726cd7912248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f262b4d3ae4685" /><Relationship Type="http://schemas.openxmlformats.org/officeDocument/2006/relationships/notesSlide" Target="/ppt/notesSlides/notesSlide8.xml" Id="R8e4ae39f6e4d47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2b8de55e094b77" /><Relationship Type="http://schemas.openxmlformats.org/officeDocument/2006/relationships/notesSlide" Target="/ppt/notesSlides/notesSlide9.xml" Id="R969347a89a7b46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c9e7a0ba5c48f4" /><Relationship Type="http://schemas.openxmlformats.org/officeDocument/2006/relationships/notesSlide" Target="/ppt/notesSlides/notesSlide10.xml" Id="Rcfdc026aa5f34a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75775cfe4914e61" /><Relationship Type="http://schemas.openxmlformats.org/officeDocument/2006/relationships/notesSlide" Target="/ppt/notesSlides/notesSlide11.xml" Id="R36cff44675ee44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773c9524364c24" /><Relationship Type="http://schemas.openxmlformats.org/officeDocument/2006/relationships/image" Target="/ppt/media/image3.png" Id="Rfedf66d854a84f99" /><Relationship Type="http://schemas.openxmlformats.org/officeDocument/2006/relationships/image" Target="/ppt/media/image4.png" Id="R429fc9fbf9bf4904" /><Relationship Type="http://schemas.openxmlformats.org/officeDocument/2006/relationships/notesSlide" Target="/ppt/notesSlides/notesSlide12.xml" Id="R353e16f487ad41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96d14ab8a11452e" /><Relationship Type="http://schemas.openxmlformats.org/officeDocument/2006/relationships/notesSlide" Target="/ppt/notesSlides/notesSlide13.xml" Id="R5165c344ee1244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0f3b12138a4766" /><Relationship Type="http://schemas.openxmlformats.org/officeDocument/2006/relationships/notesSlide" Target="/ppt/notesSlides/notesSlide14.xml" Id="R01d6b2cc38c2414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4B2FE245-8231-4EF7-9AE5-2468C63C3040}"/>
              </a:ext>
            </a:extLst>
          </p:cNvPr>
          <p:cNvSpPr>
            <a:spLocks xmlns:a="http://schemas.openxmlformats.org/drawingml/2006/main" noGrp="1"/>
          </p:cNvSpPr>
          <p:nvPr/>
        </p:nvSpPr>
        <p:spPr>
          <a:xfrm xmlns:a="http://schemas.openxmlformats.org/drawingml/2006/main">
            <a:off x="658368" y="274320"/>
            <a:ext cx="5120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B4A8B"/>
                </a:solidFill>
              </a:rPr>
              <a:t>KHOA HỌC DỮ LIỆU VÀ BIG DATA</a:t>
            </a:r>
          </a:p>
        </p:txBody>
      </p:sp>
      <p:pic>
        <p:nvPicPr>
          <p:cNvPr id="24" name="Image 1"/>
          <p:cNvPicPr>
            <a:picLocks xmlns:a="http://schemas.openxmlformats.org/drawingml/2006/main" noChangeAspect="1"/>
          </p:cNvPicPr>
          <p:nvPr/>
        </p:nvPicPr>
        <p:blipFill>
          <a:blip xmlns:r="http://schemas.openxmlformats.org/officeDocument/2006/relationships" xmlns:a="http://schemas.openxmlformats.org/drawingml/2006/main" r:embed="R2e2dbeb461a74897"/>
          <a:stretch xmlns:a="http://schemas.openxmlformats.org/drawingml/2006/main">
            <a:fillRect l="0" t="0" r="0" b="0"/>
          </a:stretch>
        </p:blipFill>
        <p:spPr>
          <a:xfrm xmlns:a="http://schemas.openxmlformats.org/drawingml/2006/main">
            <a:off x="10744200" y="228600"/>
            <a:ext cx="804672" cy="804672"/>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4BFB9829-80A1-4C56-9B7E-130121804A3F}"/>
              </a:ext>
            </a:extLst>
          </p:cNvPr>
          <p:cNvSpPr>
            <a:spLocks xmlns:a="http://schemas.openxmlformats.org/drawingml/2006/main" noGrp="1"/>
          </p:cNvSpPr>
          <p:nvPr/>
        </p:nvSpPr>
        <p:spPr>
          <a:xfrm xmlns:a="http://schemas.openxmlformats.org/drawingml/2006/main">
            <a:off x="658368" y="1170432"/>
            <a:ext cx="658368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3100" b="1">
                <a:solidFill>
                  <a:srgbClr val="1D2630"/>
                </a:solidFill>
              </a:rPr>
              <a:t>Phân tích dữ liệu Olist và</a:t>
            </a:r>
          </a:p>
          <a:p xmlns:a="http://schemas.openxmlformats.org/drawingml/2006/main">
            <a:pPr marL="0" indent="0">
              <a:buNone/>
            </a:pPr>
            <a:r>
              <a:rPr sz="3100" b="1">
                <a:solidFill>
                  <a:srgbClr val="1D2630"/>
                </a:solidFill>
              </a:rPr>
              <a:t>dự đoán nguy cơ giao hàng </a:t>
            </a:r>
            <a:r>
              <a:rPr sz="3100" b="1">
                <a:solidFill>
                  <a:srgbClr val="1D2630"/>
                </a:solidFill>
              </a:rPr>
              <a:t>trễ </a:t>
            </a:r>
          </a:p>
          <a:p xmlns:a="http://schemas.openxmlformats.org/drawingml/2006/main">
            <a:pPr marL="0" indent="0">
              <a:buNone/>
            </a:pPr>
            <a:r>
              <a:rPr sz="3100" b="1">
                <a:solidFill>
                  <a:srgbClr val="1D2630"/>
                </a:solidFill>
              </a:rPr>
              <a:t>bằng </a:t>
            </a:r>
            <a:r>
              <a:rPr sz="3100" b="1">
                <a:solidFill>
                  <a:srgbClr val="1D2630"/>
                </a:solidFill>
              </a:rPr>
              <a:t>PySpark</a:t>
            </a:r>
          </a:p>
        </p:txBody>
      </p:sp>
      <p:sp>
        <p:nvSpPr>
          <p:cNvPr id="7" name="Shape 3">
            <a:extLst xmlns:a="http://schemas.openxmlformats.org/drawingml/2006/main">
              <a:ext uri="{FF2B5EF4-FFF2-40B4-BE49-F238E27FC236}">
                <a16:creationId xmlns:a16="http://schemas.microsoft.com/office/drawing/2014/main" id="{3E1D3C10-4E49-4CE5-AD14-85764357C2AB}"/>
              </a:ext>
            </a:extLst>
          </p:cNvPr>
          <p:cNvSpPr>
            <a:spLocks xmlns:a="http://schemas.openxmlformats.org/drawingml/2006/main" noGrp="1"/>
          </p:cNvSpPr>
          <p:nvPr/>
        </p:nvSpPr>
        <p:spPr>
          <a:xfrm xmlns:a="http://schemas.openxmlformats.org/drawingml/2006/main">
            <a:off x="5779008" y="2644541"/>
            <a:ext cx="1325880" cy="1234440"/>
          </a:xfrm>
          <a:prstGeom xmlns:a="http://schemas.openxmlformats.org/drawingml/2006/main" prst="roundRect">
            <a:avLst>
              <a:gd name="adj" fmla="val 5926"/>
            </a:avLst>
          </a:prstGeom>
          <a:solidFill xmlns:a="http://schemas.openxmlformats.org/drawingml/2006/main">
            <a:srgbClr val="DCEAF7"/>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8" name="Text 4">
            <a:extLst xmlns:a="http://schemas.openxmlformats.org/drawingml/2006/main">
              <a:ext uri="{FF2B5EF4-FFF2-40B4-BE49-F238E27FC236}">
                <a16:creationId xmlns:a16="http://schemas.microsoft.com/office/drawing/2014/main" id="{47F3D5B1-E809-4E73-8884-C9204CA97F7C}"/>
              </a:ext>
            </a:extLst>
          </p:cNvPr>
          <p:cNvSpPr>
            <a:spLocks xmlns:a="http://schemas.openxmlformats.org/drawingml/2006/main" noGrp="1"/>
          </p:cNvSpPr>
          <p:nvPr/>
        </p:nvSpPr>
        <p:spPr>
          <a:xfrm xmlns:a="http://schemas.openxmlformats.org/drawingml/2006/main">
            <a:off x="5852160" y="2809133"/>
            <a:ext cx="117957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B4A8B"/>
                </a:solidFill>
              </a:rPr>
              <a:t>96.470</a:t>
            </a:r>
          </a:p>
        </p:txBody>
      </p:sp>
      <p:sp>
        <p:nvSpPr>
          <p:cNvPr id="9" name="Text 5">
            <a:extLst xmlns:a="http://schemas.openxmlformats.org/drawingml/2006/main">
              <a:ext uri="{FF2B5EF4-FFF2-40B4-BE49-F238E27FC236}">
                <a16:creationId xmlns:a16="http://schemas.microsoft.com/office/drawing/2014/main" id="{95D34D8F-4B69-4732-885B-B1373F794D53}"/>
              </a:ext>
            </a:extLst>
          </p:cNvPr>
          <p:cNvSpPr>
            <a:spLocks xmlns:a="http://schemas.openxmlformats.org/drawingml/2006/main" noGrp="1"/>
          </p:cNvSpPr>
          <p:nvPr/>
        </p:nvSpPr>
        <p:spPr>
          <a:xfrm xmlns:a="http://schemas.openxmlformats.org/drawingml/2006/main">
            <a:off x="5870448" y="3330341"/>
            <a:ext cx="1143000" cy="466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F6B7A"/>
                </a:solidFill>
              </a:rPr>
              <a:t>đơn hàng hợp lệ</a:t>
            </a:r>
          </a:p>
        </p:txBody>
      </p:sp>
      <p:sp>
        <p:nvSpPr>
          <p:cNvPr id="10" name="Shape 6">
            <a:extLst xmlns:a="http://schemas.openxmlformats.org/drawingml/2006/main">
              <a:ext uri="{FF2B5EF4-FFF2-40B4-BE49-F238E27FC236}">
                <a16:creationId xmlns:a16="http://schemas.microsoft.com/office/drawing/2014/main" id="{50365893-B849-4BFC-9AB4-204BCC48856C}"/>
              </a:ext>
            </a:extLst>
          </p:cNvPr>
          <p:cNvSpPr>
            <a:spLocks xmlns:a="http://schemas.openxmlformats.org/drawingml/2006/main" noGrp="1"/>
          </p:cNvSpPr>
          <p:nvPr/>
        </p:nvSpPr>
        <p:spPr>
          <a:xfrm xmlns:a="http://schemas.openxmlformats.org/drawingml/2006/main">
            <a:off x="7242048" y="2644541"/>
            <a:ext cx="1325880" cy="1234440"/>
          </a:xfrm>
          <a:prstGeom xmlns:a="http://schemas.openxmlformats.org/drawingml/2006/main" prst="roundRect">
            <a:avLst>
              <a:gd name="adj" fmla="val 5926"/>
            </a:avLst>
          </a:prstGeom>
          <a:solidFill xmlns:a="http://schemas.openxmlformats.org/drawingml/2006/main">
            <a:srgbClr val="FFF0E4"/>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11" name="Text 7">
            <a:extLst xmlns:a="http://schemas.openxmlformats.org/drawingml/2006/main">
              <a:ext uri="{FF2B5EF4-FFF2-40B4-BE49-F238E27FC236}">
                <a16:creationId xmlns:a16="http://schemas.microsoft.com/office/drawing/2014/main" id="{FA5FEBB9-E10E-4E52-9B73-D50C3C001BCB}"/>
              </a:ext>
            </a:extLst>
          </p:cNvPr>
          <p:cNvSpPr>
            <a:spLocks xmlns:a="http://schemas.openxmlformats.org/drawingml/2006/main" noGrp="1"/>
          </p:cNvSpPr>
          <p:nvPr/>
        </p:nvSpPr>
        <p:spPr>
          <a:xfrm xmlns:a="http://schemas.openxmlformats.org/drawingml/2006/main">
            <a:off x="7315200" y="2809133"/>
            <a:ext cx="117957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C85B1A"/>
                </a:solidFill>
              </a:rPr>
              <a:t>6,77%</a:t>
            </a:r>
          </a:p>
        </p:txBody>
      </p:sp>
      <p:sp>
        <p:nvSpPr>
          <p:cNvPr id="12" name="Text 8">
            <a:extLst xmlns:a="http://schemas.openxmlformats.org/drawingml/2006/main">
              <a:ext uri="{FF2B5EF4-FFF2-40B4-BE49-F238E27FC236}">
                <a16:creationId xmlns:a16="http://schemas.microsoft.com/office/drawing/2014/main" id="{6D391FB6-0EB7-45A4-A70E-1137C0043839}"/>
              </a:ext>
            </a:extLst>
          </p:cNvPr>
          <p:cNvSpPr>
            <a:spLocks xmlns:a="http://schemas.openxmlformats.org/drawingml/2006/main" noGrp="1"/>
          </p:cNvSpPr>
          <p:nvPr/>
        </p:nvSpPr>
        <p:spPr>
          <a:xfrm xmlns:a="http://schemas.openxmlformats.org/drawingml/2006/main">
            <a:off x="7333488" y="3330341"/>
            <a:ext cx="1143000" cy="466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F6B7A"/>
                </a:solidFill>
              </a:rPr>
              <a:t>tỷ lệ giao trễ</a:t>
            </a:r>
          </a:p>
        </p:txBody>
      </p:sp>
      <p:sp>
        <p:nvSpPr>
          <p:cNvPr id="13" name="Shape 9">
            <a:extLst xmlns:a="http://schemas.openxmlformats.org/drawingml/2006/main">
              <a:ext uri="{FF2B5EF4-FFF2-40B4-BE49-F238E27FC236}">
                <a16:creationId xmlns:a16="http://schemas.microsoft.com/office/drawing/2014/main" id="{6F39C7F2-6C52-4C9B-9872-2005B4D5037F}"/>
              </a:ext>
            </a:extLst>
          </p:cNvPr>
          <p:cNvSpPr>
            <a:spLocks xmlns:a="http://schemas.openxmlformats.org/drawingml/2006/main" noGrp="1"/>
          </p:cNvSpPr>
          <p:nvPr/>
        </p:nvSpPr>
        <p:spPr>
          <a:xfrm xmlns:a="http://schemas.openxmlformats.org/drawingml/2006/main">
            <a:off x="8705088" y="2644541"/>
            <a:ext cx="1325880" cy="1234440"/>
          </a:xfrm>
          <a:prstGeom xmlns:a="http://schemas.openxmlformats.org/drawingml/2006/main" prst="roundRect">
            <a:avLst>
              <a:gd name="adj" fmla="val 5926"/>
            </a:avLst>
          </a:prstGeom>
          <a:solidFill xmlns:a="http://schemas.openxmlformats.org/drawingml/2006/main">
            <a:srgbClr val="FFF4D6"/>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14" name="Text 10">
            <a:extLst xmlns:a="http://schemas.openxmlformats.org/drawingml/2006/main">
              <a:ext uri="{FF2B5EF4-FFF2-40B4-BE49-F238E27FC236}">
                <a16:creationId xmlns:a16="http://schemas.microsoft.com/office/drawing/2014/main" id="{F61543F4-2B14-4796-A689-C40E1A3E3704}"/>
              </a:ext>
            </a:extLst>
          </p:cNvPr>
          <p:cNvSpPr>
            <a:spLocks xmlns:a="http://schemas.openxmlformats.org/drawingml/2006/main" noGrp="1"/>
          </p:cNvSpPr>
          <p:nvPr/>
        </p:nvSpPr>
        <p:spPr>
          <a:xfrm xmlns:a="http://schemas.openxmlformats.org/drawingml/2006/main">
            <a:off x="8778240" y="2809133"/>
            <a:ext cx="117957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9A6A00"/>
                </a:solidFill>
              </a:rPr>
              <a:t>0,094</a:t>
            </a:r>
          </a:p>
        </p:txBody>
      </p:sp>
      <p:sp>
        <p:nvSpPr>
          <p:cNvPr id="15" name="Text 11">
            <a:extLst xmlns:a="http://schemas.openxmlformats.org/drawingml/2006/main">
              <a:ext uri="{FF2B5EF4-FFF2-40B4-BE49-F238E27FC236}">
                <a16:creationId xmlns:a16="http://schemas.microsoft.com/office/drawing/2014/main" id="{609DFE70-4877-418B-9A8D-52935A200430}"/>
              </a:ext>
            </a:extLst>
          </p:cNvPr>
          <p:cNvSpPr>
            <a:spLocks xmlns:a="http://schemas.openxmlformats.org/drawingml/2006/main" noGrp="1"/>
          </p:cNvSpPr>
          <p:nvPr/>
        </p:nvSpPr>
        <p:spPr>
          <a:xfrm xmlns:a="http://schemas.openxmlformats.org/drawingml/2006/main">
            <a:off x="8796528" y="3330341"/>
            <a:ext cx="1143000" cy="466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F6B7A"/>
                </a:solidFill>
              </a:rPr>
              <a:t>common threshold</a:t>
            </a:r>
          </a:p>
        </p:txBody>
      </p:sp>
      <p:sp>
        <p:nvSpPr>
          <p:cNvPr id="16" name="Shape 12">
            <a:extLst xmlns:a="http://schemas.openxmlformats.org/drawingml/2006/main">
              <a:ext uri="{FF2B5EF4-FFF2-40B4-BE49-F238E27FC236}">
                <a16:creationId xmlns:a16="http://schemas.microsoft.com/office/drawing/2014/main" id="{31B7C5C4-F327-40D3-805F-872D8203FC6E}"/>
              </a:ext>
            </a:extLst>
          </p:cNvPr>
          <p:cNvSpPr>
            <a:spLocks xmlns:a="http://schemas.openxmlformats.org/drawingml/2006/main" noGrp="1"/>
          </p:cNvSpPr>
          <p:nvPr/>
        </p:nvSpPr>
        <p:spPr>
          <a:xfrm xmlns:a="http://schemas.openxmlformats.org/drawingml/2006/main">
            <a:off x="5779008" y="4153301"/>
            <a:ext cx="4251960" cy="1143000"/>
          </a:xfrm>
          <a:prstGeom xmlns:a="http://schemas.openxmlformats.org/drawingml/2006/main" prst="roundRect">
            <a:avLst>
              <a:gd name="adj" fmla="val 6400"/>
            </a:avLst>
          </a:prstGeom>
          <a:solidFill xmlns:a="http://schemas.openxmlformats.org/drawingml/2006/main">
            <a:srgbClr val="F7F9FC"/>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7" name="Text 13">
            <a:extLst xmlns:a="http://schemas.openxmlformats.org/drawingml/2006/main">
              <a:ext uri="{FF2B5EF4-FFF2-40B4-BE49-F238E27FC236}">
                <a16:creationId xmlns:a16="http://schemas.microsoft.com/office/drawing/2014/main" id="{6C8D799A-B00D-47D0-B660-EDEC1C736645}"/>
              </a:ext>
            </a:extLst>
          </p:cNvPr>
          <p:cNvSpPr>
            <a:spLocks xmlns:a="http://schemas.openxmlformats.org/drawingml/2006/main" noGrp="1"/>
          </p:cNvSpPr>
          <p:nvPr/>
        </p:nvSpPr>
        <p:spPr>
          <a:xfrm xmlns:a="http://schemas.openxmlformats.org/drawingml/2006/main">
            <a:off x="5943600" y="4299605"/>
            <a:ext cx="3922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B4A8B"/>
                </a:solidFill>
              </a:rPr>
              <a:t>Thông điệp chính</a:t>
            </a:r>
          </a:p>
        </p:txBody>
      </p:sp>
      <p:sp>
        <p:nvSpPr>
          <p:cNvPr id="18" name="Text 14">
            <a:extLst xmlns:a="http://schemas.openxmlformats.org/drawingml/2006/main">
              <a:ext uri="{FF2B5EF4-FFF2-40B4-BE49-F238E27FC236}">
                <a16:creationId xmlns:a16="http://schemas.microsoft.com/office/drawing/2014/main" id="{E7DA4A31-6B3C-4139-B7DD-8349BDABAE54}"/>
              </a:ext>
            </a:extLst>
          </p:cNvPr>
          <p:cNvSpPr>
            <a:spLocks xmlns:a="http://schemas.openxmlformats.org/drawingml/2006/main" noGrp="1"/>
          </p:cNvSpPr>
          <p:nvPr/>
        </p:nvSpPr>
        <p:spPr>
          <a:xfrm xmlns:a="http://schemas.openxmlformats.org/drawingml/2006/main">
            <a:off x="5943600" y="4665365"/>
            <a:ext cx="3922776"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600">
                <a:solidFill>
                  <a:srgbClr val="1D2630"/>
                </a:solidFill>
              </a:rPr>
              <a:t>Model giúp xếp ưu tiên đơn cần kiểm tra sớm; không thay thế quyết định vận hành.</a:t>
            </a:r>
          </a:p>
        </p:txBody>
      </p:sp>
      <p:sp>
        <p:nvSpPr>
          <p:cNvPr id="20" name="Text 16">
            <a:extLst xmlns:a="http://schemas.openxmlformats.org/drawingml/2006/main">
              <a:ext uri="{FF2B5EF4-FFF2-40B4-BE49-F238E27FC236}">
                <a16:creationId xmlns:a16="http://schemas.microsoft.com/office/drawing/2014/main" id="{D4C11F56-B9EA-4486-B70E-4AF6244F90CA}"/>
              </a:ext>
            </a:extLst>
          </p:cNvPr>
          <p:cNvSpPr>
            <a:spLocks xmlns:a="http://schemas.openxmlformats.org/drawingml/2006/main" noGrp="1"/>
          </p:cNvSpPr>
          <p:nvPr/>
        </p:nvSpPr>
        <p:spPr>
          <a:xfrm xmlns:a="http://schemas.openxmlformats.org/drawingml/2006/main">
            <a:off x="658368" y="6537960"/>
            <a:ext cx="987552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p>
        </p:txBody>
      </p:sp>
      <p:sp>
        <p:nvSpPr>
          <p:cNvPr id="21" name="Text 17">
            <a:extLst xmlns:a="http://schemas.openxmlformats.org/drawingml/2006/main">
              <a:ext uri="{FF2B5EF4-FFF2-40B4-BE49-F238E27FC236}">
                <a16:creationId xmlns:a16="http://schemas.microsoft.com/office/drawing/2014/main" id="{2A49F09F-75EF-4A39-A269-0C255D69D12D}"/>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1</a:t>
            </a:r>
          </a:p>
        </p:txBody>
      </p:sp>
    </p:spTree>
    <p:extLst>
      <p:ext uri="{BB962C8B-B14F-4D97-AF65-F5344CB8AC3E}">
        <p14:creationId xmlns:p14="http://schemas.microsoft.com/office/powerpoint/2010/main" val="107139348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3CA02ED3-8C14-4938-AE7B-0FB20877F536}"/>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666A16A6-6439-4F8E-A74A-B40C4442CD35}"/>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BỐI CẢNH</a:t>
            </a:r>
          </a:p>
        </p:txBody>
      </p:sp>
      <p:sp>
        <p:nvSpPr>
          <p:cNvPr id="5" name="Text 2">
            <a:extLst xmlns:a="http://schemas.openxmlformats.org/drawingml/2006/main">
              <a:ext uri="{FF2B5EF4-FFF2-40B4-BE49-F238E27FC236}">
                <a16:creationId xmlns:a16="http://schemas.microsoft.com/office/drawing/2014/main" id="{944B3097-909E-4597-83DF-A405E300F156}"/>
              </a:ext>
            </a:extLst>
          </p:cNvPr>
          <p:cNvSpPr>
            <a:spLocks xmlns:a="http://schemas.openxmlformats.org/drawingml/2006/main" noGrp="1"/>
          </p:cNvSpPr>
          <p:nvPr/>
        </p:nvSpPr>
        <p:spPr>
          <a:xfrm xmlns:a="http://schemas.openxmlformats.org/drawingml/2006/main">
            <a:off x="1389888" y="594360"/>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Vì sao chọn câu hỏi phân tích và bài toán giao trễ</a:t>
            </a:r>
          </a:p>
        </p:txBody>
      </p:sp>
      <p:sp>
        <p:nvSpPr>
          <p:cNvPr id="6" name="Shape 3">
            <a:extLst xmlns:a="http://schemas.openxmlformats.org/drawingml/2006/main">
              <a:ext uri="{FF2B5EF4-FFF2-40B4-BE49-F238E27FC236}">
                <a16:creationId xmlns:a16="http://schemas.microsoft.com/office/drawing/2014/main" id="{2E636029-223E-4DC9-8202-3AD9425369BF}"/>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C4DA3108-7776-4290-9009-55C0050ED3C5}"/>
              </a:ext>
            </a:extLst>
          </p:cNvPr>
          <p:cNvSpPr>
            <a:spLocks xmlns:a="http://schemas.openxmlformats.org/drawingml/2006/main" noGrp="1"/>
          </p:cNvSpPr>
          <p:nvPr/>
        </p:nvSpPr>
        <p:spPr>
          <a:xfrm xmlns:a="http://schemas.openxmlformats.org/drawingml/2006/main">
            <a:off x="749808" y="1353312"/>
            <a:ext cx="5166360" cy="3383280"/>
          </a:xfrm>
          <a:prstGeom xmlns:a="http://schemas.openxmlformats.org/drawingml/2006/main" prst="roundRect">
            <a:avLst>
              <a:gd name="adj" fmla="val 2162"/>
            </a:avLst>
          </a:prstGeom>
          <a:solidFill xmlns:a="http://schemas.openxmlformats.org/drawingml/2006/main">
            <a:srgbClr val="DCEAF7"/>
          </a:solidFill>
          <a:ln xmlns:a="http://schemas.openxmlformats.org/drawingml/2006/main" w="12700">
            <a:solidFill>
              <a:srgbClr val="A8C4E2"/>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nchor="t"/>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85B7E5CA-7054-49A8-A7AA-3579DBCE8C71}"/>
              </a:ext>
            </a:extLst>
          </p:cNvPr>
          <p:cNvSpPr>
            <a:spLocks xmlns:a="http://schemas.openxmlformats.org/drawingml/2006/main" noGrp="1"/>
          </p:cNvSpPr>
          <p:nvPr/>
        </p:nvSpPr>
        <p:spPr>
          <a:xfrm xmlns:a="http://schemas.openxmlformats.org/drawingml/2006/main">
            <a:off x="914400" y="1499616"/>
            <a:ext cx="48371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0B4A8B"/>
                </a:solidFill>
              </a:rPr>
              <a:t>Giá trị thực tế</a:t>
            </a:r>
          </a:p>
        </p:txBody>
      </p:sp>
      <p:sp>
        <p:nvSpPr>
          <p:cNvPr id="9" name="Text 6">
            <a:extLst xmlns:a="http://schemas.openxmlformats.org/drawingml/2006/main">
              <a:ext uri="{FF2B5EF4-FFF2-40B4-BE49-F238E27FC236}">
                <a16:creationId xmlns:a16="http://schemas.microsoft.com/office/drawing/2014/main" id="{E4F80A9F-7053-4F3A-A141-F78FDDF7A0CF}"/>
              </a:ext>
            </a:extLst>
          </p:cNvPr>
          <p:cNvSpPr>
            <a:spLocks xmlns:a="http://schemas.openxmlformats.org/drawingml/2006/main" noGrp="1"/>
          </p:cNvSpPr>
          <p:nvPr/>
        </p:nvSpPr>
        <p:spPr>
          <a:xfrm xmlns:a="http://schemas.openxmlformats.org/drawingml/2006/main">
            <a:off x="914400" y="1865376"/>
            <a:ext cx="4837176" cy="2743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2400">
                <a:solidFill>
                  <a:srgbClr val="1D2630"/>
                </a:solidFill>
              </a:rPr>
              <a:t>• Giao trễ ảnh hưởng trực tiếp đến trải nghiệm khách hàng.</a:t>
            </a:r>
          </a:p>
          <a:p xmlns:a="http://schemas.openxmlformats.org/drawingml/2006/main">
            <a:pPr marL="0" indent="0">
              <a:buNone/>
            </a:pPr>
            <a:r>
              <a:rPr sz="2400">
                <a:solidFill>
                  <a:srgbClr val="1D2630"/>
                </a:solidFill>
              </a:rPr>
              <a:t>• Doanh nghiệp phải xử lý khiếu nại, theo dõi và hỗ trợ nhiều hơn.</a:t>
            </a:r>
          </a:p>
          <a:p xmlns:a="http://schemas.openxmlformats.org/drawingml/2006/main">
            <a:pPr marL="0" indent="0">
              <a:buNone/>
            </a:pPr>
            <a:r>
              <a:rPr sz="2400">
                <a:solidFill>
                  <a:srgbClr val="1D2630"/>
                </a:solidFill>
              </a:rPr>
              <a:t>• Nếu phát hiện sớm, bộ phận vận hành có thể ưu tiên kiểm tra các đơn có rủi ro.</a:t>
            </a:r>
          </a:p>
        </p:txBody>
      </p:sp>
      <p:sp>
        <p:nvSpPr>
          <p:cNvPr id="10" name="Shape 7">
            <a:extLst xmlns:a="http://schemas.openxmlformats.org/drawingml/2006/main">
              <a:ext uri="{FF2B5EF4-FFF2-40B4-BE49-F238E27FC236}">
                <a16:creationId xmlns:a16="http://schemas.microsoft.com/office/drawing/2014/main" id="{2AA7D059-7C27-4815-869A-A47AFEA79B15}"/>
              </a:ext>
            </a:extLst>
          </p:cNvPr>
          <p:cNvSpPr>
            <a:spLocks xmlns:a="http://schemas.openxmlformats.org/drawingml/2006/main" noGrp="1"/>
          </p:cNvSpPr>
          <p:nvPr/>
        </p:nvSpPr>
        <p:spPr>
          <a:xfrm xmlns:a="http://schemas.openxmlformats.org/drawingml/2006/main">
            <a:off x="6263640" y="1353312"/>
            <a:ext cx="5166360" cy="3383280"/>
          </a:xfrm>
          <a:prstGeom xmlns:a="http://schemas.openxmlformats.org/drawingml/2006/main" prst="roundRect">
            <a:avLst>
              <a:gd name="adj" fmla="val 2162"/>
            </a:avLst>
          </a:prstGeom>
          <a:solidFill xmlns:a="http://schemas.openxmlformats.org/drawingml/2006/main">
            <a:srgbClr val="FFF4D6"/>
          </a:solidFill>
          <a:ln xmlns:a="http://schemas.openxmlformats.org/drawingml/2006/main" w="12700">
            <a:solidFill>
              <a:srgbClr val="E8C766"/>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nchor="t"/>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BDD8592E-399B-4863-A67B-B1FA7EBC7BF7}"/>
              </a:ext>
            </a:extLst>
          </p:cNvPr>
          <p:cNvSpPr>
            <a:spLocks xmlns:a="http://schemas.openxmlformats.org/drawingml/2006/main" noGrp="1"/>
          </p:cNvSpPr>
          <p:nvPr/>
        </p:nvSpPr>
        <p:spPr>
          <a:xfrm xmlns:a="http://schemas.openxmlformats.org/drawingml/2006/main">
            <a:off x="6428232" y="1499616"/>
            <a:ext cx="48371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8C6500"/>
                </a:solidFill>
              </a:rPr>
              <a:t>Giá trị học tập</a:t>
            </a:r>
          </a:p>
        </p:txBody>
      </p:sp>
      <p:sp>
        <p:nvSpPr>
          <p:cNvPr id="12" name="Text 9">
            <a:extLst xmlns:a="http://schemas.openxmlformats.org/drawingml/2006/main">
              <a:ext uri="{FF2B5EF4-FFF2-40B4-BE49-F238E27FC236}">
                <a16:creationId xmlns:a16="http://schemas.microsoft.com/office/drawing/2014/main" id="{E807AEE7-2EC6-4711-A5AB-5130C499ADFC}"/>
              </a:ext>
            </a:extLst>
          </p:cNvPr>
          <p:cNvSpPr>
            <a:spLocks xmlns:a="http://schemas.openxmlformats.org/drawingml/2006/main" noGrp="1"/>
          </p:cNvSpPr>
          <p:nvPr/>
        </p:nvSpPr>
        <p:spPr>
          <a:xfrm xmlns:a="http://schemas.openxmlformats.org/drawingml/2006/main">
            <a:off x="6428232" y="1865376"/>
            <a:ext cx="4837176" cy="2743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2400">
                <a:solidFill>
                  <a:srgbClr val="1D2630"/>
                </a:solidFill>
              </a:rPr>
              <a:t>• Bộ dữ liệu nhiều bảng giúp luyện đọc CSV, khai báo schema và join bằng PySpark.</a:t>
            </a:r>
          </a:p>
          <a:p xmlns:a="http://schemas.openxmlformats.org/drawingml/2006/main">
            <a:pPr marL="0" indent="0">
              <a:buNone/>
            </a:pPr>
            <a:r>
              <a:rPr sz="2400">
                <a:solidFill>
                  <a:srgbClr val="1D2630"/>
                </a:solidFill>
              </a:rPr>
              <a:t>• Bài toán cho thấy nguy cơ fan-out khi join sai.</a:t>
            </a:r>
          </a:p>
          <a:p xmlns:a="http://schemas.openxmlformats.org/drawingml/2006/main">
            <a:pPr marL="0" indent="0">
              <a:buNone/>
            </a:pPr>
            <a:r>
              <a:rPr sz="2400">
                <a:solidFill>
                  <a:srgbClr val="1D2630"/>
                </a:solidFill>
              </a:rPr>
              <a:t>• Đây là ví dụ rõ về rò rỉ dữ liệu (data leakage) và dữ liệu mất cân bằng.</a:t>
            </a:r>
          </a:p>
        </p:txBody>
      </p:sp>
      <p:sp>
        <p:nvSpPr>
          <p:cNvPr id="13" name="Shape 10">
            <a:extLst xmlns:a="http://schemas.openxmlformats.org/drawingml/2006/main">
              <a:ext uri="{FF2B5EF4-FFF2-40B4-BE49-F238E27FC236}">
                <a16:creationId xmlns:a16="http://schemas.microsoft.com/office/drawing/2014/main" id="{945ABAC0-D8C3-4248-9AC2-98A95E8F2EC1}"/>
              </a:ext>
            </a:extLst>
          </p:cNvPr>
          <p:cNvSpPr>
            <a:spLocks xmlns:a="http://schemas.openxmlformats.org/drawingml/2006/main" noGrp="1"/>
          </p:cNvSpPr>
          <p:nvPr/>
        </p:nvSpPr>
        <p:spPr>
          <a:xfrm xmlns:a="http://schemas.openxmlformats.org/drawingml/2006/main">
            <a:off x="1188720" y="5074920"/>
            <a:ext cx="9802368" cy="786384"/>
          </a:xfrm>
          <a:prstGeom xmlns:a="http://schemas.openxmlformats.org/drawingml/2006/main" prst="roundRect">
            <a:avLst>
              <a:gd name="adj" fmla="val 6977"/>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037CC099-6C3E-4DBB-B8A3-500D36953611}"/>
              </a:ext>
            </a:extLst>
          </p:cNvPr>
          <p:cNvSpPr>
            <a:spLocks xmlns:a="http://schemas.openxmlformats.org/drawingml/2006/main" noGrp="1"/>
          </p:cNvSpPr>
          <p:nvPr/>
        </p:nvSpPr>
        <p:spPr>
          <a:xfrm xmlns:a="http://schemas.openxmlformats.org/drawingml/2006/main">
            <a:off x="1417320" y="5285232"/>
            <a:ext cx="9326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rPr>
              <a:t>Câu hỏi trung tâm: Từ thông tin có ở thời điểm đặt hàng, có thể ưu tiên đơn nào cần kiểm tra trước?</a:t>
            </a:r>
          </a:p>
        </p:txBody>
      </p:sp>
      <p:sp>
        <p:nvSpPr>
          <p:cNvPr id="16" name="Text 13">
            <a:extLst xmlns:a="http://schemas.openxmlformats.org/drawingml/2006/main">
              <a:ext uri="{FF2B5EF4-FFF2-40B4-BE49-F238E27FC236}">
                <a16:creationId xmlns:a16="http://schemas.microsoft.com/office/drawing/2014/main" id="{B1B5944D-3F4B-45C4-BD44-AB097DF169E5}"/>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2</a:t>
            </a:r>
          </a:p>
        </p:txBody>
      </p:sp>
    </p:spTree>
    <p:extLst>
      <p:ext uri="{BB962C8B-B14F-4D97-AF65-F5344CB8AC3E}">
        <p14:creationId xmlns:p14="http://schemas.microsoft.com/office/powerpoint/2010/main" val="36907997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4308B4BA-E16F-4672-AACF-F88A72F110D0}"/>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868BFB22-5E5B-4A92-B890-2303AF8D3C92}"/>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DỮ LIỆU</a:t>
            </a:r>
          </a:p>
        </p:txBody>
      </p:sp>
      <p:sp>
        <p:nvSpPr>
          <p:cNvPr id="5" name="Text 2">
            <a:extLst xmlns:a="http://schemas.openxmlformats.org/drawingml/2006/main">
              <a:ext uri="{FF2B5EF4-FFF2-40B4-BE49-F238E27FC236}">
                <a16:creationId xmlns:a16="http://schemas.microsoft.com/office/drawing/2014/main" id="{1A869782-19D9-4C78-A391-DB05FAF589D9}"/>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Dữ liệu Olist gồm những bảng nào và liên hệ ra sao</a:t>
            </a:r>
          </a:p>
        </p:txBody>
      </p:sp>
      <p:sp>
        <p:nvSpPr>
          <p:cNvPr id="6" name="Shape 3">
            <a:extLst xmlns:a="http://schemas.openxmlformats.org/drawingml/2006/main">
              <a:ext uri="{FF2B5EF4-FFF2-40B4-BE49-F238E27FC236}">
                <a16:creationId xmlns:a16="http://schemas.microsoft.com/office/drawing/2014/main" id="{90BD4335-DDAF-46D9-B79F-A47D9D6181B3}"/>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3FAFE1B3-AA42-425E-BB1A-51D2A9DD2B80}"/>
              </a:ext>
            </a:extLst>
          </p:cNvPr>
          <p:cNvSpPr>
            <a:spLocks xmlns:a="http://schemas.openxmlformats.org/drawingml/2006/main" noGrp="1"/>
          </p:cNvSpPr>
          <p:nvPr/>
        </p:nvSpPr>
        <p:spPr>
          <a:xfrm xmlns:a="http://schemas.openxmlformats.org/drawingml/2006/main">
            <a:off x="4800600" y="2542032"/>
            <a:ext cx="2578608" cy="1051560"/>
          </a:xfrm>
          <a:prstGeom xmlns:a="http://schemas.openxmlformats.org/drawingml/2006/main" prst="roundRect">
            <a:avLst>
              <a:gd name="adj" fmla="val 6957"/>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9D5C7975-7C62-4CD9-B8F1-5C71CEACEFB9}"/>
              </a:ext>
            </a:extLst>
          </p:cNvPr>
          <p:cNvSpPr>
            <a:spLocks xmlns:a="http://schemas.openxmlformats.org/drawingml/2006/main" noGrp="1"/>
          </p:cNvSpPr>
          <p:nvPr/>
        </p:nvSpPr>
        <p:spPr>
          <a:xfrm xmlns:a="http://schemas.openxmlformats.org/drawingml/2006/main">
            <a:off x="4965192" y="2761488"/>
            <a:ext cx="224942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rPr>
              <a:t>orders</a:t>
            </a:r>
          </a:p>
          <a:p xmlns:a="http://schemas.openxmlformats.org/drawingml/2006/main">
            <a:pPr marL="0" indent="0" algn="ctr">
              <a:buNone/>
            </a:pPr>
            <a:r>
              <a:rPr sz="2100" b="1">
                <a:solidFill>
                  <a:srgbClr val="FFFFFF"/>
                </a:solidFill>
              </a:rPr>
              <a:t>Bảng trung tâm</a:t>
            </a:r>
          </a:p>
        </p:txBody>
      </p:sp>
      <p:sp>
        <p:nvSpPr>
          <p:cNvPr id="9" name="Shape 6">
            <a:extLst xmlns:a="http://schemas.openxmlformats.org/drawingml/2006/main">
              <a:ext uri="{FF2B5EF4-FFF2-40B4-BE49-F238E27FC236}">
                <a16:creationId xmlns:a16="http://schemas.microsoft.com/office/drawing/2014/main" id="{F5F2D3CC-FBD0-4786-A870-6E0AF7E8C018}"/>
              </a:ext>
            </a:extLst>
          </p:cNvPr>
          <p:cNvSpPr>
            <a:spLocks xmlns:a="http://schemas.openxmlformats.org/drawingml/2006/main" noGrp="1"/>
          </p:cNvSpPr>
          <p:nvPr/>
        </p:nvSpPr>
        <p:spPr>
          <a:xfrm xmlns:a="http://schemas.openxmlformats.org/drawingml/2006/main">
            <a:off x="841248" y="1417320"/>
            <a:ext cx="1965960" cy="749808"/>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2700">
            <a:solidFill>
              <a:srgbClr val="AFC4D8"/>
            </a:solidFill>
            <a:prstDash val="solid"/>
          </a:ln>
          <a:effectLst xmlns:a="http://schemas.openxmlformats.org/drawingml/2006/main">
            <a:outerShdw blurRad="10160" dist="3175" dir="27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F4C9C98A-2A54-4825-8C58-26662B30A02A}"/>
              </a:ext>
            </a:extLst>
          </p:cNvPr>
          <p:cNvSpPr>
            <a:spLocks xmlns:a="http://schemas.openxmlformats.org/drawingml/2006/main" noGrp="1"/>
          </p:cNvSpPr>
          <p:nvPr/>
        </p:nvSpPr>
        <p:spPr>
          <a:xfrm xmlns:a="http://schemas.openxmlformats.org/drawingml/2006/main">
            <a:off x="914400" y="1527048"/>
            <a:ext cx="181965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0B4A8B"/>
                </a:solidFill>
              </a:rPr>
              <a:t>customers</a:t>
            </a:r>
          </a:p>
        </p:txBody>
      </p:sp>
      <p:sp>
        <p:nvSpPr>
          <p:cNvPr id="11" name="Text 8">
            <a:extLst xmlns:a="http://schemas.openxmlformats.org/drawingml/2006/main">
              <a:ext uri="{FF2B5EF4-FFF2-40B4-BE49-F238E27FC236}">
                <a16:creationId xmlns:a16="http://schemas.microsoft.com/office/drawing/2014/main" id="{AEC542C4-F286-497E-B68B-125718D82564}"/>
              </a:ext>
            </a:extLst>
          </p:cNvPr>
          <p:cNvSpPr>
            <a:spLocks xmlns:a="http://schemas.openxmlformats.org/drawingml/2006/main" noGrp="1"/>
          </p:cNvSpPr>
          <p:nvPr/>
        </p:nvSpPr>
        <p:spPr>
          <a:xfrm xmlns:a="http://schemas.openxmlformats.org/drawingml/2006/main">
            <a:off x="932688" y="1810512"/>
            <a:ext cx="1783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F6B7A"/>
                </a:solidFill>
              </a:rPr>
              <a:t>thông tin khách hàng</a:t>
            </a:r>
          </a:p>
        </p:txBody>
      </p:sp>
      <p:sp>
        <p:nvSpPr>
          <p:cNvPr id="12" name="Shape 9">
            <a:extLst xmlns:a="http://schemas.openxmlformats.org/drawingml/2006/main">
              <a:ext uri="{FF2B5EF4-FFF2-40B4-BE49-F238E27FC236}">
                <a16:creationId xmlns:a16="http://schemas.microsoft.com/office/drawing/2014/main" id="{CC45AF4B-EDBF-4CE2-9B9A-07ED0F0DE5F0}"/>
              </a:ext>
            </a:extLst>
          </p:cNvPr>
          <p:cNvSpPr>
            <a:spLocks xmlns:a="http://schemas.openxmlformats.org/drawingml/2006/main" noGrp="1"/>
          </p:cNvSpPr>
          <p:nvPr/>
        </p:nvSpPr>
        <p:spPr>
          <a:xfrm xmlns:a="http://schemas.openxmlformats.org/drawingml/2006/main">
            <a:off x="2235708" y="4644136"/>
            <a:ext cx="1965960" cy="749808"/>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2700">
            <a:solidFill>
              <a:srgbClr val="AFC4D8"/>
            </a:solidFill>
            <a:prstDash val="solid"/>
          </a:ln>
          <a:effectLst xmlns:a="http://schemas.openxmlformats.org/drawingml/2006/main">
            <a:outerShdw blurRad="10160" dist="3175" dir="27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A27E0135-F9A1-4D72-A17E-1630AB072C02}"/>
              </a:ext>
            </a:extLst>
          </p:cNvPr>
          <p:cNvSpPr>
            <a:spLocks xmlns:a="http://schemas.openxmlformats.org/drawingml/2006/main" noGrp="1"/>
          </p:cNvSpPr>
          <p:nvPr/>
        </p:nvSpPr>
        <p:spPr>
          <a:xfrm xmlns:a="http://schemas.openxmlformats.org/drawingml/2006/main">
            <a:off x="2308860" y="4753864"/>
            <a:ext cx="181965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0B4A8B"/>
                </a:solidFill>
              </a:rPr>
              <a:t>reviews</a:t>
            </a:r>
          </a:p>
        </p:txBody>
      </p:sp>
      <p:sp>
        <p:nvSpPr>
          <p:cNvPr id="14" name="Text 11">
            <a:extLst xmlns:a="http://schemas.openxmlformats.org/drawingml/2006/main">
              <a:ext uri="{FF2B5EF4-FFF2-40B4-BE49-F238E27FC236}">
                <a16:creationId xmlns:a16="http://schemas.microsoft.com/office/drawing/2014/main" id="{ECC85334-049A-4143-BB8A-200706FCC065}"/>
              </a:ext>
            </a:extLst>
          </p:cNvPr>
          <p:cNvSpPr>
            <a:spLocks xmlns:a="http://schemas.openxmlformats.org/drawingml/2006/main" noGrp="1"/>
          </p:cNvSpPr>
          <p:nvPr/>
        </p:nvSpPr>
        <p:spPr>
          <a:xfrm xmlns:a="http://schemas.openxmlformats.org/drawingml/2006/main">
            <a:off x="2327148" y="5037328"/>
            <a:ext cx="1783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F6B7A"/>
                </a:solidFill>
              </a:rPr>
              <a:t>đánh giá sau mua</a:t>
            </a:r>
          </a:p>
        </p:txBody>
      </p:sp>
      <p:sp>
        <p:nvSpPr>
          <p:cNvPr id="15" name="Shape 12">
            <a:extLst xmlns:a="http://schemas.openxmlformats.org/drawingml/2006/main">
              <a:ext uri="{FF2B5EF4-FFF2-40B4-BE49-F238E27FC236}">
                <a16:creationId xmlns:a16="http://schemas.microsoft.com/office/drawing/2014/main" id="{55487F4D-80B3-46CC-AFC4-3BD66E87F9D3}"/>
              </a:ext>
            </a:extLst>
          </p:cNvPr>
          <p:cNvSpPr>
            <a:spLocks xmlns:a="http://schemas.openxmlformats.org/drawingml/2006/main" noGrp="1"/>
          </p:cNvSpPr>
          <p:nvPr/>
        </p:nvSpPr>
        <p:spPr>
          <a:xfrm xmlns:a="http://schemas.openxmlformats.org/drawingml/2006/main">
            <a:off x="3127248" y="1097280"/>
            <a:ext cx="1965960" cy="749808"/>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2700">
            <a:solidFill>
              <a:srgbClr val="AFC4D8"/>
            </a:solidFill>
            <a:prstDash val="solid"/>
          </a:ln>
          <a:effectLst xmlns:a="http://schemas.openxmlformats.org/drawingml/2006/main">
            <a:outerShdw blurRad="10160" dist="3175" dir="27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01725207-B654-48F9-B593-AC1431F494B5}"/>
              </a:ext>
            </a:extLst>
          </p:cNvPr>
          <p:cNvSpPr>
            <a:spLocks xmlns:a="http://schemas.openxmlformats.org/drawingml/2006/main" noGrp="1"/>
          </p:cNvSpPr>
          <p:nvPr/>
        </p:nvSpPr>
        <p:spPr>
          <a:xfrm xmlns:a="http://schemas.openxmlformats.org/drawingml/2006/main">
            <a:off x="3200400" y="1207008"/>
            <a:ext cx="181965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0B4A8B"/>
                </a:solidFill>
              </a:rPr>
              <a:t>order_items</a:t>
            </a:r>
          </a:p>
        </p:txBody>
      </p:sp>
      <p:sp>
        <p:nvSpPr>
          <p:cNvPr id="17" name="Text 14">
            <a:extLst xmlns:a="http://schemas.openxmlformats.org/drawingml/2006/main">
              <a:ext uri="{FF2B5EF4-FFF2-40B4-BE49-F238E27FC236}">
                <a16:creationId xmlns:a16="http://schemas.microsoft.com/office/drawing/2014/main" id="{3E804530-6772-4F02-907F-F6B04D78C7D0}"/>
              </a:ext>
            </a:extLst>
          </p:cNvPr>
          <p:cNvSpPr>
            <a:spLocks xmlns:a="http://schemas.openxmlformats.org/drawingml/2006/main" noGrp="1"/>
          </p:cNvSpPr>
          <p:nvPr/>
        </p:nvSpPr>
        <p:spPr>
          <a:xfrm xmlns:a="http://schemas.openxmlformats.org/drawingml/2006/main">
            <a:off x="3218688" y="1490472"/>
            <a:ext cx="1783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F6B7A"/>
                </a:solidFill>
              </a:rPr>
              <a:t>sản phẩm, giá, seller</a:t>
            </a:r>
          </a:p>
        </p:txBody>
      </p:sp>
      <p:sp>
        <p:nvSpPr>
          <p:cNvPr id="18" name="Shape 15">
            <a:extLst xmlns:a="http://schemas.openxmlformats.org/drawingml/2006/main">
              <a:ext uri="{FF2B5EF4-FFF2-40B4-BE49-F238E27FC236}">
                <a16:creationId xmlns:a16="http://schemas.microsoft.com/office/drawing/2014/main" id="{2FD848B2-9792-4D4D-9FB4-C45F4E1C2852}"/>
              </a:ext>
            </a:extLst>
          </p:cNvPr>
          <p:cNvSpPr>
            <a:spLocks xmlns:a="http://schemas.openxmlformats.org/drawingml/2006/main" noGrp="1"/>
          </p:cNvSpPr>
          <p:nvPr/>
        </p:nvSpPr>
        <p:spPr>
          <a:xfrm xmlns:a="http://schemas.openxmlformats.org/drawingml/2006/main">
            <a:off x="7315200" y="1097280"/>
            <a:ext cx="1965960" cy="749808"/>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2700">
            <a:solidFill>
              <a:srgbClr val="AFC4D8"/>
            </a:solidFill>
            <a:prstDash val="solid"/>
          </a:ln>
          <a:effectLst xmlns:a="http://schemas.openxmlformats.org/drawingml/2006/main">
            <a:outerShdw blurRad="10160" dist="3175" dir="27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316A0C1C-EA29-455A-AD91-60C63CB91009}"/>
              </a:ext>
            </a:extLst>
          </p:cNvPr>
          <p:cNvSpPr>
            <a:spLocks xmlns:a="http://schemas.openxmlformats.org/drawingml/2006/main" noGrp="1"/>
          </p:cNvSpPr>
          <p:nvPr/>
        </p:nvSpPr>
        <p:spPr>
          <a:xfrm xmlns:a="http://schemas.openxmlformats.org/drawingml/2006/main">
            <a:off x="7388352" y="1207008"/>
            <a:ext cx="181965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0B4A8B"/>
                </a:solidFill>
              </a:rPr>
              <a:t>payments</a:t>
            </a:r>
          </a:p>
        </p:txBody>
      </p:sp>
      <p:sp>
        <p:nvSpPr>
          <p:cNvPr id="20" name="Text 17">
            <a:extLst xmlns:a="http://schemas.openxmlformats.org/drawingml/2006/main">
              <a:ext uri="{FF2B5EF4-FFF2-40B4-BE49-F238E27FC236}">
                <a16:creationId xmlns:a16="http://schemas.microsoft.com/office/drawing/2014/main" id="{44543AE8-410A-429B-91B7-B55B5117FCE3}"/>
              </a:ext>
            </a:extLst>
          </p:cNvPr>
          <p:cNvSpPr>
            <a:spLocks xmlns:a="http://schemas.openxmlformats.org/drawingml/2006/main" noGrp="1"/>
          </p:cNvSpPr>
          <p:nvPr/>
        </p:nvSpPr>
        <p:spPr>
          <a:xfrm xmlns:a="http://schemas.openxmlformats.org/drawingml/2006/main">
            <a:off x="7406640" y="1490472"/>
            <a:ext cx="1783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F6B7A"/>
                </a:solidFill>
              </a:rPr>
              <a:t>thông tin thanh toán</a:t>
            </a:r>
          </a:p>
        </p:txBody>
      </p:sp>
      <p:sp>
        <p:nvSpPr>
          <p:cNvPr id="21" name="Shape 18">
            <a:extLst xmlns:a="http://schemas.openxmlformats.org/drawingml/2006/main">
              <a:ext uri="{FF2B5EF4-FFF2-40B4-BE49-F238E27FC236}">
                <a16:creationId xmlns:a16="http://schemas.microsoft.com/office/drawing/2014/main" id="{D5A1858C-2C9A-4162-9B4C-D20A4E6A89DC}"/>
              </a:ext>
            </a:extLst>
          </p:cNvPr>
          <p:cNvSpPr>
            <a:spLocks xmlns:a="http://schemas.openxmlformats.org/drawingml/2006/main" noGrp="1"/>
          </p:cNvSpPr>
          <p:nvPr/>
        </p:nvSpPr>
        <p:spPr>
          <a:xfrm xmlns:a="http://schemas.openxmlformats.org/drawingml/2006/main">
            <a:off x="9491472" y="1417320"/>
            <a:ext cx="1965960" cy="749808"/>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2700">
            <a:solidFill>
              <a:srgbClr val="AFC4D8"/>
            </a:solidFill>
            <a:prstDash val="solid"/>
          </a:ln>
          <a:effectLst xmlns:a="http://schemas.openxmlformats.org/drawingml/2006/main">
            <a:outerShdw blurRad="10160" dist="3175" dir="27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53473C40-2FB3-4359-8FDB-B903D3482280}"/>
              </a:ext>
            </a:extLst>
          </p:cNvPr>
          <p:cNvSpPr>
            <a:spLocks xmlns:a="http://schemas.openxmlformats.org/drawingml/2006/main" noGrp="1"/>
          </p:cNvSpPr>
          <p:nvPr/>
        </p:nvSpPr>
        <p:spPr>
          <a:xfrm xmlns:a="http://schemas.openxmlformats.org/drawingml/2006/main">
            <a:off x="9564624" y="1527048"/>
            <a:ext cx="181965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0B4A8B"/>
                </a:solidFill>
              </a:rPr>
              <a:t>products</a:t>
            </a:r>
          </a:p>
        </p:txBody>
      </p:sp>
      <p:sp>
        <p:nvSpPr>
          <p:cNvPr id="23" name="Text 20">
            <a:extLst xmlns:a="http://schemas.openxmlformats.org/drawingml/2006/main">
              <a:ext uri="{FF2B5EF4-FFF2-40B4-BE49-F238E27FC236}">
                <a16:creationId xmlns:a16="http://schemas.microsoft.com/office/drawing/2014/main" id="{03BC3300-BB81-4522-8119-B6BDD129BB39}"/>
              </a:ext>
            </a:extLst>
          </p:cNvPr>
          <p:cNvSpPr>
            <a:spLocks xmlns:a="http://schemas.openxmlformats.org/drawingml/2006/main" noGrp="1"/>
          </p:cNvSpPr>
          <p:nvPr/>
        </p:nvSpPr>
        <p:spPr>
          <a:xfrm xmlns:a="http://schemas.openxmlformats.org/drawingml/2006/main">
            <a:off x="9582912" y="1810512"/>
            <a:ext cx="1783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F6B7A"/>
                </a:solidFill>
              </a:rPr>
              <a:t>thuộc tính sản phẩm</a:t>
            </a:r>
          </a:p>
        </p:txBody>
      </p:sp>
      <p:sp>
        <p:nvSpPr>
          <p:cNvPr id="24" name="Shape 21">
            <a:extLst xmlns:a="http://schemas.openxmlformats.org/drawingml/2006/main">
              <a:ext uri="{FF2B5EF4-FFF2-40B4-BE49-F238E27FC236}">
                <a16:creationId xmlns:a16="http://schemas.microsoft.com/office/drawing/2014/main" id="{2DCCC219-CE70-472E-BF9B-3DCEFFBA3B32}"/>
              </a:ext>
            </a:extLst>
          </p:cNvPr>
          <p:cNvSpPr>
            <a:spLocks xmlns:a="http://schemas.openxmlformats.org/drawingml/2006/main" noGrp="1"/>
          </p:cNvSpPr>
          <p:nvPr/>
        </p:nvSpPr>
        <p:spPr>
          <a:xfrm xmlns:a="http://schemas.openxmlformats.org/drawingml/2006/main">
            <a:off x="8206740" y="4562856"/>
            <a:ext cx="1965960" cy="749808"/>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2700">
            <a:solidFill>
              <a:srgbClr val="AFC4D8"/>
            </a:solidFill>
            <a:prstDash val="solid"/>
          </a:ln>
          <a:effectLst xmlns:a="http://schemas.openxmlformats.org/drawingml/2006/main">
            <a:outerShdw blurRad="10160" dist="3175" dir="27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25" name="Text 22">
            <a:extLst xmlns:a="http://schemas.openxmlformats.org/drawingml/2006/main">
              <a:ext uri="{FF2B5EF4-FFF2-40B4-BE49-F238E27FC236}">
                <a16:creationId xmlns:a16="http://schemas.microsoft.com/office/drawing/2014/main" id="{99907EC1-B30B-4398-BE92-E67E4C13F880}"/>
              </a:ext>
            </a:extLst>
          </p:cNvPr>
          <p:cNvSpPr>
            <a:spLocks xmlns:a="http://schemas.openxmlformats.org/drawingml/2006/main" noGrp="1"/>
          </p:cNvSpPr>
          <p:nvPr/>
        </p:nvSpPr>
        <p:spPr>
          <a:xfrm xmlns:a="http://schemas.openxmlformats.org/drawingml/2006/main">
            <a:off x="8279892" y="4672584"/>
            <a:ext cx="181965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0B4A8B"/>
                </a:solidFill>
              </a:rPr>
              <a:t>sellers</a:t>
            </a:r>
          </a:p>
        </p:txBody>
      </p:sp>
      <p:sp>
        <p:nvSpPr>
          <p:cNvPr id="26" name="Text 23">
            <a:extLst xmlns:a="http://schemas.openxmlformats.org/drawingml/2006/main">
              <a:ext uri="{FF2B5EF4-FFF2-40B4-BE49-F238E27FC236}">
                <a16:creationId xmlns:a16="http://schemas.microsoft.com/office/drawing/2014/main" id="{BB58F4FD-53D7-47BF-B7E1-50160827D279}"/>
              </a:ext>
            </a:extLst>
          </p:cNvPr>
          <p:cNvSpPr>
            <a:spLocks xmlns:a="http://schemas.openxmlformats.org/drawingml/2006/main" noGrp="1"/>
          </p:cNvSpPr>
          <p:nvPr/>
        </p:nvSpPr>
        <p:spPr>
          <a:xfrm xmlns:a="http://schemas.openxmlformats.org/drawingml/2006/main">
            <a:off x="8298180" y="4956048"/>
            <a:ext cx="1783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F6B7A"/>
                </a:solidFill>
              </a:rPr>
              <a:t>thông tin người bán</a:t>
            </a:r>
          </a:p>
        </p:txBody>
      </p:sp>
      <p:sp>
        <p:nvSpPr>
          <p:cNvPr id="27" name="Shape 24">
            <a:extLst xmlns:a="http://schemas.openxmlformats.org/drawingml/2006/main">
              <a:ext uri="{FF2B5EF4-FFF2-40B4-BE49-F238E27FC236}">
                <a16:creationId xmlns:a16="http://schemas.microsoft.com/office/drawing/2014/main" id="{39DBA571-3D0A-45CE-860F-85FE0536966B}"/>
              </a:ext>
            </a:extLst>
          </p:cNvPr>
          <p:cNvSpPr>
            <a:spLocks xmlns:a="http://schemas.openxmlformats.org/drawingml/2006/main" noGrp="1"/>
          </p:cNvSpPr>
          <p:nvPr/>
        </p:nvSpPr>
        <p:spPr>
          <a:xfrm xmlns:a="http://schemas.openxmlformats.org/drawingml/2006/main">
            <a:off x="5166360" y="4690872"/>
            <a:ext cx="1965960" cy="749808"/>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2700">
            <a:solidFill>
              <a:srgbClr val="AFC4D8"/>
            </a:solidFill>
            <a:prstDash val="solid"/>
          </a:ln>
          <a:effectLst xmlns:a="http://schemas.openxmlformats.org/drawingml/2006/main">
            <a:outerShdw blurRad="10160" dist="3175" dir="27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28" name="Text 25">
            <a:extLst xmlns:a="http://schemas.openxmlformats.org/drawingml/2006/main">
              <a:ext uri="{FF2B5EF4-FFF2-40B4-BE49-F238E27FC236}">
                <a16:creationId xmlns:a16="http://schemas.microsoft.com/office/drawing/2014/main" id="{F7096E08-AC70-4CBA-AF20-37AAF6B6A5B7}"/>
              </a:ext>
            </a:extLst>
          </p:cNvPr>
          <p:cNvSpPr>
            <a:spLocks xmlns:a="http://schemas.openxmlformats.org/drawingml/2006/main" noGrp="1"/>
          </p:cNvSpPr>
          <p:nvPr/>
        </p:nvSpPr>
        <p:spPr>
          <a:xfrm xmlns:a="http://schemas.openxmlformats.org/drawingml/2006/main">
            <a:off x="5148072" y="4795774"/>
            <a:ext cx="1984248" cy="1600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0B4A8B"/>
                </a:solidFill>
              </a:rPr>
              <a:t>category_translation</a:t>
            </a:r>
          </a:p>
        </p:txBody>
      </p:sp>
      <p:sp>
        <p:nvSpPr>
          <p:cNvPr id="29" name="Text 26">
            <a:extLst xmlns:a="http://schemas.openxmlformats.org/drawingml/2006/main">
              <a:ext uri="{FF2B5EF4-FFF2-40B4-BE49-F238E27FC236}">
                <a16:creationId xmlns:a16="http://schemas.microsoft.com/office/drawing/2014/main" id="{B789D6D6-3FF2-494E-B270-3633546F330D}"/>
              </a:ext>
            </a:extLst>
          </p:cNvPr>
          <p:cNvSpPr>
            <a:spLocks xmlns:a="http://schemas.openxmlformats.org/drawingml/2006/main" noGrp="1"/>
          </p:cNvSpPr>
          <p:nvPr/>
        </p:nvSpPr>
        <p:spPr>
          <a:xfrm xmlns:a="http://schemas.openxmlformats.org/drawingml/2006/main">
            <a:off x="5294376" y="5067808"/>
            <a:ext cx="1783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F6B7A"/>
                </a:solidFill>
              </a:rPr>
              <a:t>dịch tên danh mục</a:t>
            </a:r>
          </a:p>
        </p:txBody>
      </p:sp>
      <p:sp>
        <p:nvSpPr>
          <p:cNvPr id="30" name="Shape 27">
            <a:extLst xmlns:a="http://schemas.openxmlformats.org/drawingml/2006/main">
              <a:ext uri="{FF2B5EF4-FFF2-40B4-BE49-F238E27FC236}">
                <a16:creationId xmlns:a16="http://schemas.microsoft.com/office/drawing/2014/main" id="{17B44024-79EB-42F6-8BBB-60D7FCB06DFD}"/>
              </a:ext>
            </a:extLst>
          </p:cNvPr>
          <p:cNvSpPr>
            <a:spLocks xmlns:a="http://schemas.openxmlformats.org/drawingml/2006/main" noGrp="1"/>
          </p:cNvSpPr>
          <p:nvPr/>
        </p:nvSpPr>
        <p:spPr>
          <a:xfrm xmlns:a="http://schemas.openxmlformats.org/drawingml/2006/main">
            <a:off x="2807208" y="1792224"/>
            <a:ext cx="1993392" cy="1060704"/>
          </a:xfrm>
          <a:prstGeom xmlns:a="http://schemas.openxmlformats.org/drawingml/2006/main" prst="line">
            <a:avLst/>
          </a:prstGeom>
          <a:noFill xmlns:a="http://schemas.openxmlformats.org/drawingml/2006/main"/>
          <a:ln xmlns:a="http://schemas.openxmlformats.org/drawingml/2006/main" w="12700">
            <a:solidFill>
              <a:srgbClr val="829AB1"/>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1" name="Shape 28">
            <a:extLst xmlns:a="http://schemas.openxmlformats.org/drawingml/2006/main">
              <a:ext uri="{FF2B5EF4-FFF2-40B4-BE49-F238E27FC236}">
                <a16:creationId xmlns:a16="http://schemas.microsoft.com/office/drawing/2014/main" id="{6E1077DE-1D94-4933-B906-4BEE53DC32F2}"/>
              </a:ext>
            </a:extLst>
          </p:cNvPr>
          <p:cNvSpPr>
            <a:spLocks xmlns:a="http://schemas.openxmlformats.org/drawingml/2006/main" noGrp="1"/>
          </p:cNvSpPr>
          <p:nvPr/>
        </p:nvSpPr>
        <p:spPr>
          <a:xfrm xmlns:a="http://schemas.openxmlformats.org/drawingml/2006/main" flipV="1">
            <a:off x="3667760" y="3657600"/>
            <a:ext cx="1105408" cy="864616"/>
          </a:xfrm>
          <a:prstGeom xmlns:a="http://schemas.openxmlformats.org/drawingml/2006/main" prst="line">
            <a:avLst/>
          </a:prstGeom>
          <a:noFill xmlns:a="http://schemas.openxmlformats.org/drawingml/2006/main"/>
          <a:ln xmlns:a="http://schemas.openxmlformats.org/drawingml/2006/main" w="12700">
            <a:solidFill>
              <a:srgbClr val="829AB1"/>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2" name="Shape 29">
            <a:extLst xmlns:a="http://schemas.openxmlformats.org/drawingml/2006/main">
              <a:ext uri="{FF2B5EF4-FFF2-40B4-BE49-F238E27FC236}">
                <a16:creationId xmlns:a16="http://schemas.microsoft.com/office/drawing/2014/main" id="{9C9286B6-D365-4B06-AD84-6870596D9E5F}"/>
              </a:ext>
            </a:extLst>
          </p:cNvPr>
          <p:cNvSpPr>
            <a:spLocks xmlns:a="http://schemas.openxmlformats.org/drawingml/2006/main" noGrp="1"/>
          </p:cNvSpPr>
          <p:nvPr/>
        </p:nvSpPr>
        <p:spPr>
          <a:xfrm xmlns:a="http://schemas.openxmlformats.org/drawingml/2006/main">
            <a:off x="5120640" y="1527048"/>
            <a:ext cx="502920" cy="1014984"/>
          </a:xfrm>
          <a:prstGeom xmlns:a="http://schemas.openxmlformats.org/drawingml/2006/main" prst="line">
            <a:avLst/>
          </a:prstGeom>
          <a:noFill xmlns:a="http://schemas.openxmlformats.org/drawingml/2006/main"/>
          <a:ln xmlns:a="http://schemas.openxmlformats.org/drawingml/2006/main" w="12700">
            <a:solidFill>
              <a:srgbClr val="829AB1"/>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3" name="Shape 30">
            <a:extLst xmlns:a="http://schemas.openxmlformats.org/drawingml/2006/main">
              <a:ext uri="{FF2B5EF4-FFF2-40B4-BE49-F238E27FC236}">
                <a16:creationId xmlns:a16="http://schemas.microsoft.com/office/drawing/2014/main" id="{E5620974-467C-4D02-916D-A79352178027}"/>
              </a:ext>
            </a:extLst>
          </p:cNvPr>
          <p:cNvSpPr>
            <a:spLocks xmlns:a="http://schemas.openxmlformats.org/drawingml/2006/main" noGrp="1"/>
          </p:cNvSpPr>
          <p:nvPr/>
        </p:nvSpPr>
        <p:spPr>
          <a:xfrm xmlns:a="http://schemas.openxmlformats.org/drawingml/2006/main" flipH="1">
            <a:off x="6568442" y="1472184"/>
            <a:ext cx="746758" cy="1005838"/>
          </a:xfrm>
          <a:prstGeom xmlns:a="http://schemas.openxmlformats.org/drawingml/2006/main" prst="line">
            <a:avLst/>
          </a:prstGeom>
          <a:noFill xmlns:a="http://schemas.openxmlformats.org/drawingml/2006/main"/>
          <a:ln xmlns:a="http://schemas.openxmlformats.org/drawingml/2006/main" w="12700">
            <a:solidFill>
              <a:srgbClr val="829AB1"/>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4" name="Shape 31">
            <a:extLst xmlns:a="http://schemas.openxmlformats.org/drawingml/2006/main">
              <a:ext uri="{FF2B5EF4-FFF2-40B4-BE49-F238E27FC236}">
                <a16:creationId xmlns:a16="http://schemas.microsoft.com/office/drawing/2014/main" id="{42CFCC24-89BE-4985-AD2B-696DACD32D7E}"/>
              </a:ext>
            </a:extLst>
          </p:cNvPr>
          <p:cNvSpPr>
            <a:spLocks xmlns:a="http://schemas.openxmlformats.org/drawingml/2006/main" noGrp="1"/>
          </p:cNvSpPr>
          <p:nvPr/>
        </p:nvSpPr>
        <p:spPr>
          <a:xfrm xmlns:a="http://schemas.openxmlformats.org/drawingml/2006/main" flipH="1">
            <a:off x="7507224" y="1801368"/>
            <a:ext cx="1984248" cy="1161288"/>
          </a:xfrm>
          <a:prstGeom xmlns:a="http://schemas.openxmlformats.org/drawingml/2006/main" prst="line">
            <a:avLst/>
          </a:prstGeom>
          <a:noFill xmlns:a="http://schemas.openxmlformats.org/drawingml/2006/main"/>
          <a:ln xmlns:a="http://schemas.openxmlformats.org/drawingml/2006/main" w="12700">
            <a:solidFill>
              <a:srgbClr val="829AB1"/>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5" name="Shape 32">
            <a:extLst xmlns:a="http://schemas.openxmlformats.org/drawingml/2006/main">
              <a:ext uri="{FF2B5EF4-FFF2-40B4-BE49-F238E27FC236}">
                <a16:creationId xmlns:a16="http://schemas.microsoft.com/office/drawing/2014/main" id="{213A0F30-E0DF-4A85-AFFF-BEE0028206C7}"/>
              </a:ext>
            </a:extLst>
          </p:cNvPr>
          <p:cNvSpPr>
            <a:spLocks xmlns:a="http://schemas.openxmlformats.org/drawingml/2006/main" noGrp="1"/>
          </p:cNvSpPr>
          <p:nvPr/>
        </p:nvSpPr>
        <p:spPr>
          <a:xfrm xmlns:a="http://schemas.openxmlformats.org/drawingml/2006/main" flipH="1" flipV="1">
            <a:off x="7507224" y="3543300"/>
            <a:ext cx="1326895" cy="898654"/>
          </a:xfrm>
          <a:prstGeom xmlns:a="http://schemas.openxmlformats.org/drawingml/2006/main" prst="line">
            <a:avLst/>
          </a:prstGeom>
          <a:noFill xmlns:a="http://schemas.openxmlformats.org/drawingml/2006/main"/>
          <a:ln xmlns:a="http://schemas.openxmlformats.org/drawingml/2006/main" w="12700">
            <a:solidFill>
              <a:srgbClr val="829AB1"/>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6" name="Shape 33">
            <a:extLst xmlns:a="http://schemas.openxmlformats.org/drawingml/2006/main">
              <a:ext uri="{FF2B5EF4-FFF2-40B4-BE49-F238E27FC236}">
                <a16:creationId xmlns:a16="http://schemas.microsoft.com/office/drawing/2014/main" id="{0923B127-5A55-4BF9-AE1E-3BF5965B813B}"/>
              </a:ext>
            </a:extLst>
          </p:cNvPr>
          <p:cNvSpPr>
            <a:spLocks xmlns:a="http://schemas.openxmlformats.org/drawingml/2006/main" noGrp="1"/>
          </p:cNvSpPr>
          <p:nvPr/>
        </p:nvSpPr>
        <p:spPr>
          <a:xfrm xmlns:a="http://schemas.openxmlformats.org/drawingml/2006/main" flipH="1" flipV="1">
            <a:off x="6228080" y="3680204"/>
            <a:ext cx="0" cy="898654"/>
          </a:xfrm>
          <a:prstGeom xmlns:a="http://schemas.openxmlformats.org/drawingml/2006/main" prst="line">
            <a:avLst/>
          </a:prstGeom>
          <a:noFill xmlns:a="http://schemas.openxmlformats.org/drawingml/2006/main"/>
          <a:ln xmlns:a="http://schemas.openxmlformats.org/drawingml/2006/main" w="12700">
            <a:solidFill>
              <a:srgbClr val="829AB1"/>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7" name="Shape 34">
            <a:extLst xmlns:a="http://schemas.openxmlformats.org/drawingml/2006/main">
              <a:ext uri="{FF2B5EF4-FFF2-40B4-BE49-F238E27FC236}">
                <a16:creationId xmlns:a16="http://schemas.microsoft.com/office/drawing/2014/main" id="{003D67A6-F832-4243-B1CB-C4D9011D1D38}"/>
              </a:ext>
            </a:extLst>
          </p:cNvPr>
          <p:cNvSpPr>
            <a:spLocks xmlns:a="http://schemas.openxmlformats.org/drawingml/2006/main" noGrp="1"/>
          </p:cNvSpPr>
          <p:nvPr/>
        </p:nvSpPr>
        <p:spPr>
          <a:xfrm xmlns:a="http://schemas.openxmlformats.org/drawingml/2006/main">
            <a:off x="1417320" y="5626608"/>
            <a:ext cx="10195560" cy="530352"/>
          </a:xfrm>
          <a:prstGeom xmlns:a="http://schemas.openxmlformats.org/drawingml/2006/main" prst="roundRect">
            <a:avLst>
              <a:gd name="adj" fmla="val 8621"/>
            </a:avLst>
          </a:prstGeom>
          <a:solidFill xmlns:a="http://schemas.openxmlformats.org/drawingml/2006/main">
            <a:srgbClr val="FFF0E4"/>
          </a:solidFill>
          <a:ln xmlns:a="http://schemas.openxmlformats.org/drawingml/2006/main" w="12700">
            <a:solidFill>
              <a:srgbClr val="E8B174"/>
            </a:solidFill>
            <a:prstDash val="solid"/>
          </a:ln>
        </p:spPr>
        <p:txBody>
          <a:bodyPr xmlns:a="http://schemas.openxmlformats.org/drawingml/2006/main"/>
          <a:lstStyle xmlns:a="http://schemas.openxmlformats.org/drawingml/2006/main"/>
          <a:p xmlns:a="http://schemas.openxmlformats.org/drawingml/2006/main"/>
        </p:txBody>
      </p:sp>
      <p:sp>
        <p:nvSpPr>
          <p:cNvPr id="38" name="Text 35">
            <a:extLst xmlns:a="http://schemas.openxmlformats.org/drawingml/2006/main">
              <a:ext uri="{FF2B5EF4-FFF2-40B4-BE49-F238E27FC236}">
                <a16:creationId xmlns:a16="http://schemas.microsoft.com/office/drawing/2014/main" id="{C410D3ED-1947-4F04-9EDB-E53DFA4F2281}"/>
              </a:ext>
            </a:extLst>
          </p:cNvPr>
          <p:cNvSpPr>
            <a:spLocks xmlns:a="http://schemas.openxmlformats.org/drawingml/2006/main" noGrp="1"/>
          </p:cNvSpPr>
          <p:nvPr/>
        </p:nvSpPr>
        <p:spPr>
          <a:xfrm xmlns:a="http://schemas.openxmlformats.org/drawingml/2006/main">
            <a:off x="1470662" y="5809742"/>
            <a:ext cx="1019556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9B531D"/>
                </a:solidFill>
              </a:rPr>
              <a:t>Quy tắc quan trọng: groupBy về order_id trước khi left join để tránh fan-out và giữ đúng 1 dòng cho mỗi đơn.</a:t>
            </a:r>
          </a:p>
        </p:txBody>
      </p:sp>
      <p:sp>
        <p:nvSpPr>
          <p:cNvPr id="40" name="Text 37">
            <a:extLst xmlns:a="http://schemas.openxmlformats.org/drawingml/2006/main">
              <a:ext uri="{FF2B5EF4-FFF2-40B4-BE49-F238E27FC236}">
                <a16:creationId xmlns:a16="http://schemas.microsoft.com/office/drawing/2014/main" id="{E2703601-6914-492F-A495-3B597FDA588A}"/>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3</a:t>
            </a:r>
          </a:p>
        </p:txBody>
      </p:sp>
    </p:spTree>
    <p:extLst>
      <p:ext uri="{BB962C8B-B14F-4D97-AF65-F5344CB8AC3E}">
        <p14:creationId xmlns:p14="http://schemas.microsoft.com/office/powerpoint/2010/main" val="67284506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FE82C46A-EDBF-468B-AF14-28CBEB1C22B2}"/>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A47223C4-34FA-4530-A876-62F0F35013F3}"/>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CHẤT LƯỢNG</a:t>
            </a:r>
          </a:p>
        </p:txBody>
      </p:sp>
      <p:sp>
        <p:nvSpPr>
          <p:cNvPr id="5" name="Text 2">
            <a:extLst xmlns:a="http://schemas.openxmlformats.org/drawingml/2006/main">
              <a:ext uri="{FF2B5EF4-FFF2-40B4-BE49-F238E27FC236}">
                <a16:creationId xmlns:a16="http://schemas.microsoft.com/office/drawing/2014/main" id="{2D609BF6-ACF8-42A6-A75B-251767B7B95A}"/>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Đọc dữ liệu đúng và kiểm tra chất lượng trước khi phân tích</a:t>
            </a:r>
          </a:p>
        </p:txBody>
      </p:sp>
      <p:sp>
        <p:nvSpPr>
          <p:cNvPr id="6" name="Shape 3">
            <a:extLst xmlns:a="http://schemas.openxmlformats.org/drawingml/2006/main">
              <a:ext uri="{FF2B5EF4-FFF2-40B4-BE49-F238E27FC236}">
                <a16:creationId xmlns:a16="http://schemas.microsoft.com/office/drawing/2014/main" id="{09D1CB27-4B17-45E5-A9FB-FCC28A0CDA0D}"/>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506A73B2-5E5E-4A25-B201-656A5BCB39D5}"/>
              </a:ext>
            </a:extLst>
          </p:cNvPr>
          <p:cNvSpPr>
            <a:spLocks xmlns:a="http://schemas.openxmlformats.org/drawingml/2006/main" noGrp="1"/>
          </p:cNvSpPr>
          <p:nvPr/>
        </p:nvSpPr>
        <p:spPr>
          <a:xfrm xmlns:a="http://schemas.openxmlformats.org/drawingml/2006/main">
            <a:off x="749808" y="1353312"/>
            <a:ext cx="4983480" cy="4315968"/>
          </a:xfrm>
          <a:prstGeom xmlns:a="http://schemas.openxmlformats.org/drawingml/2006/main" prst="roundRect">
            <a:avLst>
              <a:gd name="adj" fmla="val 1695"/>
            </a:avLst>
          </a:prstGeom>
          <a:solidFill xmlns:a="http://schemas.openxmlformats.org/drawingml/2006/main">
            <a:srgbClr val="F7F9FC"/>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nchor="t"/>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837AC602-737C-4845-81A2-5F1B4840D231}"/>
              </a:ext>
            </a:extLst>
          </p:cNvPr>
          <p:cNvSpPr>
            <a:spLocks xmlns:a="http://schemas.openxmlformats.org/drawingml/2006/main" noGrp="1"/>
          </p:cNvSpPr>
          <p:nvPr/>
        </p:nvSpPr>
        <p:spPr>
          <a:xfrm xmlns:a="http://schemas.openxmlformats.org/drawingml/2006/main">
            <a:off x="914400" y="1499616"/>
            <a:ext cx="46542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0B4A8B"/>
                </a:solidFill>
              </a:rPr>
              <a:t>Checklist kiểm tra đầu vào</a:t>
            </a:r>
          </a:p>
        </p:txBody>
      </p:sp>
      <p:sp>
        <p:nvSpPr>
          <p:cNvPr id="9" name="Text 6">
            <a:extLst xmlns:a="http://schemas.openxmlformats.org/drawingml/2006/main">
              <a:ext uri="{FF2B5EF4-FFF2-40B4-BE49-F238E27FC236}">
                <a16:creationId xmlns:a16="http://schemas.microsoft.com/office/drawing/2014/main" id="{768E5C5F-63F4-4542-ABB1-4AEA85417786}"/>
              </a:ext>
            </a:extLst>
          </p:cNvPr>
          <p:cNvSpPr>
            <a:spLocks xmlns:a="http://schemas.openxmlformats.org/drawingml/2006/main" noGrp="1"/>
          </p:cNvSpPr>
          <p:nvPr/>
        </p:nvSpPr>
        <p:spPr>
          <a:xfrm xmlns:a="http://schemas.openxmlformats.org/drawingml/2006/main">
            <a:off x="914400" y="1865376"/>
            <a:ext cx="4654296" cy="3675888"/>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2000">
                <a:solidFill>
                  <a:srgbClr val="1D2630"/>
                </a:solidFill>
              </a:rPr>
              <a:t>1. Khai báo schema thủ công cho orders và payments.</a:t>
            </a:r>
          </a:p>
          <a:p xmlns:a="http://schemas.openxmlformats.org/drawingml/2006/main">
            <a:pPr marL="0" indent="0">
              <a:buNone/>
            </a:pPr>
            <a:r>
              <a:rPr sz="2000">
                <a:solidFill>
                  <a:srgbClr val="1D2630"/>
                </a:solidFill>
              </a:rPr>
              <a:t>2. Kiểm tra số dòng, số cột và kiểu dữ liệu.</a:t>
            </a:r>
          </a:p>
          <a:p xmlns:a="http://schemas.openxmlformats.org/drawingml/2006/main">
            <a:pPr marL="0" indent="0">
              <a:buNone/>
            </a:pPr>
            <a:r>
              <a:rPr sz="2000">
                <a:solidFill>
                  <a:srgbClr val="1D2630"/>
                </a:solidFill>
              </a:rPr>
              <a:t>3. Kiểm tra khóa chính và bản ghi trùng.</a:t>
            </a:r>
          </a:p>
          <a:p xmlns:a="http://schemas.openxmlformats.org/drawingml/2006/main">
            <a:pPr marL="0" indent="0">
              <a:buNone/>
            </a:pPr>
            <a:r>
              <a:rPr sz="2000">
                <a:solidFill>
                  <a:srgbClr val="1D2630"/>
                </a:solidFill>
              </a:rPr>
              <a:t>4. Kiểm tra giá trị thiếu và giá trị bất thường.</a:t>
            </a:r>
          </a:p>
          <a:p xmlns:a="http://schemas.openxmlformats.org/drawingml/2006/main">
            <a:pPr marL="0" indent="0">
              <a:buNone/>
            </a:pPr>
            <a:r>
              <a:rPr sz="2000">
                <a:solidFill>
                  <a:srgbClr val="1D2630"/>
                </a:solidFill>
              </a:rPr>
              <a:t>5. Đọc reviews ở chế độ nhiều dòng để không làm sai cấu trúc CSV.</a:t>
            </a:r>
          </a:p>
        </p:txBody>
      </p:sp>
      <p:sp>
        <p:nvSpPr>
          <p:cNvPr id="10" name="Shape 7">
            <a:extLst xmlns:a="http://schemas.openxmlformats.org/drawingml/2006/main">
              <a:ext uri="{FF2B5EF4-FFF2-40B4-BE49-F238E27FC236}">
                <a16:creationId xmlns:a16="http://schemas.microsoft.com/office/drawing/2014/main" id="{0FD40F3D-AEFB-4963-9672-CE1762701BC5}"/>
              </a:ext>
            </a:extLst>
          </p:cNvPr>
          <p:cNvSpPr>
            <a:spLocks xmlns:a="http://schemas.openxmlformats.org/drawingml/2006/main" noGrp="1"/>
          </p:cNvSpPr>
          <p:nvPr/>
        </p:nvSpPr>
        <p:spPr>
          <a:xfrm xmlns:a="http://schemas.openxmlformats.org/drawingml/2006/main">
            <a:off x="6126480" y="1389888"/>
            <a:ext cx="2423160" cy="1143000"/>
          </a:xfrm>
          <a:prstGeom xmlns:a="http://schemas.openxmlformats.org/drawingml/2006/main" prst="roundRect">
            <a:avLst>
              <a:gd name="adj" fmla="val 6400"/>
            </a:avLst>
          </a:prstGeom>
          <a:solidFill xmlns:a="http://schemas.openxmlformats.org/drawingml/2006/main">
            <a:srgbClr val="DCEAF7"/>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B07CCC9A-F09E-4C20-9D65-153E557F80C3}"/>
              </a:ext>
            </a:extLst>
          </p:cNvPr>
          <p:cNvSpPr>
            <a:spLocks xmlns:a="http://schemas.openxmlformats.org/drawingml/2006/main" noGrp="1"/>
          </p:cNvSpPr>
          <p:nvPr/>
        </p:nvSpPr>
        <p:spPr>
          <a:xfrm xmlns:a="http://schemas.openxmlformats.org/drawingml/2006/main">
            <a:off x="6199632" y="1554480"/>
            <a:ext cx="22768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B4A8B"/>
                </a:solidFill>
              </a:rPr>
              <a:t>99.224</a:t>
            </a:r>
          </a:p>
        </p:txBody>
      </p:sp>
      <p:sp>
        <p:nvSpPr>
          <p:cNvPr id="12" name="Text 9">
            <a:extLst xmlns:a="http://schemas.openxmlformats.org/drawingml/2006/main">
              <a:ext uri="{FF2B5EF4-FFF2-40B4-BE49-F238E27FC236}">
                <a16:creationId xmlns:a16="http://schemas.microsoft.com/office/drawing/2014/main" id="{EF54F7B5-343C-4F70-BBDF-43A220DF517B}"/>
              </a:ext>
            </a:extLst>
          </p:cNvPr>
          <p:cNvSpPr>
            <a:spLocks xmlns:a="http://schemas.openxmlformats.org/drawingml/2006/main" noGrp="1"/>
          </p:cNvSpPr>
          <p:nvPr/>
        </p:nvSpPr>
        <p:spPr>
          <a:xfrm xmlns:a="http://schemas.openxmlformats.org/drawingml/2006/main">
            <a:off x="6217920" y="2075688"/>
            <a:ext cx="2240280" cy="3749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F6B7A"/>
                </a:solidFill>
              </a:rPr>
              <a:t>dòng reviews khi đọc đúng</a:t>
            </a:r>
          </a:p>
        </p:txBody>
      </p:sp>
      <p:sp>
        <p:nvSpPr>
          <p:cNvPr id="13" name="Shape 10">
            <a:extLst xmlns:a="http://schemas.openxmlformats.org/drawingml/2006/main">
              <a:ext uri="{FF2B5EF4-FFF2-40B4-BE49-F238E27FC236}">
                <a16:creationId xmlns:a16="http://schemas.microsoft.com/office/drawing/2014/main" id="{C8E58430-937F-4299-A7E2-0EF0FA3B5982}"/>
              </a:ext>
            </a:extLst>
          </p:cNvPr>
          <p:cNvSpPr>
            <a:spLocks xmlns:a="http://schemas.openxmlformats.org/drawingml/2006/main" noGrp="1"/>
          </p:cNvSpPr>
          <p:nvPr/>
        </p:nvSpPr>
        <p:spPr>
          <a:xfrm xmlns:a="http://schemas.openxmlformats.org/drawingml/2006/main">
            <a:off x="8796528" y="1389888"/>
            <a:ext cx="2423160" cy="1143000"/>
          </a:xfrm>
          <a:prstGeom xmlns:a="http://schemas.openxmlformats.org/drawingml/2006/main" prst="roundRect">
            <a:avLst>
              <a:gd name="adj" fmla="val 6400"/>
            </a:avLst>
          </a:prstGeom>
          <a:solidFill xmlns:a="http://schemas.openxmlformats.org/drawingml/2006/main">
            <a:srgbClr val="FCE9E7"/>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4C8720F-9205-446A-927C-5322C82C9543}"/>
              </a:ext>
            </a:extLst>
          </p:cNvPr>
          <p:cNvSpPr>
            <a:spLocks xmlns:a="http://schemas.openxmlformats.org/drawingml/2006/main" noGrp="1"/>
          </p:cNvSpPr>
          <p:nvPr/>
        </p:nvSpPr>
        <p:spPr>
          <a:xfrm xmlns:a="http://schemas.openxmlformats.org/drawingml/2006/main">
            <a:off x="8869680" y="1554480"/>
            <a:ext cx="22768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D9534F"/>
                </a:solidFill>
              </a:rPr>
              <a:t>8</a:t>
            </a:r>
          </a:p>
        </p:txBody>
      </p:sp>
      <p:sp>
        <p:nvSpPr>
          <p:cNvPr id="15" name="Text 12">
            <a:extLst xmlns:a="http://schemas.openxmlformats.org/drawingml/2006/main">
              <a:ext uri="{FF2B5EF4-FFF2-40B4-BE49-F238E27FC236}">
                <a16:creationId xmlns:a16="http://schemas.microsoft.com/office/drawing/2014/main" id="{2292C6BC-8522-4BB5-AE13-FD4168CAD073}"/>
              </a:ext>
            </a:extLst>
          </p:cNvPr>
          <p:cNvSpPr>
            <a:spLocks xmlns:a="http://schemas.openxmlformats.org/drawingml/2006/main" noGrp="1"/>
          </p:cNvSpPr>
          <p:nvPr/>
        </p:nvSpPr>
        <p:spPr>
          <a:xfrm xmlns:a="http://schemas.openxmlformats.org/drawingml/2006/main">
            <a:off x="8887968" y="2075688"/>
            <a:ext cx="2240280" cy="3749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F6B7A"/>
                </a:solidFill>
              </a:rPr>
              <a:t>đơn delivered thiếu ngày tạo label</a:t>
            </a:r>
          </a:p>
        </p:txBody>
      </p:sp>
      <p:sp>
        <p:nvSpPr>
          <p:cNvPr id="16" name="Shape 13">
            <a:extLst xmlns:a="http://schemas.openxmlformats.org/drawingml/2006/main">
              <a:ext uri="{FF2B5EF4-FFF2-40B4-BE49-F238E27FC236}">
                <a16:creationId xmlns:a16="http://schemas.microsoft.com/office/drawing/2014/main" id="{5495F2DD-B5A5-441C-A1F5-985795D25DEE}"/>
              </a:ext>
            </a:extLst>
          </p:cNvPr>
          <p:cNvSpPr>
            <a:spLocks xmlns:a="http://schemas.openxmlformats.org/drawingml/2006/main" noGrp="1"/>
          </p:cNvSpPr>
          <p:nvPr/>
        </p:nvSpPr>
        <p:spPr>
          <a:xfrm xmlns:a="http://schemas.openxmlformats.org/drawingml/2006/main">
            <a:off x="6126480" y="2816352"/>
            <a:ext cx="2423160" cy="1143000"/>
          </a:xfrm>
          <a:prstGeom xmlns:a="http://schemas.openxmlformats.org/drawingml/2006/main" prst="roundRect">
            <a:avLst>
              <a:gd name="adj" fmla="val 6400"/>
            </a:avLst>
          </a:prstGeom>
          <a:solidFill xmlns:a="http://schemas.openxmlformats.org/drawingml/2006/main">
            <a:srgbClr val="FFF0E4"/>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5FFA34DA-6033-4C20-A4E6-D4674BB22488}"/>
              </a:ext>
            </a:extLst>
          </p:cNvPr>
          <p:cNvSpPr>
            <a:spLocks xmlns:a="http://schemas.openxmlformats.org/drawingml/2006/main" noGrp="1"/>
          </p:cNvSpPr>
          <p:nvPr/>
        </p:nvSpPr>
        <p:spPr>
          <a:xfrm xmlns:a="http://schemas.openxmlformats.org/drawingml/2006/main">
            <a:off x="6199632" y="2980944"/>
            <a:ext cx="22768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B35E1E"/>
                </a:solidFill>
              </a:rPr>
              <a:t>2</a:t>
            </a:r>
          </a:p>
        </p:txBody>
      </p:sp>
      <p:sp>
        <p:nvSpPr>
          <p:cNvPr id="18" name="Text 15">
            <a:extLst xmlns:a="http://schemas.openxmlformats.org/drawingml/2006/main">
              <a:ext uri="{FF2B5EF4-FFF2-40B4-BE49-F238E27FC236}">
                <a16:creationId xmlns:a16="http://schemas.microsoft.com/office/drawing/2014/main" id="{F1BB2DD1-B6D8-4F7B-966B-B3EED330CBE7}"/>
              </a:ext>
            </a:extLst>
          </p:cNvPr>
          <p:cNvSpPr>
            <a:spLocks xmlns:a="http://schemas.openxmlformats.org/drawingml/2006/main" noGrp="1"/>
          </p:cNvSpPr>
          <p:nvPr/>
        </p:nvSpPr>
        <p:spPr>
          <a:xfrm xmlns:a="http://schemas.openxmlformats.org/drawingml/2006/main">
            <a:off x="6217920" y="3502152"/>
            <a:ext cx="2240280" cy="3749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F6B7A"/>
                </a:solidFill>
              </a:rPr>
              <a:t>payment_installments không dương</a:t>
            </a:r>
          </a:p>
        </p:txBody>
      </p:sp>
      <p:sp>
        <p:nvSpPr>
          <p:cNvPr id="19" name="Shape 16">
            <a:extLst xmlns:a="http://schemas.openxmlformats.org/drawingml/2006/main">
              <a:ext uri="{FF2B5EF4-FFF2-40B4-BE49-F238E27FC236}">
                <a16:creationId xmlns:a16="http://schemas.microsoft.com/office/drawing/2014/main" id="{29A22536-A811-4E9A-8053-5CEFBA02E271}"/>
              </a:ext>
            </a:extLst>
          </p:cNvPr>
          <p:cNvSpPr>
            <a:spLocks xmlns:a="http://schemas.openxmlformats.org/drawingml/2006/main" noGrp="1"/>
          </p:cNvSpPr>
          <p:nvPr/>
        </p:nvSpPr>
        <p:spPr>
          <a:xfrm xmlns:a="http://schemas.openxmlformats.org/drawingml/2006/main">
            <a:off x="8796528" y="2816352"/>
            <a:ext cx="2423160" cy="1143000"/>
          </a:xfrm>
          <a:prstGeom xmlns:a="http://schemas.openxmlformats.org/drawingml/2006/main" prst="roundRect">
            <a:avLst>
              <a:gd name="adj" fmla="val 6400"/>
            </a:avLst>
          </a:prstGeom>
          <a:solidFill xmlns:a="http://schemas.openxmlformats.org/drawingml/2006/main">
            <a:srgbClr val="FFF4D6"/>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61B7AA3B-3567-434A-8850-E4CD647D7FAF}"/>
              </a:ext>
            </a:extLst>
          </p:cNvPr>
          <p:cNvSpPr>
            <a:spLocks xmlns:a="http://schemas.openxmlformats.org/drawingml/2006/main" noGrp="1"/>
          </p:cNvSpPr>
          <p:nvPr/>
        </p:nvSpPr>
        <p:spPr>
          <a:xfrm xmlns:a="http://schemas.openxmlformats.org/drawingml/2006/main">
            <a:off x="8869680" y="2980944"/>
            <a:ext cx="22768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8C6500"/>
                </a:solidFill>
              </a:rPr>
              <a:t>610</a:t>
            </a:r>
          </a:p>
        </p:txBody>
      </p:sp>
      <p:sp>
        <p:nvSpPr>
          <p:cNvPr id="21" name="Text 18">
            <a:extLst xmlns:a="http://schemas.openxmlformats.org/drawingml/2006/main">
              <a:ext uri="{FF2B5EF4-FFF2-40B4-BE49-F238E27FC236}">
                <a16:creationId xmlns:a16="http://schemas.microsoft.com/office/drawing/2014/main" id="{3D727A6C-0871-4C17-8FCA-EC1FA8EA47C3}"/>
              </a:ext>
            </a:extLst>
          </p:cNvPr>
          <p:cNvSpPr>
            <a:spLocks xmlns:a="http://schemas.openxmlformats.org/drawingml/2006/main" noGrp="1"/>
          </p:cNvSpPr>
          <p:nvPr/>
        </p:nvSpPr>
        <p:spPr>
          <a:xfrm xmlns:a="http://schemas.openxmlformats.org/drawingml/2006/main">
            <a:off x="8887968" y="3502152"/>
            <a:ext cx="2240280" cy="3749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F6B7A"/>
                </a:solidFill>
              </a:rPr>
              <a:t>sản phẩm thiếu danh mục</a:t>
            </a:r>
          </a:p>
        </p:txBody>
      </p:sp>
      <p:sp>
        <p:nvSpPr>
          <p:cNvPr id="22" name="Shape 19">
            <a:extLst xmlns:a="http://schemas.openxmlformats.org/drawingml/2006/main">
              <a:ext uri="{FF2B5EF4-FFF2-40B4-BE49-F238E27FC236}">
                <a16:creationId xmlns:a16="http://schemas.microsoft.com/office/drawing/2014/main" id="{867ADFF3-4F74-4DFA-A0D6-E5EB7D046DBF}"/>
              </a:ext>
            </a:extLst>
          </p:cNvPr>
          <p:cNvSpPr>
            <a:spLocks xmlns:a="http://schemas.openxmlformats.org/drawingml/2006/main" noGrp="1"/>
          </p:cNvSpPr>
          <p:nvPr/>
        </p:nvSpPr>
        <p:spPr>
          <a:xfrm xmlns:a="http://schemas.openxmlformats.org/drawingml/2006/main">
            <a:off x="6126480" y="4315968"/>
            <a:ext cx="5093208" cy="1115568"/>
          </a:xfrm>
          <a:prstGeom xmlns:a="http://schemas.openxmlformats.org/drawingml/2006/main" prst="roundRect">
            <a:avLst>
              <a:gd name="adj" fmla="val 4918"/>
            </a:avLst>
          </a:prstGeom>
          <a:solidFill xmlns:a="http://schemas.openxmlformats.org/drawingml/2006/main">
            <a:srgbClr val="E4F4F0"/>
          </a:solidFill>
          <a:ln xmlns:a="http://schemas.openxmlformats.org/drawingml/2006/main" w="12700">
            <a:solidFill>
              <a:srgbClr val="8CCFC1"/>
            </a:solidFill>
            <a:prstDash val="solid"/>
          </a:ln>
        </p:spPr>
        <p:txBody>
          <a:bodyPr xmlns:a="http://schemas.openxmlformats.org/drawingml/2006/main"/>
          <a:lstStyle xmlns:a="http://schemas.openxmlformats.org/drawingml/2006/main"/>
          <a:p xmlns:a="http://schemas.openxmlformats.org/drawingml/2006/main"/>
        </p:txBody>
      </p:sp>
      <p:sp>
        <p:nvSpPr>
          <p:cNvPr id="23" name="Text 20">
            <a:extLst xmlns:a="http://schemas.openxmlformats.org/drawingml/2006/main">
              <a:ext uri="{FF2B5EF4-FFF2-40B4-BE49-F238E27FC236}">
                <a16:creationId xmlns:a16="http://schemas.microsoft.com/office/drawing/2014/main" id="{69742DB3-A4B6-4AE2-A3FE-2609E1B7FB42}"/>
              </a:ext>
            </a:extLst>
          </p:cNvPr>
          <p:cNvSpPr>
            <a:spLocks xmlns:a="http://schemas.openxmlformats.org/drawingml/2006/main" noGrp="1"/>
          </p:cNvSpPr>
          <p:nvPr/>
        </p:nvSpPr>
        <p:spPr>
          <a:xfrm xmlns:a="http://schemas.openxmlformats.org/drawingml/2006/main">
            <a:off x="6327648" y="4517136"/>
            <a:ext cx="29205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3796C"/>
                </a:solidFill>
              </a:rPr>
              <a:t>Vì sao bước này quan trọng?</a:t>
            </a:r>
          </a:p>
        </p:txBody>
      </p:sp>
      <p:sp>
        <p:nvSpPr>
          <p:cNvPr id="24" name="Text 21">
            <a:extLst xmlns:a="http://schemas.openxmlformats.org/drawingml/2006/main">
              <a:ext uri="{FF2B5EF4-FFF2-40B4-BE49-F238E27FC236}">
                <a16:creationId xmlns:a16="http://schemas.microsoft.com/office/drawing/2014/main" id="{BF843723-46F7-47FA-849A-D7B5366C93D3}"/>
              </a:ext>
            </a:extLst>
          </p:cNvPr>
          <p:cNvSpPr>
            <a:spLocks xmlns:a="http://schemas.openxmlformats.org/drawingml/2006/main" noGrp="1"/>
          </p:cNvSpPr>
          <p:nvPr/>
        </p:nvSpPr>
        <p:spPr>
          <a:xfrm xmlns:a="http://schemas.openxmlformats.org/drawingml/2006/main">
            <a:off x="6327648" y="4846320"/>
            <a:ext cx="4709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2500" lnSpcReduction="20000"/>
          </a:bodyPr>
          <a:lstStyle xmlns:a="http://schemas.openxmlformats.org/drawingml/2006/main"/>
          <a:p xmlns:a="http://schemas.openxmlformats.org/drawingml/2006/main">
            <a:pPr marL="0" indent="0">
              <a:buNone/>
            </a:pPr>
            <a:r>
              <a:rPr sz="1600">
                <a:solidFill>
                  <a:srgbClr val="1D2630"/>
                </a:solidFill>
              </a:rPr>
              <a:t>Nếu dữ liệu đọc sai hoặc khóa bị trùng, các biểu đồ và kết quả model phía sau đều có thể sai dù code vẫn chạy.</a:t>
            </a:r>
          </a:p>
        </p:txBody>
      </p:sp>
      <p:sp>
        <p:nvSpPr>
          <p:cNvPr id="26" name="Text 23">
            <a:extLst xmlns:a="http://schemas.openxmlformats.org/drawingml/2006/main">
              <a:ext uri="{FF2B5EF4-FFF2-40B4-BE49-F238E27FC236}">
                <a16:creationId xmlns:a16="http://schemas.microsoft.com/office/drawing/2014/main" id="{08C857BD-694F-4058-910C-686A38AB96B0}"/>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4</a:t>
            </a:r>
          </a:p>
        </p:txBody>
      </p:sp>
    </p:spTree>
    <p:extLst>
      <p:ext uri="{BB962C8B-B14F-4D97-AF65-F5344CB8AC3E}">
        <p14:creationId xmlns:p14="http://schemas.microsoft.com/office/powerpoint/2010/main" val="76248016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D3893848-F718-45B7-9B2F-2A7E8968E048}"/>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25CB8CCB-B645-4C22-9D43-85385BAC9F13}"/>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QUY TRÌNH</a:t>
            </a:r>
          </a:p>
        </p:txBody>
      </p:sp>
      <p:sp>
        <p:nvSpPr>
          <p:cNvPr id="5" name="Text 2">
            <a:extLst xmlns:a="http://schemas.openxmlformats.org/drawingml/2006/main">
              <a:ext uri="{FF2B5EF4-FFF2-40B4-BE49-F238E27FC236}">
                <a16:creationId xmlns:a16="http://schemas.microsoft.com/office/drawing/2014/main" id="{2C950323-2338-40D6-BA6F-7DB09D3271CD}"/>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Quy trình 5 bước để người khác có thể làm lại và kiểm tra lại</a:t>
            </a:r>
          </a:p>
        </p:txBody>
      </p:sp>
      <p:sp>
        <p:nvSpPr>
          <p:cNvPr id="6" name="Shape 3">
            <a:extLst xmlns:a="http://schemas.openxmlformats.org/drawingml/2006/main">
              <a:ext uri="{FF2B5EF4-FFF2-40B4-BE49-F238E27FC236}">
                <a16:creationId xmlns:a16="http://schemas.microsoft.com/office/drawing/2014/main" id="{458A071A-42FD-40EC-8D38-F1E9B2121438}"/>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33268056-436D-400E-B14A-C3C968C2ACB7}"/>
              </a:ext>
            </a:extLst>
          </p:cNvPr>
          <p:cNvSpPr>
            <a:spLocks xmlns:a="http://schemas.openxmlformats.org/drawingml/2006/main" noGrp="1"/>
          </p:cNvSpPr>
          <p:nvPr/>
        </p:nvSpPr>
        <p:spPr>
          <a:xfrm xmlns:a="http://schemas.openxmlformats.org/drawingml/2006/main">
            <a:off x="640080" y="1645920"/>
            <a:ext cx="1664208" cy="2971800"/>
          </a:xfrm>
          <a:prstGeom xmlns:a="http://schemas.openxmlformats.org/drawingml/2006/main" prst="roundRect">
            <a:avLst>
              <a:gd name="adj" fmla="val 4396"/>
            </a:avLst>
          </a:prstGeom>
          <a:solidFill xmlns:a="http://schemas.openxmlformats.org/drawingml/2006/main">
            <a:srgbClr val="DCEAF7"/>
          </a:solidFill>
          <a:ln xmlns:a="http://schemas.openxmlformats.org/drawingml/2006/main" w="12700">
            <a:solidFill>
              <a:srgbClr val="C9D3DE"/>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8" name="Shape 5">
            <a:extLst xmlns:a="http://schemas.openxmlformats.org/drawingml/2006/main">
              <a:ext uri="{FF2B5EF4-FFF2-40B4-BE49-F238E27FC236}">
                <a16:creationId xmlns:a16="http://schemas.microsoft.com/office/drawing/2014/main" id="{4E99A25B-556A-4221-8BF6-78E40DE38DF9}"/>
              </a:ext>
            </a:extLst>
          </p:cNvPr>
          <p:cNvSpPr>
            <a:spLocks xmlns:a="http://schemas.openxmlformats.org/drawingml/2006/main" noGrp="1"/>
          </p:cNvSpPr>
          <p:nvPr/>
        </p:nvSpPr>
        <p:spPr>
          <a:xfrm xmlns:a="http://schemas.openxmlformats.org/drawingml/2006/main">
            <a:off x="1161288" y="1901952"/>
            <a:ext cx="621792" cy="621792"/>
          </a:xfrm>
          <a:prstGeom xmlns:a="http://schemas.openxmlformats.org/drawingml/2006/main" prst="ellipse">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9" name="Text 6">
            <a:extLst xmlns:a="http://schemas.openxmlformats.org/drawingml/2006/main">
              <a:ext uri="{FF2B5EF4-FFF2-40B4-BE49-F238E27FC236}">
                <a16:creationId xmlns:a16="http://schemas.microsoft.com/office/drawing/2014/main" id="{58890D93-6666-4017-A7A3-02FE32EAAD3A}"/>
              </a:ext>
            </a:extLst>
          </p:cNvPr>
          <p:cNvSpPr>
            <a:spLocks xmlns:a="http://schemas.openxmlformats.org/drawingml/2006/main" noGrp="1"/>
          </p:cNvSpPr>
          <p:nvPr/>
        </p:nvSpPr>
        <p:spPr>
          <a:xfrm xmlns:a="http://schemas.openxmlformats.org/drawingml/2006/main">
            <a:off x="1161288" y="2075688"/>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01</a:t>
            </a:r>
          </a:p>
        </p:txBody>
      </p:sp>
      <p:sp>
        <p:nvSpPr>
          <p:cNvPr id="10" name="Text 7">
            <a:extLst xmlns:a="http://schemas.openxmlformats.org/drawingml/2006/main">
              <a:ext uri="{FF2B5EF4-FFF2-40B4-BE49-F238E27FC236}">
                <a16:creationId xmlns:a16="http://schemas.microsoft.com/office/drawing/2014/main" id="{D51DDDD0-C8AB-47CC-A394-95D9E048A875}"/>
              </a:ext>
            </a:extLst>
          </p:cNvPr>
          <p:cNvSpPr>
            <a:spLocks xmlns:a="http://schemas.openxmlformats.org/drawingml/2006/main" noGrp="1"/>
          </p:cNvSpPr>
          <p:nvPr/>
        </p:nvSpPr>
        <p:spPr>
          <a:xfrm xmlns:a="http://schemas.openxmlformats.org/drawingml/2006/main">
            <a:off x="749808" y="2697480"/>
            <a:ext cx="144475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700" b="1">
                <a:solidFill>
                  <a:srgbClr val="0B4A8B"/>
                </a:solidFill>
              </a:rPr>
              <a:t>Đọc &amp; kiểm tra</a:t>
            </a:r>
          </a:p>
        </p:txBody>
      </p:sp>
      <p:sp>
        <p:nvSpPr>
          <p:cNvPr id="11" name="Text 8">
            <a:extLst xmlns:a="http://schemas.openxmlformats.org/drawingml/2006/main">
              <a:ext uri="{FF2B5EF4-FFF2-40B4-BE49-F238E27FC236}">
                <a16:creationId xmlns:a16="http://schemas.microsoft.com/office/drawing/2014/main" id="{943B445D-A10D-4849-BF72-F11D43CA7AA1}"/>
              </a:ext>
            </a:extLst>
          </p:cNvPr>
          <p:cNvSpPr>
            <a:spLocks xmlns:a="http://schemas.openxmlformats.org/drawingml/2006/main" noGrp="1"/>
          </p:cNvSpPr>
          <p:nvPr/>
        </p:nvSpPr>
        <p:spPr>
          <a:xfrm xmlns:a="http://schemas.openxmlformats.org/drawingml/2006/main">
            <a:off x="749808" y="3355848"/>
            <a:ext cx="144475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a:solidFill>
                  <a:srgbClr val="1D2630"/>
                </a:solidFill>
              </a:rPr>
              <a:t>CSV → DataFrame</a:t>
            </a:r>
          </a:p>
          <a:p xmlns:a="http://schemas.openxmlformats.org/drawingml/2006/main">
            <a:pPr marL="0" indent="0" algn="ctr">
              <a:buNone/>
            </a:pPr>
            <a:r>
              <a:rPr sz="1400">
                <a:solidFill>
                  <a:srgbClr val="1D2630"/>
                </a:solidFill>
              </a:rPr>
              <a:t>schema, khóa, null</a:t>
            </a:r>
          </a:p>
        </p:txBody>
      </p:sp>
      <p:sp>
        <p:nvSpPr>
          <p:cNvPr id="12" name="Shape 9">
            <a:extLst xmlns:a="http://schemas.openxmlformats.org/drawingml/2006/main">
              <a:ext uri="{FF2B5EF4-FFF2-40B4-BE49-F238E27FC236}">
                <a16:creationId xmlns:a16="http://schemas.microsoft.com/office/drawing/2014/main" id="{14746430-A57A-4253-BDA4-E85FB67B303C}"/>
              </a:ext>
            </a:extLst>
          </p:cNvPr>
          <p:cNvSpPr>
            <a:spLocks xmlns:a="http://schemas.openxmlformats.org/drawingml/2006/main" noGrp="1"/>
          </p:cNvSpPr>
          <p:nvPr/>
        </p:nvSpPr>
        <p:spPr>
          <a:xfrm xmlns:a="http://schemas.openxmlformats.org/drawingml/2006/main">
            <a:off x="2359152" y="3127248"/>
            <a:ext cx="521208" cy="0"/>
          </a:xfrm>
          <a:prstGeom xmlns:a="http://schemas.openxmlformats.org/drawingml/2006/main" prst="line">
            <a:avLst/>
          </a:prstGeom>
          <a:noFill xmlns:a="http://schemas.openxmlformats.org/drawingml/2006/main"/>
          <a:ln xmlns:a="http://schemas.openxmlformats.org/drawingml/2006/main" w="12700">
            <a:solidFill>
              <a:srgbClr val="7C8FA3"/>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3" name="Shape 10">
            <a:extLst xmlns:a="http://schemas.openxmlformats.org/drawingml/2006/main">
              <a:ext uri="{FF2B5EF4-FFF2-40B4-BE49-F238E27FC236}">
                <a16:creationId xmlns:a16="http://schemas.microsoft.com/office/drawing/2014/main" id="{C6A325C4-51AF-4722-84D0-AD1826C2E9BB}"/>
              </a:ext>
            </a:extLst>
          </p:cNvPr>
          <p:cNvSpPr>
            <a:spLocks xmlns:a="http://schemas.openxmlformats.org/drawingml/2006/main" noGrp="1"/>
          </p:cNvSpPr>
          <p:nvPr/>
        </p:nvSpPr>
        <p:spPr>
          <a:xfrm xmlns:a="http://schemas.openxmlformats.org/drawingml/2006/main">
            <a:off x="2953512" y="1645920"/>
            <a:ext cx="1664208" cy="2971800"/>
          </a:xfrm>
          <a:prstGeom xmlns:a="http://schemas.openxmlformats.org/drawingml/2006/main" prst="roundRect">
            <a:avLst>
              <a:gd name="adj" fmla="val 4396"/>
            </a:avLst>
          </a:prstGeom>
          <a:solidFill xmlns:a="http://schemas.openxmlformats.org/drawingml/2006/main">
            <a:srgbClr val="E4F4F0"/>
          </a:solidFill>
          <a:ln xmlns:a="http://schemas.openxmlformats.org/drawingml/2006/main" w="12700">
            <a:solidFill>
              <a:srgbClr val="C9D3DE"/>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14" name="Shape 11">
            <a:extLst xmlns:a="http://schemas.openxmlformats.org/drawingml/2006/main">
              <a:ext uri="{FF2B5EF4-FFF2-40B4-BE49-F238E27FC236}">
                <a16:creationId xmlns:a16="http://schemas.microsoft.com/office/drawing/2014/main" id="{DCF40DF6-2042-43C4-B008-4E4BD8796AAA}"/>
              </a:ext>
            </a:extLst>
          </p:cNvPr>
          <p:cNvSpPr>
            <a:spLocks xmlns:a="http://schemas.openxmlformats.org/drawingml/2006/main" noGrp="1"/>
          </p:cNvSpPr>
          <p:nvPr/>
        </p:nvSpPr>
        <p:spPr>
          <a:xfrm xmlns:a="http://schemas.openxmlformats.org/drawingml/2006/main">
            <a:off x="3474720" y="1901952"/>
            <a:ext cx="621792" cy="621792"/>
          </a:xfrm>
          <a:prstGeom xmlns:a="http://schemas.openxmlformats.org/drawingml/2006/main" prst="ellipse">
            <a:avLst/>
          </a:prstGeom>
          <a:solidFill xmlns:a="http://schemas.openxmlformats.org/drawingml/2006/main">
            <a:srgbClr val="13796C"/>
          </a:solidFill>
          <a:ln xmlns:a="http://schemas.openxmlformats.org/drawingml/2006/main" w="12700">
            <a:solidFill>
              <a:srgbClr val="13796C"/>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36821DF3-FE00-4FB3-A2E7-378C91A4555C}"/>
              </a:ext>
            </a:extLst>
          </p:cNvPr>
          <p:cNvSpPr>
            <a:spLocks xmlns:a="http://schemas.openxmlformats.org/drawingml/2006/main" noGrp="1"/>
          </p:cNvSpPr>
          <p:nvPr/>
        </p:nvSpPr>
        <p:spPr>
          <a:xfrm xmlns:a="http://schemas.openxmlformats.org/drawingml/2006/main">
            <a:off x="3474720" y="2075688"/>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02</a:t>
            </a:r>
          </a:p>
        </p:txBody>
      </p:sp>
      <p:sp>
        <p:nvSpPr>
          <p:cNvPr id="16" name="Text 13">
            <a:extLst xmlns:a="http://schemas.openxmlformats.org/drawingml/2006/main">
              <a:ext uri="{FF2B5EF4-FFF2-40B4-BE49-F238E27FC236}">
                <a16:creationId xmlns:a16="http://schemas.microsoft.com/office/drawing/2014/main" id="{12B1B9CA-3DFC-4441-ACAE-868ABCBAEDD3}"/>
              </a:ext>
            </a:extLst>
          </p:cNvPr>
          <p:cNvSpPr>
            <a:spLocks xmlns:a="http://schemas.openxmlformats.org/drawingml/2006/main" noGrp="1"/>
          </p:cNvSpPr>
          <p:nvPr/>
        </p:nvSpPr>
        <p:spPr>
          <a:xfrm xmlns:a="http://schemas.openxmlformats.org/drawingml/2006/main">
            <a:off x="3063240" y="2697480"/>
            <a:ext cx="144475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700" b="1">
                <a:solidFill>
                  <a:srgbClr val="13796C"/>
                </a:solidFill>
              </a:rPr>
              <a:t>Làm sạch</a:t>
            </a:r>
          </a:p>
        </p:txBody>
      </p:sp>
      <p:sp>
        <p:nvSpPr>
          <p:cNvPr id="17" name="Text 14">
            <a:extLst xmlns:a="http://schemas.openxmlformats.org/drawingml/2006/main">
              <a:ext uri="{FF2B5EF4-FFF2-40B4-BE49-F238E27FC236}">
                <a16:creationId xmlns:a16="http://schemas.microsoft.com/office/drawing/2014/main" id="{9E299642-482F-4705-8867-B0E4E87F36AB}"/>
              </a:ext>
            </a:extLst>
          </p:cNvPr>
          <p:cNvSpPr>
            <a:spLocks xmlns:a="http://schemas.openxmlformats.org/drawingml/2006/main" noGrp="1"/>
          </p:cNvSpPr>
          <p:nvPr/>
        </p:nvSpPr>
        <p:spPr>
          <a:xfrm xmlns:a="http://schemas.openxmlformats.org/drawingml/2006/main">
            <a:off x="3063240" y="3355848"/>
            <a:ext cx="144475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pPr>
            <a:r>
              <a:rPr sz="1400">
                <a:solidFill>
                  <a:srgbClr val="1D2630"/>
                </a:solidFill>
              </a:rPr>
              <a:t>chuẩn hóa thời gian</a:t>
            </a:r>
          </a:p>
          <a:p xmlns:a="http://schemas.openxmlformats.org/drawingml/2006/main">
            <a:pPr marL="0" indent="0" algn="ctr">
              <a:buNone/>
            </a:pPr>
            <a:r>
              <a:rPr sz="1400">
                <a:solidFill>
                  <a:srgbClr val="1D2630"/>
                </a:solidFill>
              </a:rPr>
              <a:t>loại/điều chỉnh bất thường</a:t>
            </a:r>
          </a:p>
        </p:txBody>
      </p:sp>
      <p:sp>
        <p:nvSpPr>
          <p:cNvPr id="18" name="Shape 15">
            <a:extLst xmlns:a="http://schemas.openxmlformats.org/drawingml/2006/main">
              <a:ext uri="{FF2B5EF4-FFF2-40B4-BE49-F238E27FC236}">
                <a16:creationId xmlns:a16="http://schemas.microsoft.com/office/drawing/2014/main" id="{F5A92AD4-C02D-4B1A-A617-4C4959C6AD29}"/>
              </a:ext>
            </a:extLst>
          </p:cNvPr>
          <p:cNvSpPr>
            <a:spLocks xmlns:a="http://schemas.openxmlformats.org/drawingml/2006/main" noGrp="1"/>
          </p:cNvSpPr>
          <p:nvPr/>
        </p:nvSpPr>
        <p:spPr>
          <a:xfrm xmlns:a="http://schemas.openxmlformats.org/drawingml/2006/main">
            <a:off x="4672584" y="3127248"/>
            <a:ext cx="521208" cy="0"/>
          </a:xfrm>
          <a:prstGeom xmlns:a="http://schemas.openxmlformats.org/drawingml/2006/main" prst="line">
            <a:avLst/>
          </a:prstGeom>
          <a:noFill xmlns:a="http://schemas.openxmlformats.org/drawingml/2006/main"/>
          <a:ln xmlns:a="http://schemas.openxmlformats.org/drawingml/2006/main" w="12700">
            <a:solidFill>
              <a:srgbClr val="7C8FA3"/>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9" name="Shape 16">
            <a:extLst xmlns:a="http://schemas.openxmlformats.org/drawingml/2006/main">
              <a:ext uri="{FF2B5EF4-FFF2-40B4-BE49-F238E27FC236}">
                <a16:creationId xmlns:a16="http://schemas.microsoft.com/office/drawing/2014/main" id="{DCC36285-04F1-49CF-ABAC-46E3673CFABC}"/>
              </a:ext>
            </a:extLst>
          </p:cNvPr>
          <p:cNvSpPr>
            <a:spLocks xmlns:a="http://schemas.openxmlformats.org/drawingml/2006/main" noGrp="1"/>
          </p:cNvSpPr>
          <p:nvPr/>
        </p:nvSpPr>
        <p:spPr>
          <a:xfrm xmlns:a="http://schemas.openxmlformats.org/drawingml/2006/main">
            <a:off x="5266944" y="1645920"/>
            <a:ext cx="1664208" cy="2971800"/>
          </a:xfrm>
          <a:prstGeom xmlns:a="http://schemas.openxmlformats.org/drawingml/2006/main" prst="roundRect">
            <a:avLst>
              <a:gd name="adj" fmla="val 4396"/>
            </a:avLst>
          </a:prstGeom>
          <a:solidFill xmlns:a="http://schemas.openxmlformats.org/drawingml/2006/main">
            <a:srgbClr val="FFF4D6"/>
          </a:solidFill>
          <a:ln xmlns:a="http://schemas.openxmlformats.org/drawingml/2006/main" w="12700">
            <a:solidFill>
              <a:srgbClr val="C9D3DE"/>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91BF831B-1924-4D5B-8512-643BC164260B}"/>
              </a:ext>
            </a:extLst>
          </p:cNvPr>
          <p:cNvSpPr>
            <a:spLocks xmlns:a="http://schemas.openxmlformats.org/drawingml/2006/main" noGrp="1"/>
          </p:cNvSpPr>
          <p:nvPr/>
        </p:nvSpPr>
        <p:spPr>
          <a:xfrm xmlns:a="http://schemas.openxmlformats.org/drawingml/2006/main">
            <a:off x="5788152" y="1901952"/>
            <a:ext cx="621792" cy="621792"/>
          </a:xfrm>
          <a:prstGeom xmlns:a="http://schemas.openxmlformats.org/drawingml/2006/main" prst="ellipse">
            <a:avLst/>
          </a:prstGeom>
          <a:solidFill xmlns:a="http://schemas.openxmlformats.org/drawingml/2006/main">
            <a:srgbClr val="8C6500"/>
          </a:solidFill>
          <a:ln xmlns:a="http://schemas.openxmlformats.org/drawingml/2006/main" w="12700">
            <a:solidFill>
              <a:srgbClr val="8C6500"/>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6FD96396-D3D5-4364-9390-48B8E1A14D9C}"/>
              </a:ext>
            </a:extLst>
          </p:cNvPr>
          <p:cNvSpPr>
            <a:spLocks xmlns:a="http://schemas.openxmlformats.org/drawingml/2006/main" noGrp="1"/>
          </p:cNvSpPr>
          <p:nvPr/>
        </p:nvSpPr>
        <p:spPr>
          <a:xfrm xmlns:a="http://schemas.openxmlformats.org/drawingml/2006/main">
            <a:off x="5788152" y="2075688"/>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03</a:t>
            </a:r>
          </a:p>
        </p:txBody>
      </p:sp>
      <p:sp>
        <p:nvSpPr>
          <p:cNvPr id="22" name="Text 19">
            <a:extLst xmlns:a="http://schemas.openxmlformats.org/drawingml/2006/main">
              <a:ext uri="{FF2B5EF4-FFF2-40B4-BE49-F238E27FC236}">
                <a16:creationId xmlns:a16="http://schemas.microsoft.com/office/drawing/2014/main" id="{33EA8CF4-C589-4B87-A27C-0AB2806C14A5}"/>
              </a:ext>
            </a:extLst>
          </p:cNvPr>
          <p:cNvSpPr>
            <a:spLocks xmlns:a="http://schemas.openxmlformats.org/drawingml/2006/main" noGrp="1"/>
          </p:cNvSpPr>
          <p:nvPr/>
        </p:nvSpPr>
        <p:spPr>
          <a:xfrm xmlns:a="http://schemas.openxmlformats.org/drawingml/2006/main">
            <a:off x="5376672" y="2697480"/>
            <a:ext cx="144475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700" b="1">
                <a:solidFill>
                  <a:srgbClr val="8C6500"/>
                </a:solidFill>
              </a:rPr>
              <a:t>Tích hợp</a:t>
            </a:r>
          </a:p>
        </p:txBody>
      </p:sp>
      <p:sp>
        <p:nvSpPr>
          <p:cNvPr id="23" name="Text 20">
            <a:extLst xmlns:a="http://schemas.openxmlformats.org/drawingml/2006/main">
              <a:ext uri="{FF2B5EF4-FFF2-40B4-BE49-F238E27FC236}">
                <a16:creationId xmlns:a16="http://schemas.microsoft.com/office/drawing/2014/main" id="{84685604-DD8C-4BB2-B617-E20CE8E29732}"/>
              </a:ext>
            </a:extLst>
          </p:cNvPr>
          <p:cNvSpPr>
            <a:spLocks xmlns:a="http://schemas.openxmlformats.org/drawingml/2006/main" noGrp="1"/>
          </p:cNvSpPr>
          <p:nvPr/>
        </p:nvSpPr>
        <p:spPr>
          <a:xfrm xmlns:a="http://schemas.openxmlformats.org/drawingml/2006/main">
            <a:off x="5376672" y="3355848"/>
            <a:ext cx="144475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a:solidFill>
                  <a:srgbClr val="1D2630"/>
                </a:solidFill>
              </a:rPr>
              <a:t>groupBy + left join</a:t>
            </a:r>
          </a:p>
          <a:p xmlns:a="http://schemas.openxmlformats.org/drawingml/2006/main">
            <a:pPr marL="0" indent="0" algn="ctr">
              <a:buNone/>
            </a:pPr>
            <a:r>
              <a:rPr sz="1400">
                <a:solidFill>
                  <a:srgbClr val="1D2630"/>
                </a:solidFill>
              </a:rPr>
              <a:t>tạo orders_enriched</a:t>
            </a:r>
          </a:p>
        </p:txBody>
      </p:sp>
      <p:sp>
        <p:nvSpPr>
          <p:cNvPr id="24" name="Shape 21">
            <a:extLst xmlns:a="http://schemas.openxmlformats.org/drawingml/2006/main">
              <a:ext uri="{FF2B5EF4-FFF2-40B4-BE49-F238E27FC236}">
                <a16:creationId xmlns:a16="http://schemas.microsoft.com/office/drawing/2014/main" id="{B4C8DA1C-CF8D-4C65-9D52-8E97A9FF63DA}"/>
              </a:ext>
            </a:extLst>
          </p:cNvPr>
          <p:cNvSpPr>
            <a:spLocks xmlns:a="http://schemas.openxmlformats.org/drawingml/2006/main" noGrp="1"/>
          </p:cNvSpPr>
          <p:nvPr/>
        </p:nvSpPr>
        <p:spPr>
          <a:xfrm xmlns:a="http://schemas.openxmlformats.org/drawingml/2006/main">
            <a:off x="6986016" y="3127248"/>
            <a:ext cx="521208" cy="0"/>
          </a:xfrm>
          <a:prstGeom xmlns:a="http://schemas.openxmlformats.org/drawingml/2006/main" prst="line">
            <a:avLst/>
          </a:prstGeom>
          <a:noFill xmlns:a="http://schemas.openxmlformats.org/drawingml/2006/main"/>
          <a:ln xmlns:a="http://schemas.openxmlformats.org/drawingml/2006/main" w="12700">
            <a:solidFill>
              <a:srgbClr val="7C8FA3"/>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25" name="Shape 22">
            <a:extLst xmlns:a="http://schemas.openxmlformats.org/drawingml/2006/main">
              <a:ext uri="{FF2B5EF4-FFF2-40B4-BE49-F238E27FC236}">
                <a16:creationId xmlns:a16="http://schemas.microsoft.com/office/drawing/2014/main" id="{6DD676D7-C5B9-4BFE-B34B-B45156BC614E}"/>
              </a:ext>
            </a:extLst>
          </p:cNvPr>
          <p:cNvSpPr>
            <a:spLocks xmlns:a="http://schemas.openxmlformats.org/drawingml/2006/main" noGrp="1"/>
          </p:cNvSpPr>
          <p:nvPr/>
        </p:nvSpPr>
        <p:spPr>
          <a:xfrm xmlns:a="http://schemas.openxmlformats.org/drawingml/2006/main">
            <a:off x="7580376" y="1645920"/>
            <a:ext cx="1664208" cy="2971800"/>
          </a:xfrm>
          <a:prstGeom xmlns:a="http://schemas.openxmlformats.org/drawingml/2006/main" prst="roundRect">
            <a:avLst>
              <a:gd name="adj" fmla="val 4396"/>
            </a:avLst>
          </a:prstGeom>
          <a:solidFill xmlns:a="http://schemas.openxmlformats.org/drawingml/2006/main">
            <a:srgbClr val="EFE8FA"/>
          </a:solidFill>
          <a:ln xmlns:a="http://schemas.openxmlformats.org/drawingml/2006/main" w="12700">
            <a:solidFill>
              <a:srgbClr val="C9D3DE"/>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26" name="Shape 23">
            <a:extLst xmlns:a="http://schemas.openxmlformats.org/drawingml/2006/main">
              <a:ext uri="{FF2B5EF4-FFF2-40B4-BE49-F238E27FC236}">
                <a16:creationId xmlns:a16="http://schemas.microsoft.com/office/drawing/2014/main" id="{0BED6BEA-01E9-4332-8629-61D0A34D9ED9}"/>
              </a:ext>
            </a:extLst>
          </p:cNvPr>
          <p:cNvSpPr>
            <a:spLocks xmlns:a="http://schemas.openxmlformats.org/drawingml/2006/main" noGrp="1"/>
          </p:cNvSpPr>
          <p:nvPr/>
        </p:nvSpPr>
        <p:spPr>
          <a:xfrm xmlns:a="http://schemas.openxmlformats.org/drawingml/2006/main">
            <a:off x="8101584" y="1901952"/>
            <a:ext cx="621792" cy="621792"/>
          </a:xfrm>
          <a:prstGeom xmlns:a="http://schemas.openxmlformats.org/drawingml/2006/main" prst="ellipse">
            <a:avLst/>
          </a:prstGeom>
          <a:solidFill xmlns:a="http://schemas.openxmlformats.org/drawingml/2006/main">
            <a:srgbClr val="6B4B9A"/>
          </a:solidFill>
          <a:ln xmlns:a="http://schemas.openxmlformats.org/drawingml/2006/main" w="12700">
            <a:solidFill>
              <a:srgbClr val="6B4B9A"/>
            </a:solidFill>
            <a:prstDash val="solid"/>
          </a:ln>
        </p:spPr>
        <p:txBody>
          <a:bodyPr xmlns:a="http://schemas.openxmlformats.org/drawingml/2006/main"/>
          <a:lstStyle xmlns:a="http://schemas.openxmlformats.org/drawingml/2006/main"/>
          <a:p xmlns:a="http://schemas.openxmlformats.org/drawingml/2006/main"/>
        </p:txBody>
      </p:sp>
      <p:sp>
        <p:nvSpPr>
          <p:cNvPr id="27" name="Text 24">
            <a:extLst xmlns:a="http://schemas.openxmlformats.org/drawingml/2006/main">
              <a:ext uri="{FF2B5EF4-FFF2-40B4-BE49-F238E27FC236}">
                <a16:creationId xmlns:a16="http://schemas.microsoft.com/office/drawing/2014/main" id="{E327624F-AA90-413D-9F80-269CB00B30CF}"/>
              </a:ext>
            </a:extLst>
          </p:cNvPr>
          <p:cNvSpPr>
            <a:spLocks xmlns:a="http://schemas.openxmlformats.org/drawingml/2006/main" noGrp="1"/>
          </p:cNvSpPr>
          <p:nvPr/>
        </p:nvSpPr>
        <p:spPr>
          <a:xfrm xmlns:a="http://schemas.openxmlformats.org/drawingml/2006/main">
            <a:off x="8101584" y="2075688"/>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04</a:t>
            </a:r>
          </a:p>
        </p:txBody>
      </p:sp>
      <p:sp>
        <p:nvSpPr>
          <p:cNvPr id="28" name="Text 25">
            <a:extLst xmlns:a="http://schemas.openxmlformats.org/drawingml/2006/main">
              <a:ext uri="{FF2B5EF4-FFF2-40B4-BE49-F238E27FC236}">
                <a16:creationId xmlns:a16="http://schemas.microsoft.com/office/drawing/2014/main" id="{4D46896A-E09E-4EE7-AE76-51262B254073}"/>
              </a:ext>
            </a:extLst>
          </p:cNvPr>
          <p:cNvSpPr>
            <a:spLocks xmlns:a="http://schemas.openxmlformats.org/drawingml/2006/main" noGrp="1"/>
          </p:cNvSpPr>
          <p:nvPr/>
        </p:nvSpPr>
        <p:spPr>
          <a:xfrm xmlns:a="http://schemas.openxmlformats.org/drawingml/2006/main">
            <a:off x="7690104" y="2697480"/>
            <a:ext cx="144475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700" b="1">
                <a:solidFill>
                  <a:srgbClr val="6B4B9A"/>
                </a:solidFill>
              </a:rPr>
              <a:t>Khám phá dữ liệu</a:t>
            </a:r>
          </a:p>
        </p:txBody>
      </p:sp>
      <p:sp>
        <p:nvSpPr>
          <p:cNvPr id="29" name="Text 26">
            <a:extLst xmlns:a="http://schemas.openxmlformats.org/drawingml/2006/main">
              <a:ext uri="{FF2B5EF4-FFF2-40B4-BE49-F238E27FC236}">
                <a16:creationId xmlns:a16="http://schemas.microsoft.com/office/drawing/2014/main" id="{62634F5C-46B3-40F6-A36E-F190A1251955}"/>
              </a:ext>
            </a:extLst>
          </p:cNvPr>
          <p:cNvSpPr>
            <a:spLocks xmlns:a="http://schemas.openxmlformats.org/drawingml/2006/main" noGrp="1"/>
          </p:cNvSpPr>
          <p:nvPr/>
        </p:nvSpPr>
        <p:spPr>
          <a:xfrm xmlns:a="http://schemas.openxmlformats.org/drawingml/2006/main">
            <a:off x="7690104" y="3355848"/>
            <a:ext cx="144475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a:solidFill>
                  <a:srgbClr val="1D2630"/>
                </a:solidFill>
              </a:rPr>
              <a:t>trả lời câu hỏi</a:t>
            </a:r>
          </a:p>
          <a:p xmlns:a="http://schemas.openxmlformats.org/drawingml/2006/main">
            <a:pPr marL="0" indent="0" algn="ctr">
              <a:buNone/>
            </a:pPr>
            <a:r>
              <a:rPr sz="1400">
                <a:solidFill>
                  <a:srgbClr val="1D2630"/>
                </a:solidFill>
              </a:rPr>
              <a:t>biểu đồ + bảng số liệu</a:t>
            </a:r>
          </a:p>
        </p:txBody>
      </p:sp>
      <p:sp>
        <p:nvSpPr>
          <p:cNvPr id="30" name="Shape 27">
            <a:extLst xmlns:a="http://schemas.openxmlformats.org/drawingml/2006/main">
              <a:ext uri="{FF2B5EF4-FFF2-40B4-BE49-F238E27FC236}">
                <a16:creationId xmlns:a16="http://schemas.microsoft.com/office/drawing/2014/main" id="{BBE4F38D-B6DA-48D4-828F-0550ACE1792F}"/>
              </a:ext>
            </a:extLst>
          </p:cNvPr>
          <p:cNvSpPr>
            <a:spLocks xmlns:a="http://schemas.openxmlformats.org/drawingml/2006/main" noGrp="1"/>
          </p:cNvSpPr>
          <p:nvPr/>
        </p:nvSpPr>
        <p:spPr>
          <a:xfrm xmlns:a="http://schemas.openxmlformats.org/drawingml/2006/main">
            <a:off x="9299448" y="3127248"/>
            <a:ext cx="521208" cy="0"/>
          </a:xfrm>
          <a:prstGeom xmlns:a="http://schemas.openxmlformats.org/drawingml/2006/main" prst="line">
            <a:avLst/>
          </a:prstGeom>
          <a:noFill xmlns:a="http://schemas.openxmlformats.org/drawingml/2006/main"/>
          <a:ln xmlns:a="http://schemas.openxmlformats.org/drawingml/2006/main" w="12700">
            <a:solidFill>
              <a:srgbClr val="7C8FA3"/>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1" name="Shape 28">
            <a:extLst xmlns:a="http://schemas.openxmlformats.org/drawingml/2006/main">
              <a:ext uri="{FF2B5EF4-FFF2-40B4-BE49-F238E27FC236}">
                <a16:creationId xmlns:a16="http://schemas.microsoft.com/office/drawing/2014/main" id="{1B25B261-6F07-4B16-B5BF-AB7566B0D907}"/>
              </a:ext>
            </a:extLst>
          </p:cNvPr>
          <p:cNvSpPr>
            <a:spLocks xmlns:a="http://schemas.openxmlformats.org/drawingml/2006/main" noGrp="1"/>
          </p:cNvSpPr>
          <p:nvPr/>
        </p:nvSpPr>
        <p:spPr>
          <a:xfrm xmlns:a="http://schemas.openxmlformats.org/drawingml/2006/main">
            <a:off x="9893808" y="1645920"/>
            <a:ext cx="1664208" cy="2971800"/>
          </a:xfrm>
          <a:prstGeom xmlns:a="http://schemas.openxmlformats.org/drawingml/2006/main" prst="roundRect">
            <a:avLst>
              <a:gd name="adj" fmla="val 4396"/>
            </a:avLst>
          </a:prstGeom>
          <a:solidFill xmlns:a="http://schemas.openxmlformats.org/drawingml/2006/main">
            <a:srgbClr val="FFF0E4"/>
          </a:solidFill>
          <a:ln xmlns:a="http://schemas.openxmlformats.org/drawingml/2006/main" w="12700">
            <a:solidFill>
              <a:srgbClr val="C9D3DE"/>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32" name="Shape 29">
            <a:extLst xmlns:a="http://schemas.openxmlformats.org/drawingml/2006/main">
              <a:ext uri="{FF2B5EF4-FFF2-40B4-BE49-F238E27FC236}">
                <a16:creationId xmlns:a16="http://schemas.microsoft.com/office/drawing/2014/main" id="{755F657F-C0C1-4C13-90D2-DE158FC911D3}"/>
              </a:ext>
            </a:extLst>
          </p:cNvPr>
          <p:cNvSpPr>
            <a:spLocks xmlns:a="http://schemas.openxmlformats.org/drawingml/2006/main" noGrp="1"/>
          </p:cNvSpPr>
          <p:nvPr/>
        </p:nvSpPr>
        <p:spPr>
          <a:xfrm xmlns:a="http://schemas.openxmlformats.org/drawingml/2006/main">
            <a:off x="10415016" y="1901952"/>
            <a:ext cx="621792" cy="621792"/>
          </a:xfrm>
          <a:prstGeom xmlns:a="http://schemas.openxmlformats.org/drawingml/2006/main" prst="ellipse">
            <a:avLst/>
          </a:prstGeom>
          <a:solidFill xmlns:a="http://schemas.openxmlformats.org/drawingml/2006/main">
            <a:srgbClr val="A65322"/>
          </a:solidFill>
          <a:ln xmlns:a="http://schemas.openxmlformats.org/drawingml/2006/main" w="12700">
            <a:solidFill>
              <a:srgbClr val="A65322"/>
            </a:solidFill>
            <a:prstDash val="solid"/>
          </a:ln>
        </p:spPr>
        <p:txBody>
          <a:bodyPr xmlns:a="http://schemas.openxmlformats.org/drawingml/2006/main"/>
          <a:lstStyle xmlns:a="http://schemas.openxmlformats.org/drawingml/2006/main"/>
          <a:p xmlns:a="http://schemas.openxmlformats.org/drawingml/2006/main"/>
        </p:txBody>
      </p:sp>
      <p:sp>
        <p:nvSpPr>
          <p:cNvPr id="33" name="Text 30">
            <a:extLst xmlns:a="http://schemas.openxmlformats.org/drawingml/2006/main">
              <a:ext uri="{FF2B5EF4-FFF2-40B4-BE49-F238E27FC236}">
                <a16:creationId xmlns:a16="http://schemas.microsoft.com/office/drawing/2014/main" id="{AFCF1094-AA07-4F82-AB30-B7519D812A6B}"/>
              </a:ext>
            </a:extLst>
          </p:cNvPr>
          <p:cNvSpPr>
            <a:spLocks xmlns:a="http://schemas.openxmlformats.org/drawingml/2006/main" noGrp="1"/>
          </p:cNvSpPr>
          <p:nvPr/>
        </p:nvSpPr>
        <p:spPr>
          <a:xfrm xmlns:a="http://schemas.openxmlformats.org/drawingml/2006/main">
            <a:off x="10415016" y="2075688"/>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05</a:t>
            </a:r>
          </a:p>
        </p:txBody>
      </p:sp>
      <p:sp>
        <p:nvSpPr>
          <p:cNvPr id="34" name="Text 31">
            <a:extLst xmlns:a="http://schemas.openxmlformats.org/drawingml/2006/main">
              <a:ext uri="{FF2B5EF4-FFF2-40B4-BE49-F238E27FC236}">
                <a16:creationId xmlns:a16="http://schemas.microsoft.com/office/drawing/2014/main" id="{B28FB716-A80F-4CF7-B244-C946FBAF019D}"/>
              </a:ext>
            </a:extLst>
          </p:cNvPr>
          <p:cNvSpPr>
            <a:spLocks xmlns:a="http://schemas.openxmlformats.org/drawingml/2006/main" noGrp="1"/>
          </p:cNvSpPr>
          <p:nvPr/>
        </p:nvSpPr>
        <p:spPr>
          <a:xfrm xmlns:a="http://schemas.openxmlformats.org/drawingml/2006/main">
            <a:off x="10003536" y="2697480"/>
            <a:ext cx="144475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700" b="1">
                <a:solidFill>
                  <a:srgbClr val="A65322"/>
                </a:solidFill>
              </a:rPr>
              <a:t>Học máy</a:t>
            </a:r>
          </a:p>
        </p:txBody>
      </p:sp>
      <p:sp>
        <p:nvSpPr>
          <p:cNvPr id="35" name="Text 32">
            <a:extLst xmlns:a="http://schemas.openxmlformats.org/drawingml/2006/main">
              <a:ext uri="{FF2B5EF4-FFF2-40B4-BE49-F238E27FC236}">
                <a16:creationId xmlns:a16="http://schemas.microsoft.com/office/drawing/2014/main" id="{428A07B2-2528-4003-B4BC-BDBC65B11E1A}"/>
              </a:ext>
            </a:extLst>
          </p:cNvPr>
          <p:cNvSpPr>
            <a:spLocks xmlns:a="http://schemas.openxmlformats.org/drawingml/2006/main" noGrp="1"/>
          </p:cNvSpPr>
          <p:nvPr/>
        </p:nvSpPr>
        <p:spPr>
          <a:xfrm xmlns:a="http://schemas.openxmlformats.org/drawingml/2006/main">
            <a:off x="10003536" y="3355848"/>
            <a:ext cx="144475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a:solidFill>
                  <a:srgbClr val="1D2630"/>
                </a:solidFill>
              </a:rPr>
              <a:t>baseline + 2 model</a:t>
            </a:r>
          </a:p>
          <a:p xmlns:a="http://schemas.openxmlformats.org/drawingml/2006/main">
            <a:pPr marL="0" indent="0" algn="ctr">
              <a:buNone/>
            </a:pPr>
            <a:r>
              <a:rPr sz="1400">
                <a:solidFill>
                  <a:srgbClr val="1D2630"/>
                </a:solidFill>
              </a:rPr>
              <a:t>validation + test</a:t>
            </a:r>
          </a:p>
        </p:txBody>
      </p:sp>
      <p:sp>
        <p:nvSpPr>
          <p:cNvPr id="36" name="Shape 33">
            <a:extLst xmlns:a="http://schemas.openxmlformats.org/drawingml/2006/main">
              <a:ext uri="{FF2B5EF4-FFF2-40B4-BE49-F238E27FC236}">
                <a16:creationId xmlns:a16="http://schemas.microsoft.com/office/drawing/2014/main" id="{740CABC7-3E82-469A-9701-8152AF604ECD}"/>
              </a:ext>
            </a:extLst>
          </p:cNvPr>
          <p:cNvSpPr>
            <a:spLocks xmlns:a="http://schemas.openxmlformats.org/drawingml/2006/main" noGrp="1"/>
          </p:cNvSpPr>
          <p:nvPr/>
        </p:nvSpPr>
        <p:spPr>
          <a:xfrm xmlns:a="http://schemas.openxmlformats.org/drawingml/2006/main">
            <a:off x="914400" y="5074920"/>
            <a:ext cx="10332720" cy="841248"/>
          </a:xfrm>
          <a:prstGeom xmlns:a="http://schemas.openxmlformats.org/drawingml/2006/main" prst="roundRect">
            <a:avLst>
              <a:gd name="adj" fmla="val 6522"/>
            </a:avLst>
          </a:prstGeom>
          <a:solidFill xmlns:a="http://schemas.openxmlformats.org/drawingml/2006/main">
            <a:srgbClr val="FFFFFF"/>
          </a:solidFill>
          <a:ln xmlns:a="http://schemas.openxmlformats.org/drawingml/2006/main" w="12700">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37" name="Text 34">
            <a:extLst xmlns:a="http://schemas.openxmlformats.org/drawingml/2006/main">
              <a:ext uri="{FF2B5EF4-FFF2-40B4-BE49-F238E27FC236}">
                <a16:creationId xmlns:a16="http://schemas.microsoft.com/office/drawing/2014/main" id="{9C461527-FEE6-4732-B444-5B2B7EEAB2EC}"/>
              </a:ext>
            </a:extLst>
          </p:cNvPr>
          <p:cNvSpPr>
            <a:spLocks xmlns:a="http://schemas.openxmlformats.org/drawingml/2006/main" noGrp="1"/>
          </p:cNvSpPr>
          <p:nvPr/>
        </p:nvSpPr>
        <p:spPr>
          <a:xfrm xmlns:a="http://schemas.openxmlformats.org/drawingml/2006/main">
            <a:off x="1143000" y="5294376"/>
            <a:ext cx="22402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B4A8B"/>
                </a:solidFill>
              </a:rPr>
              <a:t>Checkpoint sau mỗi bước</a:t>
            </a:r>
          </a:p>
        </p:txBody>
      </p:sp>
      <p:sp>
        <p:nvSpPr>
          <p:cNvPr id="38" name="Text 35">
            <a:extLst xmlns:a="http://schemas.openxmlformats.org/drawingml/2006/main">
              <a:ext uri="{FF2B5EF4-FFF2-40B4-BE49-F238E27FC236}">
                <a16:creationId xmlns:a16="http://schemas.microsoft.com/office/drawing/2014/main" id="{DA1FD783-D7ED-4021-8DA9-56F3BC52F1A7}"/>
              </a:ext>
            </a:extLst>
          </p:cNvPr>
          <p:cNvSpPr>
            <a:spLocks xmlns:a="http://schemas.openxmlformats.org/drawingml/2006/main" noGrp="1"/>
          </p:cNvSpPr>
          <p:nvPr/>
        </p:nvSpPr>
        <p:spPr>
          <a:xfrm xmlns:a="http://schemas.openxmlformats.org/drawingml/2006/main">
            <a:off x="3246120" y="5294376"/>
            <a:ext cx="7635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a:solidFill>
                  <a:srgbClr val="1D2630"/>
                </a:solidFill>
              </a:rPr>
              <a:t>Kiểm tra số dòng, khóa, file đầu ra và điều kiện PASS trước khi chuyển sang bước tiếp theo.</a:t>
            </a:r>
          </a:p>
        </p:txBody>
      </p:sp>
      <p:sp>
        <p:nvSpPr>
          <p:cNvPr id="40" name="Text 37">
            <a:extLst xmlns:a="http://schemas.openxmlformats.org/drawingml/2006/main">
              <a:ext uri="{FF2B5EF4-FFF2-40B4-BE49-F238E27FC236}">
                <a16:creationId xmlns:a16="http://schemas.microsoft.com/office/drawing/2014/main" id="{EC9B95AF-E8E7-4FC7-9551-0F3E065B88C4}"/>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5</a:t>
            </a:r>
          </a:p>
        </p:txBody>
      </p:sp>
    </p:spTree>
    <p:extLst>
      <p:ext uri="{BB962C8B-B14F-4D97-AF65-F5344CB8AC3E}">
        <p14:creationId xmlns:p14="http://schemas.microsoft.com/office/powerpoint/2010/main" val="1634597063"/>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1821e94f10114ca7">
            <a:lum/>
          </a:blip>
          <a:srcRect l="0" t="0" r="0" b="0"/>
          <a:stretch>
            <a:fillRect l="0" t="-14000" r="0" b="0"/>
          </a:stretch>
        </a:blip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60E60D7E-2BC3-46A7-9F43-F703E1CB15A4}"/>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79FEA318-56E8-4E3F-9D09-1B326A4645FF}"/>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EDA</a:t>
            </a:r>
          </a:p>
        </p:txBody>
      </p:sp>
      <p:sp>
        <p:nvSpPr>
          <p:cNvPr id="5" name="Text 2">
            <a:extLst xmlns:a="http://schemas.openxmlformats.org/drawingml/2006/main">
              <a:ext uri="{FF2B5EF4-FFF2-40B4-BE49-F238E27FC236}">
                <a16:creationId xmlns:a16="http://schemas.microsoft.com/office/drawing/2014/main" id="{328FFE02-F93D-4857-9CFC-F9A0725B405A}"/>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Khám phá dữ liệu cho thấy điều gì về giao hàng trễ</a:t>
            </a:r>
          </a:p>
        </p:txBody>
      </p:sp>
      <p:sp>
        <p:nvSpPr>
          <p:cNvPr id="6" name="Shape 3">
            <a:extLst xmlns:a="http://schemas.openxmlformats.org/drawingml/2006/main">
              <a:ext uri="{FF2B5EF4-FFF2-40B4-BE49-F238E27FC236}">
                <a16:creationId xmlns:a16="http://schemas.microsoft.com/office/drawing/2014/main" id="{4B311124-5F1B-4326-B90D-4CC0510491AA}"/>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pic>
        <p:nvPicPr>
          <p:cNvPr id="19" name="Image 1"/>
          <p:cNvPicPr>
            <a:picLocks xmlns:a="http://schemas.openxmlformats.org/drawingml/2006/main" noChangeAspect="1"/>
          </p:cNvPicPr>
          <p:nvPr/>
        </p:nvPicPr>
        <p:blipFill>
          <a:blip xmlns:r="http://schemas.openxmlformats.org/officeDocument/2006/relationships" xmlns:a="http://schemas.openxmlformats.org/drawingml/2006/main" r:embed="R75a076fcb28143e7"/>
          <a:stretch xmlns:a="http://schemas.openxmlformats.org/drawingml/2006/main">
            <a:fillRect l="0" t="0" r="0" b="0"/>
          </a:stretch>
        </p:blipFill>
        <p:spPr>
          <a:xfrm xmlns:a="http://schemas.openxmlformats.org/drawingml/2006/main">
            <a:off x="713232" y="1867636"/>
            <a:ext cx="5440680" cy="3095295"/>
          </a:xfrm>
          <a:prstGeom xmlns:a="http://schemas.openxmlformats.org/drawingml/2006/main" prst="rect">
            <a:avLst/>
          </a:prstGeom>
        </p:spPr>
      </p:pic>
      <p:pic>
        <p:nvPicPr>
          <p:cNvPr id="20" name="Image 2"/>
          <p:cNvPicPr>
            <a:picLocks xmlns:a="http://schemas.openxmlformats.org/drawingml/2006/main" noChangeAspect="1"/>
          </p:cNvPicPr>
          <p:nvPr/>
        </p:nvPicPr>
        <p:blipFill>
          <a:blip xmlns:r="http://schemas.openxmlformats.org/officeDocument/2006/relationships" xmlns:a="http://schemas.openxmlformats.org/drawingml/2006/main" r:embed="R341703bf28b7436a"/>
          <a:stretch xmlns:a="http://schemas.openxmlformats.org/drawingml/2006/main">
            <a:fillRect l="0" t="0" r="0" b="0"/>
          </a:stretch>
        </p:blipFill>
        <p:spPr>
          <a:xfrm xmlns:a="http://schemas.openxmlformats.org/drawingml/2006/main">
            <a:off x="6053328" y="1867636"/>
            <a:ext cx="5440680" cy="3095295"/>
          </a:xfrm>
          <a:prstGeom xmlns:a="http://schemas.openxmlformats.org/drawingml/2006/main" prst="rect">
            <a:avLst/>
          </a:prstGeom>
        </p:spPr>
      </p:pic>
      <p:sp>
        <p:nvSpPr>
          <p:cNvPr id="9" name="Shape 4">
            <a:extLst xmlns:a="http://schemas.openxmlformats.org/drawingml/2006/main">
              <a:ext uri="{FF2B5EF4-FFF2-40B4-BE49-F238E27FC236}">
                <a16:creationId xmlns:a16="http://schemas.microsoft.com/office/drawing/2014/main" id="{B31A3100-B971-409A-81CE-2F37AB91F42E}"/>
              </a:ext>
            </a:extLst>
          </p:cNvPr>
          <p:cNvSpPr>
            <a:spLocks xmlns:a="http://schemas.openxmlformats.org/drawingml/2006/main" noGrp="1"/>
          </p:cNvSpPr>
          <p:nvPr/>
        </p:nvSpPr>
        <p:spPr>
          <a:xfrm xmlns:a="http://schemas.openxmlformats.org/drawingml/2006/main">
            <a:off x="1005840" y="5650992"/>
            <a:ext cx="10149840" cy="475488"/>
          </a:xfrm>
          <a:prstGeom xmlns:a="http://schemas.openxmlformats.org/drawingml/2006/main" prst="roundRect">
            <a:avLst>
              <a:gd name="adj" fmla="val 7692"/>
            </a:avLst>
          </a:prstGeom>
          <a:solidFill xmlns:a="http://schemas.openxmlformats.org/drawingml/2006/main">
            <a:srgbClr val="FFF4D6"/>
          </a:solidFill>
          <a:ln xmlns:a="http://schemas.openxmlformats.org/drawingml/2006/main" w="12700">
            <a:solidFill>
              <a:srgbClr val="E1C36B"/>
            </a:solidFill>
            <a:prstDash val="solid"/>
          </a:ln>
        </p:spPr>
        <p:txBody>
          <a:bodyPr xmlns:a="http://schemas.openxmlformats.org/drawingml/2006/main"/>
          <a:lstStyle xmlns:a="http://schemas.openxmlformats.org/drawingml/2006/main"/>
          <a:p xmlns:a="http://schemas.openxmlformats.org/drawingml/2006/main"/>
        </p:txBody>
      </p:sp>
      <p:sp>
        <p:nvSpPr>
          <p:cNvPr id="10" name="Text 5">
            <a:extLst xmlns:a="http://schemas.openxmlformats.org/drawingml/2006/main">
              <a:ext uri="{FF2B5EF4-FFF2-40B4-BE49-F238E27FC236}">
                <a16:creationId xmlns:a16="http://schemas.microsoft.com/office/drawing/2014/main" id="{73835C2C-5E13-4096-9294-FCA715A51466}"/>
              </a:ext>
            </a:extLst>
          </p:cNvPr>
          <p:cNvSpPr>
            <a:spLocks xmlns:a="http://schemas.openxmlformats.org/drawingml/2006/main" noGrp="1"/>
          </p:cNvSpPr>
          <p:nvPr/>
        </p:nvSpPr>
        <p:spPr>
          <a:xfrm xmlns:a="http://schemas.openxmlformats.org/drawingml/2006/main">
            <a:off x="1188720" y="5806440"/>
            <a:ext cx="97840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7F5B00"/>
                </a:solidFill>
              </a:rPr>
              <a:t>Kết luận đúng mức: đây là mối liên hệ trong dữ liệu lịch sử, chưa chứng minh quan hệ nguyên nhân – kết quả.</a:t>
            </a:r>
          </a:p>
        </p:txBody>
      </p:sp>
      <p:sp>
        <p:nvSpPr>
          <p:cNvPr id="12" name="Text 7">
            <a:extLst xmlns:a="http://schemas.openxmlformats.org/drawingml/2006/main">
              <a:ext uri="{FF2B5EF4-FFF2-40B4-BE49-F238E27FC236}">
                <a16:creationId xmlns:a16="http://schemas.microsoft.com/office/drawing/2014/main" id="{56F39793-C825-407F-9D4D-8D8AF6D1A4A9}"/>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6</a:t>
            </a:r>
          </a:p>
        </p:txBody>
      </p:sp>
    </p:spTree>
    <p:extLst>
      <p:ext uri="{BB962C8B-B14F-4D97-AF65-F5344CB8AC3E}">
        <p14:creationId xmlns:p14="http://schemas.microsoft.com/office/powerpoint/2010/main" val="19009972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D84F3FD5-CBE3-47B3-AE01-3D352EF85300}"/>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6E37EE2B-FE7E-4D58-9C50-658FF7B5C731}"/>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EDA → MODEL</a:t>
            </a:r>
          </a:p>
        </p:txBody>
      </p:sp>
      <p:sp>
        <p:nvSpPr>
          <p:cNvPr id="5" name="Text 2">
            <a:extLst xmlns:a="http://schemas.openxmlformats.org/drawingml/2006/main">
              <a:ext uri="{FF2B5EF4-FFF2-40B4-BE49-F238E27FC236}">
                <a16:creationId xmlns:a16="http://schemas.microsoft.com/office/drawing/2014/main" id="{3B3A77D4-3B0A-4B9A-B15F-A847C76E54DA}"/>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Liên kết kết quả EDA với cách thiết kế model</a:t>
            </a:r>
          </a:p>
        </p:txBody>
      </p:sp>
      <p:sp>
        <p:nvSpPr>
          <p:cNvPr id="6" name="Shape 3">
            <a:extLst xmlns:a="http://schemas.openxmlformats.org/drawingml/2006/main">
              <a:ext uri="{FF2B5EF4-FFF2-40B4-BE49-F238E27FC236}">
                <a16:creationId xmlns:a16="http://schemas.microsoft.com/office/drawing/2014/main" id="{D7B5DF16-DBD5-47BC-8528-412968ED7EE5}"/>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749CEC13-C6C7-49FB-B385-07FAB61E54CF}"/>
              </a:ext>
            </a:extLst>
          </p:cNvPr>
          <p:cNvSpPr>
            <a:spLocks xmlns:a="http://schemas.openxmlformats.org/drawingml/2006/main" noGrp="1"/>
          </p:cNvSpPr>
          <p:nvPr/>
        </p:nvSpPr>
        <p:spPr>
          <a:xfrm xmlns:a="http://schemas.openxmlformats.org/drawingml/2006/main">
            <a:off x="713232" y="1481328"/>
            <a:ext cx="3063240" cy="1051560"/>
          </a:xfrm>
          <a:prstGeom xmlns:a="http://schemas.openxmlformats.org/drawingml/2006/main" prst="roundRect">
            <a:avLst>
              <a:gd name="adj" fmla="val 6957"/>
            </a:avLst>
          </a:prstGeom>
          <a:solidFill xmlns:a="http://schemas.openxmlformats.org/drawingml/2006/main">
            <a:srgbClr val="DCEAF7"/>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3D303CCE-5BC6-4389-A4C3-0CF3AB2142E6}"/>
              </a:ext>
            </a:extLst>
          </p:cNvPr>
          <p:cNvSpPr>
            <a:spLocks xmlns:a="http://schemas.openxmlformats.org/drawingml/2006/main" noGrp="1"/>
          </p:cNvSpPr>
          <p:nvPr/>
        </p:nvSpPr>
        <p:spPr>
          <a:xfrm xmlns:a="http://schemas.openxmlformats.org/drawingml/2006/main">
            <a:off x="877824" y="1627632"/>
            <a:ext cx="273405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Phát hiện từ EDA</a:t>
            </a:r>
          </a:p>
        </p:txBody>
      </p:sp>
      <p:sp>
        <p:nvSpPr>
          <p:cNvPr id="9" name="Text 6">
            <a:extLst xmlns:a="http://schemas.openxmlformats.org/drawingml/2006/main">
              <a:ext uri="{FF2B5EF4-FFF2-40B4-BE49-F238E27FC236}">
                <a16:creationId xmlns:a16="http://schemas.microsoft.com/office/drawing/2014/main" id="{38990C76-6ABB-42C0-BA53-8D800F7490DF}"/>
              </a:ext>
            </a:extLst>
          </p:cNvPr>
          <p:cNvSpPr>
            <a:spLocks xmlns:a="http://schemas.openxmlformats.org/drawingml/2006/main" noGrp="1"/>
          </p:cNvSpPr>
          <p:nvPr/>
        </p:nvSpPr>
        <p:spPr>
          <a:xfrm xmlns:a="http://schemas.openxmlformats.org/drawingml/2006/main">
            <a:off x="877824" y="1993392"/>
            <a:ext cx="273405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600">
                <a:solidFill>
                  <a:srgbClr val="1D2630"/>
                </a:solidFill>
              </a:rPr>
              <a:t>Đơn khác bang có tỷ lệ trễ cao hơn</a:t>
            </a:r>
          </a:p>
        </p:txBody>
      </p:sp>
      <p:sp>
        <p:nvSpPr>
          <p:cNvPr id="10" name="Shape 7">
            <a:extLst xmlns:a="http://schemas.openxmlformats.org/drawingml/2006/main">
              <a:ext uri="{FF2B5EF4-FFF2-40B4-BE49-F238E27FC236}">
                <a16:creationId xmlns:a16="http://schemas.microsoft.com/office/drawing/2014/main" id="{07C07C0E-C120-48D0-B5FC-A12C45644854}"/>
              </a:ext>
            </a:extLst>
          </p:cNvPr>
          <p:cNvSpPr>
            <a:spLocks xmlns:a="http://schemas.openxmlformats.org/drawingml/2006/main" noGrp="1"/>
          </p:cNvSpPr>
          <p:nvPr/>
        </p:nvSpPr>
        <p:spPr>
          <a:xfrm xmlns:a="http://schemas.openxmlformats.org/drawingml/2006/main">
            <a:off x="3858768" y="1993392"/>
            <a:ext cx="512064"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1" name="Shape 8">
            <a:extLst xmlns:a="http://schemas.openxmlformats.org/drawingml/2006/main">
              <a:ext uri="{FF2B5EF4-FFF2-40B4-BE49-F238E27FC236}">
                <a16:creationId xmlns:a16="http://schemas.microsoft.com/office/drawing/2014/main" id="{C0D9AE79-FBD7-46D7-9462-9EB0456B99F8}"/>
              </a:ext>
            </a:extLst>
          </p:cNvPr>
          <p:cNvSpPr>
            <a:spLocks xmlns:a="http://schemas.openxmlformats.org/drawingml/2006/main" noGrp="1"/>
          </p:cNvSpPr>
          <p:nvPr/>
        </p:nvSpPr>
        <p:spPr>
          <a:xfrm xmlns:a="http://schemas.openxmlformats.org/drawingml/2006/main">
            <a:off x="4443984" y="1481328"/>
            <a:ext cx="3383280" cy="1051560"/>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B0BCC397-4415-4320-96E5-FBFE8DA1034E}"/>
              </a:ext>
            </a:extLst>
          </p:cNvPr>
          <p:cNvSpPr>
            <a:spLocks xmlns:a="http://schemas.openxmlformats.org/drawingml/2006/main" noGrp="1"/>
          </p:cNvSpPr>
          <p:nvPr/>
        </p:nvSpPr>
        <p:spPr>
          <a:xfrm xmlns:a="http://schemas.openxmlformats.org/drawingml/2006/main">
            <a:off x="4608576" y="1627632"/>
            <a:ext cx="3054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feature được dùng</a:t>
            </a:r>
          </a:p>
        </p:txBody>
      </p:sp>
      <p:sp>
        <p:nvSpPr>
          <p:cNvPr id="13" name="Text 10">
            <a:extLst xmlns:a="http://schemas.openxmlformats.org/drawingml/2006/main">
              <a:ext uri="{FF2B5EF4-FFF2-40B4-BE49-F238E27FC236}">
                <a16:creationId xmlns:a16="http://schemas.microsoft.com/office/drawing/2014/main" id="{8C2C11FE-54CD-4C78-B9A1-B4E84CC904AA}"/>
              </a:ext>
            </a:extLst>
          </p:cNvPr>
          <p:cNvSpPr>
            <a:spLocks xmlns:a="http://schemas.openxmlformats.org/drawingml/2006/main" noGrp="1"/>
          </p:cNvSpPr>
          <p:nvPr/>
        </p:nvSpPr>
        <p:spPr>
          <a:xfrm xmlns:a="http://schemas.openxmlformats.org/drawingml/2006/main">
            <a:off x="4608576" y="1993392"/>
            <a:ext cx="305409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400">
                <a:solidFill>
                  <a:srgbClr val="1D2630"/>
                </a:solidFill>
              </a:rPr>
              <a:t>customer_state, main_seller_state, customer_seller_same_state</a:t>
            </a:r>
          </a:p>
        </p:txBody>
      </p:sp>
      <p:sp>
        <p:nvSpPr>
          <p:cNvPr id="14" name="Shape 11">
            <a:extLst xmlns:a="http://schemas.openxmlformats.org/drawingml/2006/main">
              <a:ext uri="{FF2B5EF4-FFF2-40B4-BE49-F238E27FC236}">
                <a16:creationId xmlns:a16="http://schemas.microsoft.com/office/drawing/2014/main" id="{DEFB2727-2776-4AA8-8C7D-0011F386B30C}"/>
              </a:ext>
            </a:extLst>
          </p:cNvPr>
          <p:cNvSpPr>
            <a:spLocks xmlns:a="http://schemas.openxmlformats.org/drawingml/2006/main" noGrp="1"/>
          </p:cNvSpPr>
          <p:nvPr/>
        </p:nvSpPr>
        <p:spPr>
          <a:xfrm xmlns:a="http://schemas.openxmlformats.org/drawingml/2006/main">
            <a:off x="7909560" y="1993392"/>
            <a:ext cx="466344"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5" name="Shape 12">
            <a:extLst xmlns:a="http://schemas.openxmlformats.org/drawingml/2006/main">
              <a:ext uri="{FF2B5EF4-FFF2-40B4-BE49-F238E27FC236}">
                <a16:creationId xmlns:a16="http://schemas.microsoft.com/office/drawing/2014/main" id="{BDB452F9-98CF-4535-8357-FD0FD6B3951B}"/>
              </a:ext>
            </a:extLst>
          </p:cNvPr>
          <p:cNvSpPr>
            <a:spLocks xmlns:a="http://schemas.openxmlformats.org/drawingml/2006/main" noGrp="1"/>
          </p:cNvSpPr>
          <p:nvPr/>
        </p:nvSpPr>
        <p:spPr>
          <a:xfrm xmlns:a="http://schemas.openxmlformats.org/drawingml/2006/main">
            <a:off x="8458200" y="1481328"/>
            <a:ext cx="3017520" cy="1051560"/>
          </a:xfrm>
          <a:prstGeom xmlns:a="http://schemas.openxmlformats.org/drawingml/2006/main" prst="roundRect">
            <a:avLst>
              <a:gd name="adj" fmla="val 6957"/>
            </a:avLst>
          </a:prstGeom>
          <a:solidFill xmlns:a="http://schemas.openxmlformats.org/drawingml/2006/main">
            <a:srgbClr val="F7F9FC"/>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04418076-BC71-4970-9325-CFF331F0DDD0}"/>
              </a:ext>
            </a:extLst>
          </p:cNvPr>
          <p:cNvSpPr>
            <a:spLocks xmlns:a="http://schemas.openxmlformats.org/drawingml/2006/main" noGrp="1"/>
          </p:cNvSpPr>
          <p:nvPr/>
        </p:nvSpPr>
        <p:spPr>
          <a:xfrm xmlns:a="http://schemas.openxmlformats.org/drawingml/2006/main">
            <a:off x="8622792" y="1627632"/>
            <a:ext cx="2688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Ý nghĩa trong model</a:t>
            </a:r>
          </a:p>
        </p:txBody>
      </p:sp>
      <p:sp>
        <p:nvSpPr>
          <p:cNvPr id="17" name="Text 14">
            <a:extLst xmlns:a="http://schemas.openxmlformats.org/drawingml/2006/main">
              <a:ext uri="{FF2B5EF4-FFF2-40B4-BE49-F238E27FC236}">
                <a16:creationId xmlns:a16="http://schemas.microsoft.com/office/drawing/2014/main" id="{73FB78A2-C87A-4F97-AD5B-1DF1705C7093}"/>
              </a:ext>
            </a:extLst>
          </p:cNvPr>
          <p:cNvSpPr>
            <a:spLocks xmlns:a="http://schemas.openxmlformats.org/drawingml/2006/main" noGrp="1"/>
          </p:cNvSpPr>
          <p:nvPr/>
        </p:nvSpPr>
        <p:spPr>
          <a:xfrm xmlns:a="http://schemas.openxmlformats.org/drawingml/2006/main">
            <a:off x="8622792" y="1993392"/>
            <a:ext cx="268833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600">
                <a:solidFill>
                  <a:srgbClr val="1D2630"/>
                </a:solidFill>
              </a:rPr>
              <a:t>Giúp model nhận biết khác biệt địa lý và phạm vi vận chuyển.</a:t>
            </a:r>
          </a:p>
        </p:txBody>
      </p:sp>
      <p:sp>
        <p:nvSpPr>
          <p:cNvPr id="18" name="Shape 15">
            <a:extLst xmlns:a="http://schemas.openxmlformats.org/drawingml/2006/main">
              <a:ext uri="{FF2B5EF4-FFF2-40B4-BE49-F238E27FC236}">
                <a16:creationId xmlns:a16="http://schemas.microsoft.com/office/drawing/2014/main" id="{BC318DC1-0A25-428C-902E-33559BA013F8}"/>
              </a:ext>
            </a:extLst>
          </p:cNvPr>
          <p:cNvSpPr>
            <a:spLocks xmlns:a="http://schemas.openxmlformats.org/drawingml/2006/main" noGrp="1"/>
          </p:cNvSpPr>
          <p:nvPr/>
        </p:nvSpPr>
        <p:spPr>
          <a:xfrm xmlns:a="http://schemas.openxmlformats.org/drawingml/2006/main">
            <a:off x="713232" y="2898648"/>
            <a:ext cx="3063240" cy="1051560"/>
          </a:xfrm>
          <a:prstGeom xmlns:a="http://schemas.openxmlformats.org/drawingml/2006/main" prst="roundRect">
            <a:avLst>
              <a:gd name="adj" fmla="val 6957"/>
            </a:avLst>
          </a:prstGeom>
          <a:solidFill xmlns:a="http://schemas.openxmlformats.org/drawingml/2006/main">
            <a:srgbClr val="FFF4D6"/>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CCEFF61C-3791-4C5C-800C-F6F74F969909}"/>
              </a:ext>
            </a:extLst>
          </p:cNvPr>
          <p:cNvSpPr>
            <a:spLocks xmlns:a="http://schemas.openxmlformats.org/drawingml/2006/main" noGrp="1"/>
          </p:cNvSpPr>
          <p:nvPr/>
        </p:nvSpPr>
        <p:spPr>
          <a:xfrm xmlns:a="http://schemas.openxmlformats.org/drawingml/2006/main">
            <a:off x="877824" y="3044952"/>
            <a:ext cx="273405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Phát hiện từ EDA</a:t>
            </a:r>
          </a:p>
        </p:txBody>
      </p:sp>
      <p:sp>
        <p:nvSpPr>
          <p:cNvPr id="20" name="Text 17">
            <a:extLst xmlns:a="http://schemas.openxmlformats.org/drawingml/2006/main">
              <a:ext uri="{FF2B5EF4-FFF2-40B4-BE49-F238E27FC236}">
                <a16:creationId xmlns:a16="http://schemas.microsoft.com/office/drawing/2014/main" id="{34DDE309-66FB-46F4-A679-3C0A4319266F}"/>
              </a:ext>
            </a:extLst>
          </p:cNvPr>
          <p:cNvSpPr>
            <a:spLocks xmlns:a="http://schemas.openxmlformats.org/drawingml/2006/main" noGrp="1"/>
          </p:cNvSpPr>
          <p:nvPr/>
        </p:nvSpPr>
        <p:spPr>
          <a:xfrm xmlns:a="http://schemas.openxmlformats.org/drawingml/2006/main">
            <a:off x="877824" y="3410712"/>
            <a:ext cx="273405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600">
                <a:solidFill>
                  <a:srgbClr val="1D2630"/>
                </a:solidFill>
              </a:rPr>
              <a:t>Tỷ lệ giao trễ biến động theo tháng</a:t>
            </a:r>
          </a:p>
        </p:txBody>
      </p:sp>
      <p:sp>
        <p:nvSpPr>
          <p:cNvPr id="21" name="Shape 18">
            <a:extLst xmlns:a="http://schemas.openxmlformats.org/drawingml/2006/main">
              <a:ext uri="{FF2B5EF4-FFF2-40B4-BE49-F238E27FC236}">
                <a16:creationId xmlns:a16="http://schemas.microsoft.com/office/drawing/2014/main" id="{DD93FA73-9448-45D0-A932-61EEF2511072}"/>
              </a:ext>
            </a:extLst>
          </p:cNvPr>
          <p:cNvSpPr>
            <a:spLocks xmlns:a="http://schemas.openxmlformats.org/drawingml/2006/main" noGrp="1"/>
          </p:cNvSpPr>
          <p:nvPr/>
        </p:nvSpPr>
        <p:spPr>
          <a:xfrm xmlns:a="http://schemas.openxmlformats.org/drawingml/2006/main">
            <a:off x="3858768" y="3410712"/>
            <a:ext cx="512064"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22" name="Shape 19">
            <a:extLst xmlns:a="http://schemas.openxmlformats.org/drawingml/2006/main">
              <a:ext uri="{FF2B5EF4-FFF2-40B4-BE49-F238E27FC236}">
                <a16:creationId xmlns:a16="http://schemas.microsoft.com/office/drawing/2014/main" id="{5FECD0BA-13BB-4A42-A2BB-ADB7AE57807B}"/>
              </a:ext>
            </a:extLst>
          </p:cNvPr>
          <p:cNvSpPr>
            <a:spLocks xmlns:a="http://schemas.openxmlformats.org/drawingml/2006/main" noGrp="1"/>
          </p:cNvSpPr>
          <p:nvPr/>
        </p:nvSpPr>
        <p:spPr>
          <a:xfrm xmlns:a="http://schemas.openxmlformats.org/drawingml/2006/main">
            <a:off x="4443984" y="2898648"/>
            <a:ext cx="3383280" cy="1051560"/>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3" name="Text 20">
            <a:extLst xmlns:a="http://schemas.openxmlformats.org/drawingml/2006/main">
              <a:ext uri="{FF2B5EF4-FFF2-40B4-BE49-F238E27FC236}">
                <a16:creationId xmlns:a16="http://schemas.microsoft.com/office/drawing/2014/main" id="{A655D615-6425-483A-B2AC-C985B6AC01B6}"/>
              </a:ext>
            </a:extLst>
          </p:cNvPr>
          <p:cNvSpPr>
            <a:spLocks xmlns:a="http://schemas.openxmlformats.org/drawingml/2006/main" noGrp="1"/>
          </p:cNvSpPr>
          <p:nvPr/>
        </p:nvSpPr>
        <p:spPr>
          <a:xfrm xmlns:a="http://schemas.openxmlformats.org/drawingml/2006/main">
            <a:off x="4608576" y="3044952"/>
            <a:ext cx="3054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feature được dùng</a:t>
            </a:r>
          </a:p>
        </p:txBody>
      </p:sp>
      <p:sp>
        <p:nvSpPr>
          <p:cNvPr id="24" name="Text 21">
            <a:extLst xmlns:a="http://schemas.openxmlformats.org/drawingml/2006/main">
              <a:ext uri="{FF2B5EF4-FFF2-40B4-BE49-F238E27FC236}">
                <a16:creationId xmlns:a16="http://schemas.microsoft.com/office/drawing/2014/main" id="{C40CC50E-8EE6-4020-AB8B-AA9D135D1FD0}"/>
              </a:ext>
            </a:extLst>
          </p:cNvPr>
          <p:cNvSpPr>
            <a:spLocks xmlns:a="http://schemas.openxmlformats.org/drawingml/2006/main" noGrp="1"/>
          </p:cNvSpPr>
          <p:nvPr/>
        </p:nvSpPr>
        <p:spPr>
          <a:xfrm xmlns:a="http://schemas.openxmlformats.org/drawingml/2006/main">
            <a:off x="4608576" y="3410712"/>
            <a:ext cx="305409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400">
                <a:solidFill>
                  <a:srgbClr val="1D2630"/>
                </a:solidFill>
              </a:rPr>
              <a:t>purchase_year, purchase_month, purchase_day_of_week, purchase_hour</a:t>
            </a:r>
          </a:p>
        </p:txBody>
      </p:sp>
      <p:sp>
        <p:nvSpPr>
          <p:cNvPr id="25" name="Shape 22">
            <a:extLst xmlns:a="http://schemas.openxmlformats.org/drawingml/2006/main">
              <a:ext uri="{FF2B5EF4-FFF2-40B4-BE49-F238E27FC236}">
                <a16:creationId xmlns:a16="http://schemas.microsoft.com/office/drawing/2014/main" id="{93949083-60DE-4091-89C5-18959AA9D642}"/>
              </a:ext>
            </a:extLst>
          </p:cNvPr>
          <p:cNvSpPr>
            <a:spLocks xmlns:a="http://schemas.openxmlformats.org/drawingml/2006/main" noGrp="1"/>
          </p:cNvSpPr>
          <p:nvPr/>
        </p:nvSpPr>
        <p:spPr>
          <a:xfrm xmlns:a="http://schemas.openxmlformats.org/drawingml/2006/main">
            <a:off x="7909560" y="3410712"/>
            <a:ext cx="466344"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26" name="Shape 23">
            <a:extLst xmlns:a="http://schemas.openxmlformats.org/drawingml/2006/main">
              <a:ext uri="{FF2B5EF4-FFF2-40B4-BE49-F238E27FC236}">
                <a16:creationId xmlns:a16="http://schemas.microsoft.com/office/drawing/2014/main" id="{5C61992A-F6AC-4AAC-B0CB-D815AF1F694F}"/>
              </a:ext>
            </a:extLst>
          </p:cNvPr>
          <p:cNvSpPr>
            <a:spLocks xmlns:a="http://schemas.openxmlformats.org/drawingml/2006/main" noGrp="1"/>
          </p:cNvSpPr>
          <p:nvPr/>
        </p:nvSpPr>
        <p:spPr>
          <a:xfrm xmlns:a="http://schemas.openxmlformats.org/drawingml/2006/main">
            <a:off x="8458200" y="2898648"/>
            <a:ext cx="3017520" cy="1051560"/>
          </a:xfrm>
          <a:prstGeom xmlns:a="http://schemas.openxmlformats.org/drawingml/2006/main" prst="roundRect">
            <a:avLst>
              <a:gd name="adj" fmla="val 6957"/>
            </a:avLst>
          </a:prstGeom>
          <a:solidFill xmlns:a="http://schemas.openxmlformats.org/drawingml/2006/main">
            <a:srgbClr val="F7F9FC"/>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7" name="Text 24">
            <a:extLst xmlns:a="http://schemas.openxmlformats.org/drawingml/2006/main">
              <a:ext uri="{FF2B5EF4-FFF2-40B4-BE49-F238E27FC236}">
                <a16:creationId xmlns:a16="http://schemas.microsoft.com/office/drawing/2014/main" id="{9BB4B4D0-52B5-40C5-8510-B47433388A68}"/>
              </a:ext>
            </a:extLst>
          </p:cNvPr>
          <p:cNvSpPr>
            <a:spLocks xmlns:a="http://schemas.openxmlformats.org/drawingml/2006/main" noGrp="1"/>
          </p:cNvSpPr>
          <p:nvPr/>
        </p:nvSpPr>
        <p:spPr>
          <a:xfrm xmlns:a="http://schemas.openxmlformats.org/drawingml/2006/main">
            <a:off x="8622792" y="3044952"/>
            <a:ext cx="2688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Ý nghĩa trong model</a:t>
            </a:r>
          </a:p>
        </p:txBody>
      </p:sp>
      <p:sp>
        <p:nvSpPr>
          <p:cNvPr id="28" name="Text 25">
            <a:extLst xmlns:a="http://schemas.openxmlformats.org/drawingml/2006/main">
              <a:ext uri="{FF2B5EF4-FFF2-40B4-BE49-F238E27FC236}">
                <a16:creationId xmlns:a16="http://schemas.microsoft.com/office/drawing/2014/main" id="{790621DD-66B8-46C6-AE3F-788A5C8ED500}"/>
              </a:ext>
            </a:extLst>
          </p:cNvPr>
          <p:cNvSpPr>
            <a:spLocks xmlns:a="http://schemas.openxmlformats.org/drawingml/2006/main" noGrp="1"/>
          </p:cNvSpPr>
          <p:nvPr/>
        </p:nvSpPr>
        <p:spPr>
          <a:xfrm xmlns:a="http://schemas.openxmlformats.org/drawingml/2006/main">
            <a:off x="8622792" y="3410712"/>
            <a:ext cx="268833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600">
                <a:solidFill>
                  <a:srgbClr val="1D2630"/>
                </a:solidFill>
              </a:rPr>
              <a:t>Giúp model nhận biết yếu tố thời điểm và mùa vụ.</a:t>
            </a:r>
          </a:p>
        </p:txBody>
      </p:sp>
      <p:sp>
        <p:nvSpPr>
          <p:cNvPr id="29" name="Shape 26">
            <a:extLst xmlns:a="http://schemas.openxmlformats.org/drawingml/2006/main">
              <a:ext uri="{FF2B5EF4-FFF2-40B4-BE49-F238E27FC236}">
                <a16:creationId xmlns:a16="http://schemas.microsoft.com/office/drawing/2014/main" id="{756A071A-6827-4284-8052-7BA21ECA5D4C}"/>
              </a:ext>
            </a:extLst>
          </p:cNvPr>
          <p:cNvSpPr>
            <a:spLocks xmlns:a="http://schemas.openxmlformats.org/drawingml/2006/main" noGrp="1"/>
          </p:cNvSpPr>
          <p:nvPr/>
        </p:nvSpPr>
        <p:spPr>
          <a:xfrm xmlns:a="http://schemas.openxmlformats.org/drawingml/2006/main">
            <a:off x="713232" y="4315968"/>
            <a:ext cx="3063240" cy="1051560"/>
          </a:xfrm>
          <a:prstGeom xmlns:a="http://schemas.openxmlformats.org/drawingml/2006/main" prst="roundRect">
            <a:avLst>
              <a:gd name="adj" fmla="val 6957"/>
            </a:avLst>
          </a:prstGeom>
          <a:solidFill xmlns:a="http://schemas.openxmlformats.org/drawingml/2006/main">
            <a:srgbClr val="E4F4F0"/>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0" name="Text 27">
            <a:extLst xmlns:a="http://schemas.openxmlformats.org/drawingml/2006/main">
              <a:ext uri="{FF2B5EF4-FFF2-40B4-BE49-F238E27FC236}">
                <a16:creationId xmlns:a16="http://schemas.microsoft.com/office/drawing/2014/main" id="{8EB53771-D8C9-499E-8B59-4C83CD89C8E3}"/>
              </a:ext>
            </a:extLst>
          </p:cNvPr>
          <p:cNvSpPr>
            <a:spLocks xmlns:a="http://schemas.openxmlformats.org/drawingml/2006/main" noGrp="1"/>
          </p:cNvSpPr>
          <p:nvPr/>
        </p:nvSpPr>
        <p:spPr>
          <a:xfrm xmlns:a="http://schemas.openxmlformats.org/drawingml/2006/main">
            <a:off x="877824" y="4462272"/>
            <a:ext cx="273405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Phát hiện từ EDA</a:t>
            </a:r>
          </a:p>
        </p:txBody>
      </p:sp>
      <p:sp>
        <p:nvSpPr>
          <p:cNvPr id="31" name="Text 28">
            <a:extLst xmlns:a="http://schemas.openxmlformats.org/drawingml/2006/main">
              <a:ext uri="{FF2B5EF4-FFF2-40B4-BE49-F238E27FC236}">
                <a16:creationId xmlns:a16="http://schemas.microsoft.com/office/drawing/2014/main" id="{B023C6A1-5B1D-4D61-9DEF-C37B70111B83}"/>
              </a:ext>
            </a:extLst>
          </p:cNvPr>
          <p:cNvSpPr>
            <a:spLocks xmlns:a="http://schemas.openxmlformats.org/drawingml/2006/main" noGrp="1"/>
          </p:cNvSpPr>
          <p:nvPr/>
        </p:nvSpPr>
        <p:spPr>
          <a:xfrm xmlns:a="http://schemas.openxmlformats.org/drawingml/2006/main">
            <a:off x="877824" y="4828032"/>
            <a:ext cx="273405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600">
                <a:solidFill>
                  <a:srgbClr val="1D2630"/>
                </a:solidFill>
              </a:rPr>
              <a:t>Chi phí và cấu trúc đơn có thể tạo tín hiệu</a:t>
            </a:r>
          </a:p>
        </p:txBody>
      </p:sp>
      <p:sp>
        <p:nvSpPr>
          <p:cNvPr id="32" name="Shape 29">
            <a:extLst xmlns:a="http://schemas.openxmlformats.org/drawingml/2006/main">
              <a:ext uri="{FF2B5EF4-FFF2-40B4-BE49-F238E27FC236}">
                <a16:creationId xmlns:a16="http://schemas.microsoft.com/office/drawing/2014/main" id="{B294916D-9D6E-423A-BECB-D20A4DD338F6}"/>
              </a:ext>
            </a:extLst>
          </p:cNvPr>
          <p:cNvSpPr>
            <a:spLocks xmlns:a="http://schemas.openxmlformats.org/drawingml/2006/main" noGrp="1"/>
          </p:cNvSpPr>
          <p:nvPr/>
        </p:nvSpPr>
        <p:spPr>
          <a:xfrm xmlns:a="http://schemas.openxmlformats.org/drawingml/2006/main">
            <a:off x="3858768" y="4828032"/>
            <a:ext cx="512064"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3" name="Shape 30">
            <a:extLst xmlns:a="http://schemas.openxmlformats.org/drawingml/2006/main">
              <a:ext uri="{FF2B5EF4-FFF2-40B4-BE49-F238E27FC236}">
                <a16:creationId xmlns:a16="http://schemas.microsoft.com/office/drawing/2014/main" id="{6A8AF157-22C9-4131-B114-F78BF874329B}"/>
              </a:ext>
            </a:extLst>
          </p:cNvPr>
          <p:cNvSpPr>
            <a:spLocks xmlns:a="http://schemas.openxmlformats.org/drawingml/2006/main" noGrp="1"/>
          </p:cNvSpPr>
          <p:nvPr/>
        </p:nvSpPr>
        <p:spPr>
          <a:xfrm xmlns:a="http://schemas.openxmlformats.org/drawingml/2006/main">
            <a:off x="4443984" y="4315968"/>
            <a:ext cx="3383280" cy="1051560"/>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4" name="Text 31">
            <a:extLst xmlns:a="http://schemas.openxmlformats.org/drawingml/2006/main">
              <a:ext uri="{FF2B5EF4-FFF2-40B4-BE49-F238E27FC236}">
                <a16:creationId xmlns:a16="http://schemas.microsoft.com/office/drawing/2014/main" id="{229BFA61-B577-4EE9-A494-481C8A933DB2}"/>
              </a:ext>
            </a:extLst>
          </p:cNvPr>
          <p:cNvSpPr>
            <a:spLocks xmlns:a="http://schemas.openxmlformats.org/drawingml/2006/main" noGrp="1"/>
          </p:cNvSpPr>
          <p:nvPr/>
        </p:nvSpPr>
        <p:spPr>
          <a:xfrm xmlns:a="http://schemas.openxmlformats.org/drawingml/2006/main">
            <a:off x="4608576" y="4462272"/>
            <a:ext cx="305409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feature được dùng</a:t>
            </a:r>
          </a:p>
        </p:txBody>
      </p:sp>
      <p:sp>
        <p:nvSpPr>
          <p:cNvPr id="35" name="Text 32">
            <a:extLst xmlns:a="http://schemas.openxmlformats.org/drawingml/2006/main">
              <a:ext uri="{FF2B5EF4-FFF2-40B4-BE49-F238E27FC236}">
                <a16:creationId xmlns:a16="http://schemas.microsoft.com/office/drawing/2014/main" id="{0B8A7B63-085C-4C3A-B1CD-6A1775E8F020}"/>
              </a:ext>
            </a:extLst>
          </p:cNvPr>
          <p:cNvSpPr>
            <a:spLocks xmlns:a="http://schemas.openxmlformats.org/drawingml/2006/main" noGrp="1"/>
          </p:cNvSpPr>
          <p:nvPr/>
        </p:nvSpPr>
        <p:spPr>
          <a:xfrm xmlns:a="http://schemas.openxmlformats.org/drawingml/2006/main">
            <a:off x="4608576" y="4828032"/>
            <a:ext cx="305409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400">
                <a:solidFill>
                  <a:srgbClr val="1D2630"/>
                </a:solidFill>
              </a:rPr>
              <a:t>item_count, total_price, total_freight, freight_ratio, weight, volume</a:t>
            </a:r>
          </a:p>
        </p:txBody>
      </p:sp>
      <p:sp>
        <p:nvSpPr>
          <p:cNvPr id="36" name="Shape 33">
            <a:extLst xmlns:a="http://schemas.openxmlformats.org/drawingml/2006/main">
              <a:ext uri="{FF2B5EF4-FFF2-40B4-BE49-F238E27FC236}">
                <a16:creationId xmlns:a16="http://schemas.microsoft.com/office/drawing/2014/main" id="{4D2D4829-28C6-4439-9CF1-89800887B401}"/>
              </a:ext>
            </a:extLst>
          </p:cNvPr>
          <p:cNvSpPr>
            <a:spLocks xmlns:a="http://schemas.openxmlformats.org/drawingml/2006/main" noGrp="1"/>
          </p:cNvSpPr>
          <p:nvPr/>
        </p:nvSpPr>
        <p:spPr>
          <a:xfrm xmlns:a="http://schemas.openxmlformats.org/drawingml/2006/main">
            <a:off x="7909560" y="4828032"/>
            <a:ext cx="466344"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37" name="Shape 34">
            <a:extLst xmlns:a="http://schemas.openxmlformats.org/drawingml/2006/main">
              <a:ext uri="{FF2B5EF4-FFF2-40B4-BE49-F238E27FC236}">
                <a16:creationId xmlns:a16="http://schemas.microsoft.com/office/drawing/2014/main" id="{AFC55931-B8A5-4EE5-AF26-A98AF37087DC}"/>
              </a:ext>
            </a:extLst>
          </p:cNvPr>
          <p:cNvSpPr>
            <a:spLocks xmlns:a="http://schemas.openxmlformats.org/drawingml/2006/main" noGrp="1"/>
          </p:cNvSpPr>
          <p:nvPr/>
        </p:nvSpPr>
        <p:spPr>
          <a:xfrm xmlns:a="http://schemas.openxmlformats.org/drawingml/2006/main">
            <a:off x="8458200" y="4315968"/>
            <a:ext cx="3017520" cy="1051560"/>
          </a:xfrm>
          <a:prstGeom xmlns:a="http://schemas.openxmlformats.org/drawingml/2006/main" prst="roundRect">
            <a:avLst>
              <a:gd name="adj" fmla="val 6957"/>
            </a:avLst>
          </a:prstGeom>
          <a:solidFill xmlns:a="http://schemas.openxmlformats.org/drawingml/2006/main">
            <a:srgbClr val="F7F9FC"/>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8" name="Text 35">
            <a:extLst xmlns:a="http://schemas.openxmlformats.org/drawingml/2006/main">
              <a:ext uri="{FF2B5EF4-FFF2-40B4-BE49-F238E27FC236}">
                <a16:creationId xmlns:a16="http://schemas.microsoft.com/office/drawing/2014/main" id="{954BDF5B-C13F-47F3-BBCC-989A21D33DD7}"/>
              </a:ext>
            </a:extLst>
          </p:cNvPr>
          <p:cNvSpPr>
            <a:spLocks xmlns:a="http://schemas.openxmlformats.org/drawingml/2006/main" noGrp="1"/>
          </p:cNvSpPr>
          <p:nvPr/>
        </p:nvSpPr>
        <p:spPr>
          <a:xfrm xmlns:a="http://schemas.openxmlformats.org/drawingml/2006/main">
            <a:off x="8622792" y="4462272"/>
            <a:ext cx="2688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B4A8B"/>
                </a:solidFill>
              </a:rPr>
              <a:t>Ý nghĩa trong model</a:t>
            </a:r>
          </a:p>
        </p:txBody>
      </p:sp>
      <p:sp>
        <p:nvSpPr>
          <p:cNvPr id="39" name="Text 36">
            <a:extLst xmlns:a="http://schemas.openxmlformats.org/drawingml/2006/main">
              <a:ext uri="{FF2B5EF4-FFF2-40B4-BE49-F238E27FC236}">
                <a16:creationId xmlns:a16="http://schemas.microsoft.com/office/drawing/2014/main" id="{9B703FC7-81A0-4900-ABCF-3BC82CD01595}"/>
              </a:ext>
            </a:extLst>
          </p:cNvPr>
          <p:cNvSpPr>
            <a:spLocks xmlns:a="http://schemas.openxmlformats.org/drawingml/2006/main" noGrp="1"/>
          </p:cNvSpPr>
          <p:nvPr/>
        </p:nvSpPr>
        <p:spPr>
          <a:xfrm xmlns:a="http://schemas.openxmlformats.org/drawingml/2006/main">
            <a:off x="8622792" y="4828032"/>
            <a:ext cx="2688336" cy="411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400">
                <a:solidFill>
                  <a:srgbClr val="1D2630"/>
                </a:solidFill>
              </a:rPr>
              <a:t>Giúp model kết hợp nhiều dấu hiệu thay vì dựa vào một biến đơn lẻ.</a:t>
            </a:r>
          </a:p>
        </p:txBody>
      </p:sp>
      <p:sp>
        <p:nvSpPr>
          <p:cNvPr id="40" name="Text 37">
            <a:extLst xmlns:a="http://schemas.openxmlformats.org/drawingml/2006/main">
              <a:ext uri="{FF2B5EF4-FFF2-40B4-BE49-F238E27FC236}">
                <a16:creationId xmlns:a16="http://schemas.microsoft.com/office/drawing/2014/main" id="{72060222-E890-4D57-874D-8D6B7427B60D}"/>
              </a:ext>
            </a:extLst>
          </p:cNvPr>
          <p:cNvSpPr>
            <a:spLocks xmlns:a="http://schemas.openxmlformats.org/drawingml/2006/main" noGrp="1"/>
          </p:cNvSpPr>
          <p:nvPr/>
        </p:nvSpPr>
        <p:spPr>
          <a:xfrm xmlns:a="http://schemas.openxmlformats.org/drawingml/2006/main">
            <a:off x="1572768" y="5833872"/>
            <a:ext cx="90525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D9534F"/>
                </a:solidFill>
              </a:rPr>
              <a:t>Lưu ý: feature giúp dự đoán và xếp hạng rủi ro, không tự động chứng minh nguyên nhân.</a:t>
            </a:r>
          </a:p>
        </p:txBody>
      </p:sp>
      <p:sp>
        <p:nvSpPr>
          <p:cNvPr id="42" name="Text 39">
            <a:extLst xmlns:a="http://schemas.openxmlformats.org/drawingml/2006/main">
              <a:ext uri="{FF2B5EF4-FFF2-40B4-BE49-F238E27FC236}">
                <a16:creationId xmlns:a16="http://schemas.microsoft.com/office/drawing/2014/main" id="{0B73CD68-9F8A-4FF7-BC6B-D679A482EBDD}"/>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7</a:t>
            </a:r>
          </a:p>
        </p:txBody>
      </p:sp>
    </p:spTree>
    <p:extLst>
      <p:ext uri="{BB962C8B-B14F-4D97-AF65-F5344CB8AC3E}">
        <p14:creationId xmlns:p14="http://schemas.microsoft.com/office/powerpoint/2010/main" val="18413844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58C51347-25A1-466F-82BD-7CD28A20DC90}"/>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884EB964-B304-4424-9612-D548A61F6E17}"/>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THIẾT KẾ MODEL</a:t>
            </a:r>
          </a:p>
        </p:txBody>
      </p:sp>
      <p:sp>
        <p:nvSpPr>
          <p:cNvPr id="5" name="Text 2">
            <a:extLst xmlns:a="http://schemas.openxmlformats.org/drawingml/2006/main">
              <a:ext uri="{FF2B5EF4-FFF2-40B4-BE49-F238E27FC236}">
                <a16:creationId xmlns:a16="http://schemas.microsoft.com/office/drawing/2014/main" id="{04A70D8D-23E2-45C0-A370-891488ECAC13}"/>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Model được phép dùng thông tin nào và phải loại thông tin nào</a:t>
            </a:r>
          </a:p>
        </p:txBody>
      </p:sp>
      <p:sp>
        <p:nvSpPr>
          <p:cNvPr id="6" name="Shape 3">
            <a:extLst xmlns:a="http://schemas.openxmlformats.org/drawingml/2006/main">
              <a:ext uri="{FF2B5EF4-FFF2-40B4-BE49-F238E27FC236}">
                <a16:creationId xmlns:a16="http://schemas.microsoft.com/office/drawing/2014/main" id="{3572A99C-DC45-4AF6-9489-986E47A28C9B}"/>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nchor="t"/>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A81EDF10-0555-4413-AAB0-3EA112CADACF}"/>
              </a:ext>
            </a:extLst>
          </p:cNvPr>
          <p:cNvSpPr>
            <a:spLocks xmlns:a="http://schemas.openxmlformats.org/drawingml/2006/main" noGrp="1"/>
          </p:cNvSpPr>
          <p:nvPr/>
        </p:nvSpPr>
        <p:spPr>
          <a:xfrm xmlns:a="http://schemas.openxmlformats.org/drawingml/2006/main">
            <a:off x="713232" y="1353312"/>
            <a:ext cx="5303520" cy="3401568"/>
          </a:xfrm>
          <a:prstGeom xmlns:a="http://schemas.openxmlformats.org/drawingml/2006/main" prst="roundRect">
            <a:avLst>
              <a:gd name="adj" fmla="val 2151"/>
            </a:avLst>
          </a:prstGeom>
          <a:solidFill xmlns:a="http://schemas.openxmlformats.org/drawingml/2006/main">
            <a:srgbClr val="EAF6EA"/>
          </a:solidFill>
          <a:ln xmlns:a="http://schemas.openxmlformats.org/drawingml/2006/main" w="12700">
            <a:solidFill>
              <a:srgbClr val="9CCB9E"/>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nchor="t"/>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77CD19D8-E61A-49AD-A48A-CA4A73041E77}"/>
              </a:ext>
            </a:extLst>
          </p:cNvPr>
          <p:cNvSpPr>
            <a:spLocks xmlns:a="http://schemas.openxmlformats.org/drawingml/2006/main" noGrp="1"/>
          </p:cNvSpPr>
          <p:nvPr/>
        </p:nvSpPr>
        <p:spPr>
          <a:xfrm xmlns:a="http://schemas.openxmlformats.org/drawingml/2006/main">
            <a:off x="877824" y="1499616"/>
            <a:ext cx="4974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2B7A32"/>
                </a:solidFill>
              </a:rPr>
              <a:t>Được dùng: thông tin biết tại thời điểm đặt hàng</a:t>
            </a:r>
          </a:p>
        </p:txBody>
      </p:sp>
      <p:sp>
        <p:nvSpPr>
          <p:cNvPr id="9" name="Text 6">
            <a:extLst xmlns:a="http://schemas.openxmlformats.org/drawingml/2006/main">
              <a:ext uri="{FF2B5EF4-FFF2-40B4-BE49-F238E27FC236}">
                <a16:creationId xmlns:a16="http://schemas.microsoft.com/office/drawing/2014/main" id="{15702131-7DB4-4DB9-8B8B-92004226D661}"/>
              </a:ext>
            </a:extLst>
          </p:cNvPr>
          <p:cNvSpPr>
            <a:spLocks xmlns:a="http://schemas.openxmlformats.org/drawingml/2006/main" noGrp="1"/>
          </p:cNvSpPr>
          <p:nvPr/>
        </p:nvSpPr>
        <p:spPr>
          <a:xfrm xmlns:a="http://schemas.openxmlformats.org/drawingml/2006/main">
            <a:off x="877824" y="2095500"/>
            <a:ext cx="4974336" cy="253365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2000">
                <a:solidFill>
                  <a:srgbClr val="1D2630"/>
                </a:solidFill>
              </a:rPr>
              <a:t>• 3 feature dạng nhóm: customer_state, main_seller_state, main_category.</a:t>
            </a:r>
          </a:p>
          <a:p xmlns:a="http://schemas.openxmlformats.org/drawingml/2006/main">
            <a:pPr marL="0" indent="0">
              <a:buNone/>
            </a:pPr>
            <a:r>
              <a:rPr sz="2000">
                <a:solidFill>
                  <a:srgbClr val="1D2630"/>
                </a:solidFill>
              </a:rPr>
              <a:t>• 15 feature dạng số: số sản phẩm, giá, phí vận chuyển, trọng lượng, thể tích, thời điểm đặt hàng, số ngày giao dự kiến...</a:t>
            </a:r>
          </a:p>
          <a:p xmlns:a="http://schemas.openxmlformats.org/drawingml/2006/main">
            <a:pPr marL="0" indent="0">
              <a:buNone/>
            </a:pPr>
            <a:r>
              <a:rPr sz="2000">
                <a:solidFill>
                  <a:srgbClr val="1D2630"/>
                </a:solidFill>
              </a:rPr>
              <a:t>• Tổng cộng 18 feature gốc.</a:t>
            </a:r>
          </a:p>
        </p:txBody>
      </p:sp>
      <p:sp>
        <p:nvSpPr>
          <p:cNvPr id="10" name="Shape 7">
            <a:extLst xmlns:a="http://schemas.openxmlformats.org/drawingml/2006/main">
              <a:ext uri="{FF2B5EF4-FFF2-40B4-BE49-F238E27FC236}">
                <a16:creationId xmlns:a16="http://schemas.microsoft.com/office/drawing/2014/main" id="{DE8C2284-213E-4086-BF96-B0AF441FE27E}"/>
              </a:ext>
            </a:extLst>
          </p:cNvPr>
          <p:cNvSpPr>
            <a:spLocks xmlns:a="http://schemas.openxmlformats.org/drawingml/2006/main" noGrp="1"/>
          </p:cNvSpPr>
          <p:nvPr/>
        </p:nvSpPr>
        <p:spPr>
          <a:xfrm xmlns:a="http://schemas.openxmlformats.org/drawingml/2006/main">
            <a:off x="6181344" y="1353312"/>
            <a:ext cx="5303520" cy="3401568"/>
          </a:xfrm>
          <a:prstGeom xmlns:a="http://schemas.openxmlformats.org/drawingml/2006/main" prst="roundRect">
            <a:avLst>
              <a:gd name="adj" fmla="val 2151"/>
            </a:avLst>
          </a:prstGeom>
          <a:solidFill xmlns:a="http://schemas.openxmlformats.org/drawingml/2006/main">
            <a:srgbClr val="FCE9E7"/>
          </a:solidFill>
          <a:ln xmlns:a="http://schemas.openxmlformats.org/drawingml/2006/main" w="12700">
            <a:solidFill>
              <a:srgbClr val="E3A7A4"/>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nchor="t"/>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C534D9A9-59F1-4E18-A356-7CA93EC70B3D}"/>
              </a:ext>
            </a:extLst>
          </p:cNvPr>
          <p:cNvSpPr>
            <a:spLocks xmlns:a="http://schemas.openxmlformats.org/drawingml/2006/main" noGrp="1"/>
          </p:cNvSpPr>
          <p:nvPr/>
        </p:nvSpPr>
        <p:spPr>
          <a:xfrm xmlns:a="http://schemas.openxmlformats.org/drawingml/2006/main">
            <a:off x="6345936" y="1499616"/>
            <a:ext cx="4974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D9534F"/>
                </a:solidFill>
              </a:rPr>
              <a:t>Không được dùng: thông tin tương lai</a:t>
            </a:r>
          </a:p>
        </p:txBody>
      </p:sp>
      <p:sp>
        <p:nvSpPr>
          <p:cNvPr id="12" name="Text 9">
            <a:extLst xmlns:a="http://schemas.openxmlformats.org/drawingml/2006/main">
              <a:ext uri="{FF2B5EF4-FFF2-40B4-BE49-F238E27FC236}">
                <a16:creationId xmlns:a16="http://schemas.microsoft.com/office/drawing/2014/main" id="{0AF28531-BEC8-4E32-AC23-4729181EDFCF}"/>
              </a:ext>
            </a:extLst>
          </p:cNvPr>
          <p:cNvSpPr>
            <a:spLocks xmlns:a="http://schemas.openxmlformats.org/drawingml/2006/main" noGrp="1"/>
          </p:cNvSpPr>
          <p:nvPr/>
        </p:nvSpPr>
        <p:spPr>
          <a:xfrm xmlns:a="http://schemas.openxmlformats.org/drawingml/2006/main">
            <a:off x="6345936" y="1865376"/>
            <a:ext cx="4974336" cy="2761488"/>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2000">
                <a:solidFill>
                  <a:srgbClr val="1D2630"/>
                </a:solidFill>
              </a:rPr>
              <a:t>• Ngày giao thực tế và delivery_difference_days.</a:t>
            </a:r>
          </a:p>
          <a:p xmlns:a="http://schemas.openxmlformats.org/drawingml/2006/main">
            <a:pPr marL="0" indent="0">
              <a:buNone/>
            </a:pPr>
            <a:r>
              <a:rPr sz="2000">
                <a:solidFill>
                  <a:srgbClr val="1D2630"/>
                </a:solidFill>
              </a:rPr>
              <a:t>• review_score, tiêu đề và nội dung đánh giá.</a:t>
            </a:r>
          </a:p>
          <a:p xmlns:a="http://schemas.openxmlformats.org/drawingml/2006/main">
            <a:pPr marL="0" indent="0">
              <a:buNone/>
            </a:pPr>
            <a:r>
              <a:rPr sz="2000">
                <a:solidFill>
                  <a:srgbClr val="1D2630"/>
                </a:solidFill>
              </a:rPr>
              <a:t>• Các cột thanh toán chưa đủ timestamp để chứng minh đã có đúng thời điểm dự đoán.</a:t>
            </a:r>
          </a:p>
          <a:p xmlns:a="http://schemas.openxmlformats.org/drawingml/2006/main">
            <a:pPr marL="0" indent="0">
              <a:buNone/>
            </a:pPr>
            <a:r>
              <a:rPr sz="2000">
                <a:solidFill>
                  <a:srgbClr val="1D2630"/>
                </a:solidFill>
              </a:rPr>
              <a:t>→ Đây là kiểm soát rò rỉ dữ liệu (data leakage).</a:t>
            </a:r>
          </a:p>
        </p:txBody>
      </p:sp>
      <p:sp>
        <p:nvSpPr>
          <p:cNvPr id="13" name="Text 10">
            <a:extLst xmlns:a="http://schemas.openxmlformats.org/drawingml/2006/main">
              <a:ext uri="{FF2B5EF4-FFF2-40B4-BE49-F238E27FC236}">
                <a16:creationId xmlns:a16="http://schemas.microsoft.com/office/drawing/2014/main" id="{99CDF10C-9E1E-4FB5-B2AC-5C79F37EC663}"/>
              </a:ext>
            </a:extLst>
          </p:cNvPr>
          <p:cNvSpPr>
            <a:spLocks xmlns:a="http://schemas.openxmlformats.org/drawingml/2006/main" noGrp="1"/>
          </p:cNvSpPr>
          <p:nvPr/>
        </p:nvSpPr>
        <p:spPr>
          <a:xfrm xmlns:a="http://schemas.openxmlformats.org/drawingml/2006/main">
            <a:off x="841248" y="5056632"/>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B4A8B"/>
                </a:solidFill>
              </a:rPr>
              <a:t>pipeline </a:t>
            </a:r>
            <a:r>
              <a:rPr sz="1700" b="1">
                <a:solidFill>
                  <a:srgbClr val="0B4A8B"/>
                </a:solidFill>
              </a:rPr>
              <a:t>tiền </a:t>
            </a:r>
          </a:p>
          <a:p xmlns:a="http://schemas.openxmlformats.org/drawingml/2006/main">
            <a:pPr marL="0" indent="0">
              <a:buNone/>
            </a:pPr>
            <a:r>
              <a:rPr sz="1700" b="1">
                <a:solidFill>
                  <a:srgbClr val="0B4A8B"/>
                </a:solidFill>
              </a:rPr>
              <a:t>xử </a:t>
            </a:r>
            <a:r>
              <a:rPr sz="1700" b="1">
                <a:solidFill>
                  <a:srgbClr val="0B4A8B"/>
                </a:solidFill>
              </a:rPr>
              <a:t>lý</a:t>
            </a:r>
          </a:p>
        </p:txBody>
      </p:sp>
      <p:sp>
        <p:nvSpPr>
          <p:cNvPr id="14" name="Shape 11">
            <a:extLst xmlns:a="http://schemas.openxmlformats.org/drawingml/2006/main">
              <a:ext uri="{FF2B5EF4-FFF2-40B4-BE49-F238E27FC236}">
                <a16:creationId xmlns:a16="http://schemas.microsoft.com/office/drawing/2014/main" id="{7D064D6D-B9CB-434F-8551-1C4A2E1367CB}"/>
              </a:ext>
            </a:extLst>
          </p:cNvPr>
          <p:cNvSpPr>
            <a:spLocks xmlns:a="http://schemas.openxmlformats.org/drawingml/2006/main" noGrp="1"/>
          </p:cNvSpPr>
          <p:nvPr/>
        </p:nvSpPr>
        <p:spPr>
          <a:xfrm xmlns:a="http://schemas.openxmlformats.org/drawingml/2006/main">
            <a:off x="2468880" y="4892040"/>
            <a:ext cx="1627632" cy="713232"/>
          </a:xfrm>
          <a:prstGeom xmlns:a="http://schemas.openxmlformats.org/drawingml/2006/main" prst="roundRect">
            <a:avLst>
              <a:gd name="adj" fmla="val 6410"/>
            </a:avLst>
          </a:prstGeom>
          <a:solidFill xmlns:a="http://schemas.openxmlformats.org/drawingml/2006/main">
            <a:srgbClr val="DCEAF7"/>
          </a:solidFill>
          <a:ln xmlns:a="http://schemas.openxmlformats.org/drawingml/2006/main" w="12700">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F27B452C-1EF7-4E7C-BE18-2BE0D482013E}"/>
              </a:ext>
            </a:extLst>
          </p:cNvPr>
          <p:cNvSpPr>
            <a:spLocks xmlns:a="http://schemas.openxmlformats.org/drawingml/2006/main" noGrp="1"/>
          </p:cNvSpPr>
          <p:nvPr/>
        </p:nvSpPr>
        <p:spPr>
          <a:xfrm xmlns:a="http://schemas.openxmlformats.org/drawingml/2006/main">
            <a:off x="2542032" y="5129784"/>
            <a:ext cx="14813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50" b="1">
                <a:solidFill>
                  <a:srgbClr val="1D2630"/>
                </a:solidFill>
              </a:rPr>
              <a:t>StringIndexer</a:t>
            </a:r>
          </a:p>
        </p:txBody>
      </p:sp>
      <p:sp>
        <p:nvSpPr>
          <p:cNvPr id="16" name="Shape 13">
            <a:extLst xmlns:a="http://schemas.openxmlformats.org/drawingml/2006/main">
              <a:ext uri="{FF2B5EF4-FFF2-40B4-BE49-F238E27FC236}">
                <a16:creationId xmlns:a16="http://schemas.microsoft.com/office/drawing/2014/main" id="{862E6D70-2FAE-458B-8F41-AE6618B5DED2}"/>
              </a:ext>
            </a:extLst>
          </p:cNvPr>
          <p:cNvSpPr>
            <a:spLocks xmlns:a="http://schemas.openxmlformats.org/drawingml/2006/main" noGrp="1"/>
          </p:cNvSpPr>
          <p:nvPr/>
        </p:nvSpPr>
        <p:spPr>
          <a:xfrm xmlns:a="http://schemas.openxmlformats.org/drawingml/2006/main">
            <a:off x="4133088" y="5248656"/>
            <a:ext cx="402336"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35A9A6F5-EE76-4F13-A171-3587CB56EFA4}"/>
              </a:ext>
            </a:extLst>
          </p:cNvPr>
          <p:cNvSpPr>
            <a:spLocks xmlns:a="http://schemas.openxmlformats.org/drawingml/2006/main" noGrp="1"/>
          </p:cNvSpPr>
          <p:nvPr/>
        </p:nvSpPr>
        <p:spPr>
          <a:xfrm xmlns:a="http://schemas.openxmlformats.org/drawingml/2006/main">
            <a:off x="4590288" y="4892040"/>
            <a:ext cx="1627632" cy="713232"/>
          </a:xfrm>
          <a:prstGeom xmlns:a="http://schemas.openxmlformats.org/drawingml/2006/main" prst="roundRect">
            <a:avLst>
              <a:gd name="adj" fmla="val 6410"/>
            </a:avLst>
          </a:prstGeom>
          <a:solidFill xmlns:a="http://schemas.openxmlformats.org/drawingml/2006/main">
            <a:srgbClr val="FFF4D6"/>
          </a:solidFill>
          <a:ln xmlns:a="http://schemas.openxmlformats.org/drawingml/2006/main" w="12700">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FB7C528B-0444-446A-9EE3-441538430642}"/>
              </a:ext>
            </a:extLst>
          </p:cNvPr>
          <p:cNvSpPr>
            <a:spLocks xmlns:a="http://schemas.openxmlformats.org/drawingml/2006/main" noGrp="1"/>
          </p:cNvSpPr>
          <p:nvPr/>
        </p:nvSpPr>
        <p:spPr>
          <a:xfrm xmlns:a="http://schemas.openxmlformats.org/drawingml/2006/main">
            <a:off x="4663440" y="5129784"/>
            <a:ext cx="14813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50" b="1">
                <a:solidFill>
                  <a:srgbClr val="1D2630"/>
                </a:solidFill>
              </a:rPr>
              <a:t>OneHotEncoder</a:t>
            </a:r>
          </a:p>
        </p:txBody>
      </p:sp>
      <p:sp>
        <p:nvSpPr>
          <p:cNvPr id="19" name="Shape 16">
            <a:extLst xmlns:a="http://schemas.openxmlformats.org/drawingml/2006/main">
              <a:ext uri="{FF2B5EF4-FFF2-40B4-BE49-F238E27FC236}">
                <a16:creationId xmlns:a16="http://schemas.microsoft.com/office/drawing/2014/main" id="{A4ABCCCC-DC0C-46C2-B48E-20634F2D6857}"/>
              </a:ext>
            </a:extLst>
          </p:cNvPr>
          <p:cNvSpPr>
            <a:spLocks xmlns:a="http://schemas.openxmlformats.org/drawingml/2006/main" noGrp="1"/>
          </p:cNvSpPr>
          <p:nvPr/>
        </p:nvSpPr>
        <p:spPr>
          <a:xfrm xmlns:a="http://schemas.openxmlformats.org/drawingml/2006/main">
            <a:off x="6254496" y="5248656"/>
            <a:ext cx="402336"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6487432A-30CB-40C8-8211-99E076019131}"/>
              </a:ext>
            </a:extLst>
          </p:cNvPr>
          <p:cNvSpPr>
            <a:spLocks xmlns:a="http://schemas.openxmlformats.org/drawingml/2006/main" noGrp="1"/>
          </p:cNvSpPr>
          <p:nvPr/>
        </p:nvSpPr>
        <p:spPr>
          <a:xfrm xmlns:a="http://schemas.openxmlformats.org/drawingml/2006/main">
            <a:off x="6711696" y="4892040"/>
            <a:ext cx="1627632" cy="713232"/>
          </a:xfrm>
          <a:prstGeom xmlns:a="http://schemas.openxmlformats.org/drawingml/2006/main" prst="roundRect">
            <a:avLst>
              <a:gd name="adj" fmla="val 6410"/>
            </a:avLst>
          </a:prstGeom>
          <a:solidFill xmlns:a="http://schemas.openxmlformats.org/drawingml/2006/main">
            <a:srgbClr val="DCEAF7"/>
          </a:solidFill>
          <a:ln xmlns:a="http://schemas.openxmlformats.org/drawingml/2006/main" w="12700">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2BA65E71-62A8-46D0-BD34-32C8D14C3B67}"/>
              </a:ext>
            </a:extLst>
          </p:cNvPr>
          <p:cNvSpPr>
            <a:spLocks xmlns:a="http://schemas.openxmlformats.org/drawingml/2006/main" noGrp="1"/>
          </p:cNvSpPr>
          <p:nvPr/>
        </p:nvSpPr>
        <p:spPr>
          <a:xfrm xmlns:a="http://schemas.openxmlformats.org/drawingml/2006/main">
            <a:off x="6784848" y="5129784"/>
            <a:ext cx="14813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50" b="1">
                <a:solidFill>
                  <a:srgbClr val="1D2630"/>
                </a:solidFill>
              </a:rPr>
              <a:t>Imputer</a:t>
            </a:r>
          </a:p>
        </p:txBody>
      </p:sp>
      <p:sp>
        <p:nvSpPr>
          <p:cNvPr id="22" name="Shape 19">
            <a:extLst xmlns:a="http://schemas.openxmlformats.org/drawingml/2006/main">
              <a:ext uri="{FF2B5EF4-FFF2-40B4-BE49-F238E27FC236}">
                <a16:creationId xmlns:a16="http://schemas.microsoft.com/office/drawing/2014/main" id="{B476FCD8-7844-459C-B5DA-6138FF047B59}"/>
              </a:ext>
            </a:extLst>
          </p:cNvPr>
          <p:cNvSpPr>
            <a:spLocks xmlns:a="http://schemas.openxmlformats.org/drawingml/2006/main" noGrp="1"/>
          </p:cNvSpPr>
          <p:nvPr/>
        </p:nvSpPr>
        <p:spPr>
          <a:xfrm xmlns:a="http://schemas.openxmlformats.org/drawingml/2006/main">
            <a:off x="8375904" y="5248656"/>
            <a:ext cx="402336"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23" name="Shape 20">
            <a:extLst xmlns:a="http://schemas.openxmlformats.org/drawingml/2006/main">
              <a:ext uri="{FF2B5EF4-FFF2-40B4-BE49-F238E27FC236}">
                <a16:creationId xmlns:a16="http://schemas.microsoft.com/office/drawing/2014/main" id="{728F644A-72A3-4B21-9DA8-3DAE2A0F580B}"/>
              </a:ext>
            </a:extLst>
          </p:cNvPr>
          <p:cNvSpPr>
            <a:spLocks xmlns:a="http://schemas.openxmlformats.org/drawingml/2006/main" noGrp="1"/>
          </p:cNvSpPr>
          <p:nvPr/>
        </p:nvSpPr>
        <p:spPr>
          <a:xfrm xmlns:a="http://schemas.openxmlformats.org/drawingml/2006/main">
            <a:off x="8833104" y="4892040"/>
            <a:ext cx="1627632" cy="713232"/>
          </a:xfrm>
          <a:prstGeom xmlns:a="http://schemas.openxmlformats.org/drawingml/2006/main" prst="roundRect">
            <a:avLst>
              <a:gd name="adj" fmla="val 6410"/>
            </a:avLst>
          </a:prstGeom>
          <a:solidFill xmlns:a="http://schemas.openxmlformats.org/drawingml/2006/main">
            <a:srgbClr val="FFF4D6"/>
          </a:solidFill>
          <a:ln xmlns:a="http://schemas.openxmlformats.org/drawingml/2006/main" w="12700">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24" name="Text 21">
            <a:extLst xmlns:a="http://schemas.openxmlformats.org/drawingml/2006/main">
              <a:ext uri="{FF2B5EF4-FFF2-40B4-BE49-F238E27FC236}">
                <a16:creationId xmlns:a16="http://schemas.microsoft.com/office/drawing/2014/main" id="{C6CBC29B-B14D-4A37-9325-AE0E9241A042}"/>
              </a:ext>
            </a:extLst>
          </p:cNvPr>
          <p:cNvSpPr>
            <a:spLocks xmlns:a="http://schemas.openxmlformats.org/drawingml/2006/main" noGrp="1"/>
          </p:cNvSpPr>
          <p:nvPr/>
        </p:nvSpPr>
        <p:spPr>
          <a:xfrm xmlns:a="http://schemas.openxmlformats.org/drawingml/2006/main">
            <a:off x="8906256" y="5129784"/>
            <a:ext cx="14813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50" b="1">
                <a:solidFill>
                  <a:srgbClr val="1D2630"/>
                </a:solidFill>
              </a:rPr>
              <a:t>VectorAssembler</a:t>
            </a:r>
          </a:p>
        </p:txBody>
      </p:sp>
      <p:sp>
        <p:nvSpPr>
          <p:cNvPr id="25" name="Text 22">
            <a:extLst xmlns:a="http://schemas.openxmlformats.org/drawingml/2006/main">
              <a:ext uri="{FF2B5EF4-FFF2-40B4-BE49-F238E27FC236}">
                <a16:creationId xmlns:a16="http://schemas.microsoft.com/office/drawing/2014/main" id="{A5E0062F-B405-4C4A-A63A-7C40817D4433}"/>
              </a:ext>
            </a:extLst>
          </p:cNvPr>
          <p:cNvSpPr>
            <a:spLocks xmlns:a="http://schemas.openxmlformats.org/drawingml/2006/main" noGrp="1"/>
          </p:cNvSpPr>
          <p:nvPr/>
        </p:nvSpPr>
        <p:spPr>
          <a:xfrm xmlns:a="http://schemas.openxmlformats.org/drawingml/2006/main">
            <a:off x="2697480" y="5788152"/>
            <a:ext cx="68122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7A4E00"/>
                </a:solidFill>
              </a:rPr>
              <a:t>label: is_late = 1 nếu giao sau ngày dự kiến, ngược lại = 0</a:t>
            </a:r>
          </a:p>
        </p:txBody>
      </p:sp>
      <p:sp>
        <p:nvSpPr>
          <p:cNvPr id="27" name="Text 24">
            <a:extLst xmlns:a="http://schemas.openxmlformats.org/drawingml/2006/main">
              <a:ext uri="{FF2B5EF4-FFF2-40B4-BE49-F238E27FC236}">
                <a16:creationId xmlns:a16="http://schemas.microsoft.com/office/drawing/2014/main" id="{EC1201D7-4F59-4982-882F-E6B962512156}"/>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8</a:t>
            </a:r>
          </a:p>
        </p:txBody>
      </p:sp>
    </p:spTree>
    <p:extLst>
      <p:ext uri="{BB962C8B-B14F-4D97-AF65-F5344CB8AC3E}">
        <p14:creationId xmlns:p14="http://schemas.microsoft.com/office/powerpoint/2010/main" val="36476981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D29B5B2-3ABD-4814-900B-3A440DABBCA0}"/>
              </a:ext>
            </a:extLst>
          </p:cNvPr>
          <p:cNvSpPr>
            <a:spLocks xmlns:a="http://schemas.openxmlformats.org/drawingml/2006/main" noGrp="1"/>
          </p:cNvSpPr>
          <p:nvPr/>
        </p:nvSpPr>
        <p:spPr>
          <a:xfrm xmlns:a="http://schemas.openxmlformats.org/drawingml/2006/main">
            <a:off x="658368" y="210312"/>
            <a:ext cx="1572768" cy="256032"/>
          </a:xfrm>
          <a:prstGeom xmlns:a="http://schemas.openxmlformats.org/drawingml/2006/main" prst="rect">
            <a:avLst/>
          </a:prstGeom>
          <a:solidFill xmlns:a="http://schemas.openxmlformats.org/drawingml/2006/main">
            <a:srgbClr val="002F6C"/>
          </a:solidFill>
          <a:ln xmlns:a="http://schemas.openxmlformats.org/drawingml/2006/main">
            <a:solidFill>
              <a:srgbClr val="002F6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750" b="1">
                <a:solidFill>
                  <a:srgbClr val="FFFFFF"/>
                </a:solidFill>
                <a:latin typeface="Arial"/>
                <a:ea typeface="Arial"/>
                <a:cs typeface="Arial"/>
              </a:rPr>
              <a:t>PHƯƠNG PHÁP</a:t>
            </a:r>
          </a:p>
        </p:txBody>
      </p:sp>
      <p:sp>
        <p:nvSpPr>
          <p:cNvPr id="3" name="Right Triangle 2">
            <a:extLst xmlns:a="http://schemas.openxmlformats.org/drawingml/2006/main">
              <a:ext uri="{FF2B5EF4-FFF2-40B4-BE49-F238E27FC236}">
                <a16:creationId xmlns:a16="http://schemas.microsoft.com/office/drawing/2014/main" id="{9AEEA338-6F24-4DC8-A1E9-939B0431D4FC}"/>
              </a:ext>
            </a:extLst>
          </p:cNvPr>
          <p:cNvSpPr>
            <a:spLocks xmlns:a="http://schemas.openxmlformats.org/drawingml/2006/main" noGrp="1"/>
          </p:cNvSpPr>
          <p:nvPr/>
        </p:nvSpPr>
        <p:spPr>
          <a:xfrm xmlns:a="http://schemas.openxmlformats.org/drawingml/2006/main" rot="10800000">
            <a:off x="2139696" y="210312"/>
            <a:ext cx="384048" cy="256032"/>
          </a:xfrm>
          <a:prstGeom xmlns:a="http://schemas.openxmlformats.org/drawingml/2006/main" prst="rtTriangle">
            <a:avLst/>
          </a:prstGeom>
          <a:solidFill xmlns:a="http://schemas.openxmlformats.org/drawingml/2006/main">
            <a:srgbClr val="F0A627"/>
          </a:solidFill>
          <a:ln xmlns:a="http://schemas.openxmlformats.org/drawingml/2006/main">
            <a:solidFill>
              <a:srgbClr val="F0A62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7759FB55-E298-4631-8E70-D219412D2600}"/>
              </a:ext>
            </a:extLst>
          </p:cNvPr>
          <p:cNvSpPr>
            <a:spLocks xmlns:a="http://schemas.openxmlformats.org/drawingml/2006/main" noGrp="1"/>
          </p:cNvSpPr>
          <p:nvPr/>
        </p:nvSpPr>
        <p:spPr>
          <a:xfrm xmlns:a="http://schemas.openxmlformats.org/drawingml/2006/main">
            <a:off x="658368" y="521207"/>
            <a:ext cx="10789920" cy="411480"/>
          </a:xfrm>
          <a:prstGeom xmlns:a="http://schemas.openxmlformats.org/drawingml/2006/main" prst="rect">
            <a:avLst/>
          </a:prstGeom>
          <a:noFill xmlns:a="http://schemas.openxmlformats.org/drawingml/2006/main"/>
        </p:spPr>
        <p:txBody>
          <a:bodyPr xmlns:a="http://schemas.openxmlformats.org/drawingml/2006/main" wrap="none" lIns="36576" tIns="18288" rIns="36576" bIns="18288" anchor="t">
            <a:spAutoFit/>
          </a:bodyPr>
          <a:lstStyle xmlns:a="http://schemas.openxmlformats.org/drawingml/2006/main"/>
          <a:p xmlns:a="http://schemas.openxmlformats.org/drawingml/2006/main">
            <a:pPr algn="l">
              <a:buNone/>
            </a:pPr>
            <a:r>
              <a:rPr sz="1950" b="1">
                <a:solidFill>
                  <a:srgbClr val="0057A6"/>
                </a:solidFill>
                <a:latin typeface="Arial"/>
                <a:ea typeface="Arial"/>
                <a:cs typeface="Arial"/>
              </a:rPr>
              <a:t>Hai model tính điểm nguy cơ giao trễ như thế nào</a:t>
            </a:r>
          </a:p>
        </p:txBody>
      </p:sp>
      <p:sp>
        <p:nvSpPr>
          <p:cNvPr id="5" name="Rectangle 4">
            <a:extLst xmlns:a="http://schemas.openxmlformats.org/drawingml/2006/main">
              <a:ext uri="{FF2B5EF4-FFF2-40B4-BE49-F238E27FC236}">
                <a16:creationId xmlns:a16="http://schemas.microsoft.com/office/drawing/2014/main" id="{A65D7391-5231-4777-B63A-B90D52890C1E}"/>
              </a:ext>
            </a:extLst>
          </p:cNvPr>
          <p:cNvSpPr>
            <a:spLocks xmlns:a="http://schemas.openxmlformats.org/drawingml/2006/main" noGrp="1"/>
          </p:cNvSpPr>
          <p:nvPr/>
        </p:nvSpPr>
        <p:spPr>
          <a:xfrm xmlns:a="http://schemas.openxmlformats.org/drawingml/2006/main">
            <a:off x="658368" y="978408"/>
            <a:ext cx="10744200" cy="10972"/>
          </a:xfrm>
          <a:prstGeom xmlns:a="http://schemas.openxmlformats.org/drawingml/2006/main" prst="rect">
            <a:avLst/>
          </a:prstGeom>
          <a:solidFill xmlns:a="http://schemas.openxmlformats.org/drawingml/2006/main">
            <a:srgbClr val="F0A627"/>
          </a:solidFill>
          <a:ln xmlns:a="http://schemas.openxmlformats.org/drawingml/2006/main">
            <a:solidFill>
              <a:srgbClr val="F0A62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FCDBAF0-8605-490A-BB8F-ACEA849351C8}"/>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none" lIns="36576" tIns="18288" rIns="36576" bIns="18288" anchor="t">
            <a:spAutoFit/>
          </a:bodyPr>
          <a:lstStyle xmlns:a="http://schemas.openxmlformats.org/drawingml/2006/main"/>
          <a:p xmlns:a="http://schemas.openxmlformats.org/drawingml/2006/main">
            <a:pPr algn="ctr">
              <a:buNone/>
            </a:pPr>
            <a:r>
              <a:rPr sz="600">
                <a:solidFill>
                  <a:srgbClr val="A0A0A0"/>
                </a:solidFill>
                <a:latin typeface="Arial"/>
                <a:ea typeface="Arial"/>
                <a:cs typeface="Arial"/>
              </a:rPr>
              <a:t>9</a:t>
            </a:r>
          </a:p>
        </p:txBody>
      </p:sp>
      <p:sp>
        <p:nvSpPr>
          <p:cNvPr id="11" name="Rounded Rectangle 10">
            <a:extLst xmlns:a="http://schemas.openxmlformats.org/drawingml/2006/main">
              <a:ext uri="{FF2B5EF4-FFF2-40B4-BE49-F238E27FC236}">
                <a16:creationId xmlns:a16="http://schemas.microsoft.com/office/drawing/2014/main" id="{58681BE0-B08D-4698-B33E-4456A0D3EE84}"/>
              </a:ext>
            </a:extLst>
          </p:cNvPr>
          <p:cNvSpPr>
            <a:spLocks xmlns:a="http://schemas.openxmlformats.org/drawingml/2006/main" noGrp="1"/>
          </p:cNvSpPr>
          <p:nvPr/>
        </p:nvSpPr>
        <p:spPr>
          <a:xfrm xmlns:a="http://schemas.openxmlformats.org/drawingml/2006/main">
            <a:off x="868680" y="1261872"/>
            <a:ext cx="1737360" cy="640080"/>
          </a:xfrm>
          <a:prstGeom xmlns:a="http://schemas.openxmlformats.org/drawingml/2006/main" prst="roundRect">
            <a:avLst/>
          </a:prstGeom>
          <a:solidFill xmlns:a="http://schemas.openxmlformats.org/drawingml/2006/main">
            <a:srgbClr val="E8F3FF"/>
          </a:solidFill>
          <a:ln xmlns:a="http://schemas.openxmlformats.org/drawingml/2006/main" w="12700">
            <a:solidFill>
              <a:srgbClr val="C6DCF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250" b="1">
                <a:solidFill>
                  <a:srgbClr val="1F2A36"/>
                </a:solidFill>
                <a:latin typeface="Arial"/>
                <a:ea typeface="Arial"/>
                <a:cs typeface="Arial"/>
              </a:rPr>
              <a:t>18 feature</a:t>
            </a:r>
          </a:p>
          <a:p xmlns:a="http://schemas.openxmlformats.org/drawingml/2006/main">
            <a:pPr algn="ctr">
              <a:buNone/>
            </a:pPr>
            <a:r>
              <a:rPr sz="1250" b="0">
                <a:solidFill>
                  <a:srgbClr val="1F2A36"/>
                </a:solidFill>
                <a:latin typeface="Arial"/>
                <a:ea typeface="Arial"/>
                <a:cs typeface="Arial"/>
              </a:rPr>
              <a:t>ban đầu</a:t>
            </a:r>
          </a:p>
        </p:txBody>
      </p:sp>
      <p:sp>
        <p:nvSpPr>
          <p:cNvPr id="12" name="Rounded Rectangle 11">
            <a:extLst xmlns:a="http://schemas.openxmlformats.org/drawingml/2006/main">
              <a:ext uri="{FF2B5EF4-FFF2-40B4-BE49-F238E27FC236}">
                <a16:creationId xmlns:a16="http://schemas.microsoft.com/office/drawing/2014/main" id="{42DDC34E-E9A5-4226-A82D-5E99F594BBE5}"/>
              </a:ext>
            </a:extLst>
          </p:cNvPr>
          <p:cNvSpPr>
            <a:spLocks xmlns:a="http://schemas.openxmlformats.org/drawingml/2006/main" noGrp="1"/>
          </p:cNvSpPr>
          <p:nvPr/>
        </p:nvSpPr>
        <p:spPr>
          <a:xfrm xmlns:a="http://schemas.openxmlformats.org/drawingml/2006/main">
            <a:off x="2971800" y="1261872"/>
            <a:ext cx="1965960" cy="640080"/>
          </a:xfrm>
          <a:prstGeom xmlns:a="http://schemas.openxmlformats.org/drawingml/2006/main" prst="roundRect">
            <a:avLst/>
          </a:prstGeom>
          <a:solidFill xmlns:a="http://schemas.openxmlformats.org/drawingml/2006/main">
            <a:srgbClr val="FFF4D9"/>
          </a:solidFill>
          <a:ln xmlns:a="http://schemas.openxmlformats.org/drawingml/2006/main" w="12700">
            <a:solidFill>
              <a:srgbClr val="EFCD8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150" b="1">
                <a:solidFill>
                  <a:srgbClr val="1F2A36"/>
                </a:solidFill>
                <a:latin typeface="Arial"/>
                <a:ea typeface="Arial"/>
                <a:cs typeface="Arial"/>
              </a:rPr>
              <a:t>Pipeline</a:t>
            </a:r>
          </a:p>
          <a:p xmlns:a="http://schemas.openxmlformats.org/drawingml/2006/main">
            <a:pPr algn="ctr">
              <a:buNone/>
            </a:pPr>
            <a:r>
              <a:rPr sz="1150" b="0">
                <a:solidFill>
                  <a:srgbClr val="1F2A36"/>
                </a:solidFill>
                <a:latin typeface="Arial"/>
                <a:ea typeface="Arial"/>
                <a:cs typeface="Arial"/>
              </a:rPr>
              <a:t>StringIndexer + OHE + Imputer</a:t>
            </a:r>
          </a:p>
        </p:txBody>
      </p:sp>
      <p:sp>
        <p:nvSpPr>
          <p:cNvPr id="13" name="Rounded Rectangle 12">
            <a:extLst xmlns:a="http://schemas.openxmlformats.org/drawingml/2006/main">
              <a:ext uri="{FF2B5EF4-FFF2-40B4-BE49-F238E27FC236}">
                <a16:creationId xmlns:a16="http://schemas.microsoft.com/office/drawing/2014/main" id="{9802273B-3579-4DC5-985A-FD6BE491402E}"/>
              </a:ext>
            </a:extLst>
          </p:cNvPr>
          <p:cNvSpPr>
            <a:spLocks xmlns:a="http://schemas.openxmlformats.org/drawingml/2006/main" noGrp="1"/>
          </p:cNvSpPr>
          <p:nvPr/>
        </p:nvSpPr>
        <p:spPr>
          <a:xfrm xmlns:a="http://schemas.openxmlformats.org/drawingml/2006/main">
            <a:off x="5358384" y="1261872"/>
            <a:ext cx="1874519" cy="640080"/>
          </a:xfrm>
          <a:prstGeom xmlns:a="http://schemas.openxmlformats.org/drawingml/2006/main" prst="roundRect">
            <a:avLst/>
          </a:prstGeom>
          <a:solidFill xmlns:a="http://schemas.openxmlformats.org/drawingml/2006/main">
            <a:srgbClr val="E5F4EF"/>
          </a:solidFill>
          <a:ln xmlns:a="http://schemas.openxmlformats.org/drawingml/2006/main" w="12700">
            <a:solidFill>
              <a:srgbClr val="C4DED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250" b="1">
                <a:solidFill>
                  <a:srgbClr val="1F2A36"/>
                </a:solidFill>
                <a:latin typeface="Arial"/>
                <a:ea typeface="Arial"/>
                <a:cs typeface="Arial"/>
              </a:rPr>
              <a:t>features vector</a:t>
            </a:r>
          </a:p>
          <a:p xmlns:a="http://schemas.openxmlformats.org/drawingml/2006/main">
            <a:pPr algn="ctr">
              <a:buNone/>
            </a:pPr>
            <a:r>
              <a:rPr sz="1250" b="0">
                <a:solidFill>
                  <a:srgbClr val="1F2A36"/>
                </a:solidFill>
                <a:latin typeface="Arial"/>
                <a:ea typeface="Arial"/>
                <a:cs typeface="Arial"/>
              </a:rPr>
              <a:t>141 vị trí</a:t>
            </a:r>
          </a:p>
        </p:txBody>
      </p:sp>
      <p:sp>
        <p:nvSpPr>
          <p:cNvPr id="14" name="Connector 13">
            <a:extLst xmlns:a="http://schemas.openxmlformats.org/drawingml/2006/main">
              <a:ext uri="{FF2B5EF4-FFF2-40B4-BE49-F238E27FC236}">
                <a16:creationId xmlns:a16="http://schemas.microsoft.com/office/drawing/2014/main" id="{BC99CD98-62CF-477C-A0EF-C75F3A9F77F7}"/>
              </a:ext>
            </a:extLst>
          </p:cNvPr>
          <p:cNvSpPr>
            <a:spLocks xmlns:a="http://schemas.openxmlformats.org/drawingml/2006/main" noGrp="1"/>
          </p:cNvSpPr>
          <p:nvPr/>
        </p:nvSpPr>
        <p:spPr>
          <a:xfrm xmlns:a="http://schemas.openxmlformats.org/drawingml/2006/main">
            <a:off x="2606040" y="1581912"/>
            <a:ext cx="356616" cy="0"/>
          </a:xfrm>
          <a:prstGeom xmlns:a="http://schemas.openxmlformats.org/drawingml/2006/main" prst="line">
            <a:avLst/>
          </a:prstGeom>
          <a:ln xmlns:a="http://schemas.openxmlformats.org/drawingml/2006/main" w="19050">
            <a:solidFill>
              <a:srgbClr val="8CA9C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496B905-E308-4DE3-AF06-6A11EC751BD6}"/>
              </a:ext>
            </a:extLst>
          </p:cNvPr>
          <p:cNvSpPr>
            <a:spLocks xmlns:a="http://schemas.openxmlformats.org/drawingml/2006/main" noGrp="1"/>
          </p:cNvSpPr>
          <p:nvPr/>
        </p:nvSpPr>
        <p:spPr>
          <a:xfrm xmlns:a="http://schemas.openxmlformats.org/drawingml/2006/main">
            <a:off x="4937760" y="1581912"/>
            <a:ext cx="411480" cy="0"/>
          </a:xfrm>
          <a:prstGeom xmlns:a="http://schemas.openxmlformats.org/drawingml/2006/main" prst="line">
            <a:avLst/>
          </a:prstGeom>
          <a:ln xmlns:a="http://schemas.openxmlformats.org/drawingml/2006/main" w="19050">
            <a:solidFill>
              <a:srgbClr val="8CA9C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F6E6E53D-9516-477E-B88A-3CDA60DA31B6}"/>
              </a:ext>
            </a:extLst>
          </p:cNvPr>
          <p:cNvSpPr>
            <a:spLocks xmlns:a="http://schemas.openxmlformats.org/drawingml/2006/main" noGrp="1"/>
          </p:cNvSpPr>
          <p:nvPr/>
        </p:nvSpPr>
        <p:spPr>
          <a:xfrm xmlns:a="http://schemas.openxmlformats.org/drawingml/2006/main" flipH="1">
            <a:off x="3200400" y="1901952"/>
            <a:ext cx="3090672" cy="530352"/>
          </a:xfrm>
          <a:prstGeom xmlns:a="http://schemas.openxmlformats.org/drawingml/2006/main" prst="line">
            <a:avLst/>
          </a:prstGeom>
          <a:ln xmlns:a="http://schemas.openxmlformats.org/drawingml/2006/main" w="19050">
            <a:solidFill>
              <a:srgbClr val="8CA9C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4CD7C464-CBC5-4973-AA61-322D4A640B20}"/>
              </a:ext>
            </a:extLst>
          </p:cNvPr>
          <p:cNvSpPr>
            <a:spLocks xmlns:a="http://schemas.openxmlformats.org/drawingml/2006/main" noGrp="1"/>
          </p:cNvSpPr>
          <p:nvPr/>
        </p:nvSpPr>
        <p:spPr>
          <a:xfrm xmlns:a="http://schemas.openxmlformats.org/drawingml/2006/main">
            <a:off x="6291072" y="1901952"/>
            <a:ext cx="2807208" cy="530352"/>
          </a:xfrm>
          <a:prstGeom xmlns:a="http://schemas.openxmlformats.org/drawingml/2006/main" prst="line">
            <a:avLst/>
          </a:prstGeom>
          <a:ln xmlns:a="http://schemas.openxmlformats.org/drawingml/2006/main" w="19050">
            <a:solidFill>
              <a:srgbClr val="8CA9C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Rounded Rectangle 17">
            <a:extLst xmlns:a="http://schemas.openxmlformats.org/drawingml/2006/main">
              <a:ext uri="{FF2B5EF4-FFF2-40B4-BE49-F238E27FC236}">
                <a16:creationId xmlns:a16="http://schemas.microsoft.com/office/drawing/2014/main" id="{7DDAB377-72C6-43A8-8727-1D115C151B5E}"/>
              </a:ext>
            </a:extLst>
          </p:cNvPr>
          <p:cNvSpPr>
            <a:spLocks xmlns:a="http://schemas.openxmlformats.org/drawingml/2006/main" noGrp="1"/>
          </p:cNvSpPr>
          <p:nvPr/>
        </p:nvSpPr>
        <p:spPr>
          <a:xfrm xmlns:a="http://schemas.openxmlformats.org/drawingml/2006/main">
            <a:off x="868680" y="2267712"/>
            <a:ext cx="5074920" cy="2286000"/>
          </a:xfrm>
          <a:prstGeom xmlns:a="http://schemas.openxmlformats.org/drawingml/2006/main" prst="roundRect">
            <a:avLst/>
          </a:prstGeom>
          <a:solidFill xmlns:a="http://schemas.openxmlformats.org/drawingml/2006/main">
            <a:srgbClr val="FEEDDC"/>
          </a:solidFill>
          <a:ln xmlns:a="http://schemas.openxmlformats.org/drawingml/2006/main" w="12700">
            <a:solidFill>
              <a:srgbClr val="B35A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28016" tIns="91440" rIns="109728" bIns="73152" anchor="t"/>
          <a:lstStyle xmlns:a="http://schemas.openxmlformats.org/drawingml/2006/main"/>
          <a:p xmlns:a="http://schemas.openxmlformats.org/drawingml/2006/main">
            <a:pPr algn="l">
              <a:buNone/>
            </a:pPr>
            <a:r>
              <a:rPr sz="2400" b="1">
                <a:solidFill>
                  <a:srgbClr val="B35A20"/>
                </a:solidFill>
                <a:latin typeface="Arial"/>
                <a:ea typeface="Arial"/>
                <a:cs typeface="Arial"/>
              </a:rPr>
              <a:t>Logistic Regression</a:t>
            </a:r>
          </a:p>
          <a:p xmlns:a="http://schemas.openxmlformats.org/drawingml/2006/main">
            <a:pPr algn="l">
              <a:buNone/>
            </a:pPr>
            <a:r>
              <a:rPr sz="1600">
                <a:solidFill>
                  <a:srgbClr val="1F2A36"/>
                </a:solidFill>
                <a:latin typeface="Arial"/>
                <a:ea typeface="Arial"/>
                <a:cs typeface="Arial"/>
              </a:rPr>
              <a:t>• Học coefficient và intercept từ train_fit/train_full.</a:t>
            </a:r>
          </a:p>
          <a:p xmlns:a="http://schemas.openxmlformats.org/drawingml/2006/main">
            <a:pPr algn="l">
              <a:buNone/>
            </a:pPr>
            <a:r>
              <a:rPr sz="1600">
                <a:solidFill>
                  <a:srgbClr val="1F2A36"/>
                </a:solidFill>
                <a:latin typeface="Arial"/>
                <a:ea typeface="Arial"/>
                <a:cs typeface="Arial"/>
              </a:rPr>
              <a:t>• Mỗi feature đóng góp: coefficient × giá trị feature.</a:t>
            </a:r>
          </a:p>
          <a:p xmlns:a="http://schemas.openxmlformats.org/drawingml/2006/main">
            <a:pPr algn="l">
              <a:buNone/>
            </a:pPr>
            <a:r>
              <a:rPr sz="1600">
                <a:solidFill>
                  <a:srgbClr val="1F2A36"/>
                </a:solidFill>
                <a:latin typeface="Arial"/>
                <a:ea typeface="Arial"/>
                <a:cs typeface="Arial"/>
              </a:rPr>
              <a:t>• Tổng điểm z được đưa qua sigmoid để ra probability_late</a:t>
            </a:r>
            <a:r>
              <a:rPr sz="1100">
                <a:solidFill>
                  <a:srgbClr val="1F2A36"/>
                </a:solidFill>
                <a:latin typeface="Arial"/>
                <a:ea typeface="Arial"/>
                <a:cs typeface="Arial"/>
              </a:rPr>
              <a:t>.</a:t>
            </a:r>
          </a:p>
        </p:txBody>
      </p:sp>
      <p:sp>
        <p:nvSpPr>
          <p:cNvPr id="19" name="Rectangle 18">
            <a:extLst xmlns:a="http://schemas.openxmlformats.org/drawingml/2006/main">
              <a:ext uri="{FF2B5EF4-FFF2-40B4-BE49-F238E27FC236}">
                <a16:creationId xmlns:a16="http://schemas.microsoft.com/office/drawing/2014/main" id="{25F0DFFD-D47A-45EE-8AF1-3E5B9164FD26}"/>
              </a:ext>
            </a:extLst>
          </p:cNvPr>
          <p:cNvSpPr>
            <a:spLocks xmlns:a="http://schemas.openxmlformats.org/drawingml/2006/main" noGrp="1"/>
          </p:cNvSpPr>
          <p:nvPr/>
        </p:nvSpPr>
        <p:spPr>
          <a:xfrm xmlns:a="http://schemas.openxmlformats.org/drawingml/2006/main">
            <a:off x="1207008" y="4005072"/>
            <a:ext cx="4389120" cy="347472"/>
          </a:xfrm>
          <a:prstGeom xmlns:a="http://schemas.openxmlformats.org/drawingml/2006/main" prst="rect">
            <a:avLst/>
          </a:prstGeom>
          <a:solidFill xmlns:a="http://schemas.openxmlformats.org/drawingml/2006/main">
            <a:srgbClr val="FFFBF5"/>
          </a:solidFill>
          <a:ln xmlns:a="http://schemas.openxmlformats.org/drawingml/2006/main" w="12700">
            <a:solidFill>
              <a:srgbClr val="EDC29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t"/>
          <a:lstStyle xmlns:a="http://schemas.openxmlformats.org/drawingml/2006/main"/>
          <a:p xmlns:a="http://schemas.openxmlformats.org/drawingml/2006/main">
            <a:pPr algn="ctr">
              <a:buNone/>
            </a:pPr>
            <a:r>
              <a:rPr sz="1400" b="1">
                <a:solidFill>
                  <a:srgbClr val="7A3A0F"/>
                </a:solidFill>
                <a:latin typeface="Arial"/>
                <a:ea typeface="Arial"/>
                <a:cs typeface="Arial"/>
              </a:rPr>
              <a:t>z = intercept + Σ(coef × feature)  →  sigmoid(z)</a:t>
            </a:r>
          </a:p>
        </p:txBody>
      </p:sp>
      <p:sp>
        <p:nvSpPr>
          <p:cNvPr id="20" name="Rounded Rectangle 19">
            <a:extLst xmlns:a="http://schemas.openxmlformats.org/drawingml/2006/main">
              <a:ext uri="{FF2B5EF4-FFF2-40B4-BE49-F238E27FC236}">
                <a16:creationId xmlns:a16="http://schemas.microsoft.com/office/drawing/2014/main" id="{2784F56C-880C-4DAE-A741-0733FBDC0328}"/>
              </a:ext>
            </a:extLst>
          </p:cNvPr>
          <p:cNvSpPr>
            <a:spLocks xmlns:a="http://schemas.openxmlformats.org/drawingml/2006/main" noGrp="1"/>
          </p:cNvSpPr>
          <p:nvPr/>
        </p:nvSpPr>
        <p:spPr>
          <a:xfrm xmlns:a="http://schemas.openxmlformats.org/drawingml/2006/main">
            <a:off x="6248400" y="2267712"/>
            <a:ext cx="5074920" cy="2286000"/>
          </a:xfrm>
          <a:prstGeom xmlns:a="http://schemas.openxmlformats.org/drawingml/2006/main" prst="roundRect">
            <a:avLst/>
          </a:prstGeom>
          <a:solidFill xmlns:a="http://schemas.openxmlformats.org/drawingml/2006/main">
            <a:srgbClr val="E5F4EF"/>
          </a:solidFill>
          <a:ln xmlns:a="http://schemas.openxmlformats.org/drawingml/2006/main" w="12700">
            <a:solidFill>
              <a:srgbClr val="14807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28016" tIns="91440" rIns="109728" bIns="73152" anchor="t"/>
          <a:lstStyle xmlns:a="http://schemas.openxmlformats.org/drawingml/2006/main"/>
          <a:p xmlns:a="http://schemas.openxmlformats.org/drawingml/2006/main">
            <a:pPr algn="l">
              <a:buNone/>
            </a:pPr>
            <a:r>
              <a:rPr sz="2400" b="1">
                <a:solidFill>
                  <a:srgbClr val="148071"/>
                </a:solidFill>
                <a:latin typeface="Arial"/>
                <a:ea typeface="Arial"/>
                <a:cs typeface="Arial"/>
              </a:rPr>
              <a:t>Random Forest</a:t>
            </a:r>
          </a:p>
          <a:p xmlns:a="http://schemas.openxmlformats.org/drawingml/2006/main">
            <a:pPr algn="l">
              <a:buNone/>
            </a:pPr>
            <a:r>
              <a:rPr sz="1600">
                <a:solidFill>
                  <a:srgbClr val="1F2A36"/>
                </a:solidFill>
                <a:latin typeface="Arial"/>
                <a:ea typeface="Arial"/>
                <a:cs typeface="Arial"/>
              </a:rPr>
              <a:t>• Dùng 30 decision tree, maxDepth = 6, seed = 42.</a:t>
            </a:r>
          </a:p>
          <a:p xmlns:a="http://schemas.openxmlformats.org/drawingml/2006/main">
            <a:pPr algn="l">
              <a:buNone/>
            </a:pPr>
            <a:r>
              <a:rPr sz="1600">
                <a:solidFill>
                  <a:srgbClr val="1F2A36"/>
                </a:solidFill>
                <a:latin typeface="Arial"/>
                <a:ea typeface="Arial"/>
                <a:cs typeface="Arial"/>
              </a:rPr>
              <a:t>• Một order đi qua từng cây và rơi vào các leaf.</a:t>
            </a:r>
          </a:p>
          <a:p xmlns:a="http://schemas.openxmlformats.org/drawingml/2006/main">
            <a:pPr algn="l">
              <a:buNone/>
            </a:pPr>
            <a:r>
              <a:rPr sz="1600">
                <a:solidFill>
                  <a:srgbClr val="1F2A36"/>
                </a:solidFill>
                <a:latin typeface="Arial"/>
                <a:ea typeface="Arial"/>
                <a:cs typeface="Arial"/>
              </a:rPr>
              <a:t>• Tổng hợp điểm lớp trễ / không trễ để ra probability_late.</a:t>
            </a:r>
          </a:p>
        </p:txBody>
      </p:sp>
      <p:sp>
        <p:nvSpPr>
          <p:cNvPr id="21" name="Rectangle 20">
            <a:extLst xmlns:a="http://schemas.openxmlformats.org/drawingml/2006/main">
              <a:ext uri="{FF2B5EF4-FFF2-40B4-BE49-F238E27FC236}">
                <a16:creationId xmlns:a16="http://schemas.microsoft.com/office/drawing/2014/main" id="{202A63BC-9928-42C0-AAA8-DA477F431354}"/>
              </a:ext>
            </a:extLst>
          </p:cNvPr>
          <p:cNvSpPr>
            <a:spLocks xmlns:a="http://schemas.openxmlformats.org/drawingml/2006/main" noGrp="1"/>
          </p:cNvSpPr>
          <p:nvPr/>
        </p:nvSpPr>
        <p:spPr>
          <a:xfrm xmlns:a="http://schemas.openxmlformats.org/drawingml/2006/main">
            <a:off x="6601968" y="4005072"/>
            <a:ext cx="4389120" cy="347472"/>
          </a:xfrm>
          <a:prstGeom xmlns:a="http://schemas.openxmlformats.org/drawingml/2006/main" prst="rect">
            <a:avLst/>
          </a:prstGeom>
          <a:solidFill xmlns:a="http://schemas.openxmlformats.org/drawingml/2006/main">
            <a:srgbClr val="F8FFFD"/>
          </a:solidFill>
          <a:ln xmlns:a="http://schemas.openxmlformats.org/drawingml/2006/main" w="12700">
            <a:solidFill>
              <a:srgbClr val="B7DBD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t"/>
          <a:lstStyle xmlns:a="http://schemas.openxmlformats.org/drawingml/2006/main"/>
          <a:p xmlns:a="http://schemas.openxmlformats.org/drawingml/2006/main">
            <a:pPr algn="ctr">
              <a:buNone/>
            </a:pPr>
            <a:r>
              <a:rPr sz="1400" b="1">
                <a:solidFill>
                  <a:srgbClr val="0B6155"/>
                </a:solidFill>
                <a:latin typeface="Arial"/>
                <a:ea typeface="Arial"/>
                <a:cs typeface="Arial"/>
              </a:rPr>
              <a:t>probability_late = raw[1] / (raw[0] + raw[1])</a:t>
            </a:r>
          </a:p>
        </p:txBody>
      </p:sp>
      <p:sp>
        <p:nvSpPr>
          <p:cNvPr id="22" name="Rounded Rectangle 21">
            <a:extLst xmlns:a="http://schemas.openxmlformats.org/drawingml/2006/main">
              <a:ext uri="{FF2B5EF4-FFF2-40B4-BE49-F238E27FC236}">
                <a16:creationId xmlns:a16="http://schemas.microsoft.com/office/drawing/2014/main" id="{812D82AB-971F-4D67-A0B7-2B773A5DBD3F}"/>
              </a:ext>
            </a:extLst>
          </p:cNvPr>
          <p:cNvSpPr>
            <a:spLocks xmlns:a="http://schemas.openxmlformats.org/drawingml/2006/main" noGrp="1"/>
          </p:cNvSpPr>
          <p:nvPr/>
        </p:nvSpPr>
        <p:spPr>
          <a:xfrm xmlns:a="http://schemas.openxmlformats.org/drawingml/2006/main">
            <a:off x="1097280" y="5065776"/>
            <a:ext cx="10012680" cy="621792"/>
          </a:xfrm>
          <a:prstGeom xmlns:a="http://schemas.openxmlformats.org/drawingml/2006/main" prst="roundRect">
            <a:avLst/>
          </a:prstGeom>
          <a:solidFill xmlns:a="http://schemas.openxmlformats.org/drawingml/2006/main">
            <a:srgbClr val="E9F2FB"/>
          </a:solidFill>
          <a:ln xmlns:a="http://schemas.openxmlformats.org/drawingml/2006/main" w="12700">
            <a:solidFill>
              <a:srgbClr val="C6D7E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250" b="1">
                <a:solidFill>
                  <a:srgbClr val="002F6C"/>
                </a:solidFill>
                <a:latin typeface="Arial"/>
                <a:ea typeface="Arial"/>
                <a:cs typeface="Arial"/>
              </a:rPr>
              <a:t>Cùng cách dùng trong bài:</a:t>
            </a:r>
          </a:p>
          <a:p xmlns:a="http://schemas.openxmlformats.org/drawingml/2006/main">
            <a:pPr algn="ctr">
              <a:buNone/>
            </a:pPr>
            <a:r>
              <a:rPr sz="1250" b="1">
                <a:solidFill>
                  <a:srgbClr val="002F6C"/>
                </a:solidFill>
                <a:latin typeface="Arial"/>
                <a:ea typeface="Arial"/>
                <a:cs typeface="Arial"/>
              </a:rPr>
              <a:t>probability_late ≥ 0,094  →  cảnh báo nguy cơ trễ</a:t>
            </a:r>
          </a:p>
          <a:p xmlns:a="http://schemas.openxmlformats.org/drawingml/2006/main">
            <a:pPr algn="ctr">
              <a:buNone/>
            </a:pPr>
            <a:r>
              <a:rPr sz="1250" b="1">
                <a:solidFill>
                  <a:srgbClr val="002F6C"/>
                </a:solidFill>
                <a:latin typeface="Arial"/>
                <a:ea typeface="Arial"/>
                <a:cs typeface="Arial"/>
              </a:rPr>
              <a:t>thấp hơn 0,094  →  không cảnh báo</a:t>
            </a:r>
          </a:p>
        </p:txBody>
      </p:sp>
      <p:sp>
        <p:nvSpPr>
          <p:cNvPr id="23" name="Rounded Rectangle 22">
            <a:extLst xmlns:a="http://schemas.openxmlformats.org/drawingml/2006/main">
              <a:ext uri="{FF2B5EF4-FFF2-40B4-BE49-F238E27FC236}">
                <a16:creationId xmlns:a16="http://schemas.microsoft.com/office/drawing/2014/main" id="{BCA16C40-B53C-44FD-A0F0-256F2A11DBC7}"/>
              </a:ext>
            </a:extLst>
          </p:cNvPr>
          <p:cNvSpPr>
            <a:spLocks xmlns:a="http://schemas.openxmlformats.org/drawingml/2006/main" noGrp="1"/>
          </p:cNvSpPr>
          <p:nvPr/>
        </p:nvSpPr>
        <p:spPr>
          <a:xfrm xmlns:a="http://schemas.openxmlformats.org/drawingml/2006/main">
            <a:off x="1874519" y="5897880"/>
            <a:ext cx="8503920" cy="310896"/>
          </a:xfrm>
          <a:prstGeom xmlns:a="http://schemas.openxmlformats.org/drawingml/2006/main" prst="roundRect">
            <a:avLst/>
          </a:prstGeom>
          <a:solidFill xmlns:a="http://schemas.openxmlformats.org/drawingml/2006/main">
            <a:srgbClr val="FFF8E9"/>
          </a:solidFill>
          <a:ln xmlns:a="http://schemas.openxmlformats.org/drawingml/2006/main" w="12700">
            <a:solidFill>
              <a:srgbClr val="F1CD8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000" b="0">
                <a:solidFill>
                  <a:srgbClr val="806118"/>
                </a:solidFill>
                <a:latin typeface="Arial"/>
                <a:ea typeface="Arial"/>
                <a:cs typeface="Arial"/>
              </a:rPr>
              <a:t>Lưu ý: Logistic Regression và Random Forest vẫn được fit() như cấu hình đã khóa. F1 chỉ dùng để đánh giá và chọn common threshold/model trên validation.</a:t>
            </a:r>
          </a:p>
        </p:txBody>
      </p:sp>
    </p:spTree>
    <p:extLst>
      <p:ext uri="{BB962C8B-B14F-4D97-AF65-F5344CB8AC3E}">
        <p14:creationId xmlns:p14="http://schemas.microsoft.com/office/powerpoint/2010/main" val="60652024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AFA1262-B9E8-4D7F-A1EA-D219E5201FA6}"/>
              </a:ext>
            </a:extLst>
          </p:cNvPr>
          <p:cNvSpPr>
            <a:spLocks xmlns:a="http://schemas.openxmlformats.org/drawingml/2006/main" noGrp="1"/>
          </p:cNvSpPr>
          <p:nvPr/>
        </p:nvSpPr>
        <p:spPr>
          <a:xfrm xmlns:a="http://schemas.openxmlformats.org/drawingml/2006/main">
            <a:off x="658368" y="210312"/>
            <a:ext cx="1572768" cy="256032"/>
          </a:xfrm>
          <a:prstGeom xmlns:a="http://schemas.openxmlformats.org/drawingml/2006/main" prst="rect">
            <a:avLst/>
          </a:prstGeom>
          <a:solidFill xmlns:a="http://schemas.openxmlformats.org/drawingml/2006/main">
            <a:srgbClr val="002F6C"/>
          </a:solidFill>
          <a:ln xmlns:a="http://schemas.openxmlformats.org/drawingml/2006/main">
            <a:solidFill>
              <a:srgbClr val="002F6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750" b="1">
                <a:solidFill>
                  <a:srgbClr val="FFFFFF"/>
                </a:solidFill>
                <a:latin typeface="Arial"/>
                <a:ea typeface="Arial"/>
                <a:cs typeface="Arial"/>
              </a:rPr>
              <a:t>AUC &amp; THRESHOLD</a:t>
            </a:r>
          </a:p>
        </p:txBody>
      </p:sp>
      <p:sp>
        <p:nvSpPr>
          <p:cNvPr id="3" name="Right Triangle 2">
            <a:extLst xmlns:a="http://schemas.openxmlformats.org/drawingml/2006/main">
              <a:ext uri="{FF2B5EF4-FFF2-40B4-BE49-F238E27FC236}">
                <a16:creationId xmlns:a16="http://schemas.microsoft.com/office/drawing/2014/main" id="{373C748D-377F-461A-84D5-29B821FE7460}"/>
              </a:ext>
            </a:extLst>
          </p:cNvPr>
          <p:cNvSpPr>
            <a:spLocks xmlns:a="http://schemas.openxmlformats.org/drawingml/2006/main" noGrp="1"/>
          </p:cNvSpPr>
          <p:nvPr/>
        </p:nvSpPr>
        <p:spPr>
          <a:xfrm xmlns:a="http://schemas.openxmlformats.org/drawingml/2006/main" rot="10800000">
            <a:off x="2139696" y="210312"/>
            <a:ext cx="384048" cy="256032"/>
          </a:xfrm>
          <a:prstGeom xmlns:a="http://schemas.openxmlformats.org/drawingml/2006/main" prst="rtTriangle">
            <a:avLst/>
          </a:prstGeom>
          <a:solidFill xmlns:a="http://schemas.openxmlformats.org/drawingml/2006/main">
            <a:srgbClr val="F0A627"/>
          </a:solidFill>
          <a:ln xmlns:a="http://schemas.openxmlformats.org/drawingml/2006/main">
            <a:solidFill>
              <a:srgbClr val="F0A62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578962D-8795-4C56-9E37-1B0DD6E7EFAD}"/>
              </a:ext>
            </a:extLst>
          </p:cNvPr>
          <p:cNvSpPr>
            <a:spLocks xmlns:a="http://schemas.openxmlformats.org/drawingml/2006/main" noGrp="1"/>
          </p:cNvSpPr>
          <p:nvPr/>
        </p:nvSpPr>
        <p:spPr>
          <a:xfrm xmlns:a="http://schemas.openxmlformats.org/drawingml/2006/main">
            <a:off x="658368" y="521207"/>
            <a:ext cx="10789920" cy="411480"/>
          </a:xfrm>
          <a:prstGeom xmlns:a="http://schemas.openxmlformats.org/drawingml/2006/main" prst="rect">
            <a:avLst/>
          </a:prstGeom>
          <a:noFill xmlns:a="http://schemas.openxmlformats.org/drawingml/2006/main"/>
        </p:spPr>
        <p:txBody>
          <a:bodyPr xmlns:a="http://schemas.openxmlformats.org/drawingml/2006/main" wrap="none" lIns="36576" tIns="18288" rIns="36576" bIns="18288" anchor="t">
            <a:spAutoFit/>
          </a:bodyPr>
          <a:lstStyle xmlns:a="http://schemas.openxmlformats.org/drawingml/2006/main"/>
          <a:p xmlns:a="http://schemas.openxmlformats.org/drawingml/2006/main">
            <a:pPr algn="l">
              <a:buNone/>
            </a:pPr>
            <a:r>
              <a:rPr sz="1950" b="1">
                <a:solidFill>
                  <a:srgbClr val="0057A6"/>
                </a:solidFill>
                <a:latin typeface="Arial"/>
                <a:ea typeface="Arial"/>
                <a:cs typeface="Arial"/>
              </a:rPr>
              <a:t>AUC đánh giá xếp hạng, threshold chuyển điểm thành cảnh báo</a:t>
            </a:r>
          </a:p>
        </p:txBody>
      </p:sp>
      <p:sp>
        <p:nvSpPr>
          <p:cNvPr id="5" name="Rectangle 4">
            <a:extLst xmlns:a="http://schemas.openxmlformats.org/drawingml/2006/main">
              <a:ext uri="{FF2B5EF4-FFF2-40B4-BE49-F238E27FC236}">
                <a16:creationId xmlns:a16="http://schemas.microsoft.com/office/drawing/2014/main" id="{78652B3F-F04F-4CE8-87D0-8A2CECEBF561}"/>
              </a:ext>
            </a:extLst>
          </p:cNvPr>
          <p:cNvSpPr>
            <a:spLocks xmlns:a="http://schemas.openxmlformats.org/drawingml/2006/main" noGrp="1"/>
          </p:cNvSpPr>
          <p:nvPr/>
        </p:nvSpPr>
        <p:spPr>
          <a:xfrm xmlns:a="http://schemas.openxmlformats.org/drawingml/2006/main">
            <a:off x="658368" y="978408"/>
            <a:ext cx="10744200" cy="10972"/>
          </a:xfrm>
          <a:prstGeom xmlns:a="http://schemas.openxmlformats.org/drawingml/2006/main" prst="rect">
            <a:avLst/>
          </a:prstGeom>
          <a:solidFill xmlns:a="http://schemas.openxmlformats.org/drawingml/2006/main">
            <a:srgbClr val="F0A627"/>
          </a:solidFill>
          <a:ln xmlns:a="http://schemas.openxmlformats.org/drawingml/2006/main">
            <a:solidFill>
              <a:srgbClr val="F0A62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49C737F-31EC-4BF2-84BC-6DC4DB0B6B20}"/>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none" lIns="36576" tIns="18288" rIns="36576" bIns="18288" anchor="t">
            <a:spAutoFit/>
          </a:bodyPr>
          <a:lstStyle xmlns:a="http://schemas.openxmlformats.org/drawingml/2006/main"/>
          <a:p xmlns:a="http://schemas.openxmlformats.org/drawingml/2006/main">
            <a:pPr algn="ctr">
              <a:buNone/>
            </a:pPr>
            <a:r>
              <a:rPr sz="600">
                <a:solidFill>
                  <a:srgbClr val="A0A0A0"/>
                </a:solidFill>
                <a:latin typeface="Arial"/>
                <a:ea typeface="Arial"/>
                <a:cs typeface="Arial"/>
              </a:rPr>
              <a:t>10</a:t>
            </a:r>
          </a:p>
        </p:txBody>
      </p:sp>
      <p:sp>
        <p:nvSpPr>
          <p:cNvPr id="11" name="Rounded Rectangle 10">
            <a:extLst xmlns:a="http://schemas.openxmlformats.org/drawingml/2006/main">
              <a:ext uri="{FF2B5EF4-FFF2-40B4-BE49-F238E27FC236}">
                <a16:creationId xmlns:a16="http://schemas.microsoft.com/office/drawing/2014/main" id="{67B128A3-8607-4A25-B211-29287F71B0F8}"/>
              </a:ext>
            </a:extLst>
          </p:cNvPr>
          <p:cNvSpPr>
            <a:spLocks xmlns:a="http://schemas.openxmlformats.org/drawingml/2006/main" noGrp="1"/>
          </p:cNvSpPr>
          <p:nvPr/>
        </p:nvSpPr>
        <p:spPr>
          <a:xfrm xmlns:a="http://schemas.openxmlformats.org/drawingml/2006/main">
            <a:off x="868680" y="1298448"/>
            <a:ext cx="3611880" cy="2514600"/>
          </a:xfrm>
          <a:prstGeom xmlns:a="http://schemas.openxmlformats.org/drawingml/2006/main" prst="roundRect">
            <a:avLst/>
          </a:prstGeom>
          <a:solidFill xmlns:a="http://schemas.openxmlformats.org/drawingml/2006/main">
            <a:srgbClr val="E8F3FF"/>
          </a:solidFill>
          <a:ln xmlns:a="http://schemas.openxmlformats.org/drawingml/2006/main" w="12700">
            <a:solidFill>
              <a:srgbClr val="0057A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28016" tIns="91440" rIns="109728" bIns="73152" anchor="t"/>
          <a:lstStyle xmlns:a="http://schemas.openxmlformats.org/drawingml/2006/main"/>
          <a:p xmlns:a="http://schemas.openxmlformats.org/drawingml/2006/main">
            <a:pPr algn="l">
              <a:buNone/>
            </a:pPr>
            <a:r>
              <a:rPr sz="2000" b="1">
                <a:solidFill>
                  <a:srgbClr val="0057A6"/>
                </a:solidFill>
                <a:latin typeface="Arial"/>
                <a:ea typeface="Arial"/>
                <a:cs typeface="Arial"/>
              </a:rPr>
              <a:t>AUC là gì?</a:t>
            </a:r>
          </a:p>
          <a:p xmlns:a="http://schemas.openxmlformats.org/drawingml/2006/main">
            <a:pPr algn="l">
              <a:buNone/>
            </a:pPr>
            <a:r>
              <a:rPr sz="1400">
                <a:solidFill>
                  <a:srgbClr val="1F2A36"/>
                </a:solidFill>
                <a:latin typeface="Arial"/>
                <a:ea typeface="Arial"/>
                <a:cs typeface="Arial"/>
              </a:rPr>
              <a:t>• Đo khả năng xếp đơn trễ lên điểm rủi ro cao hơn đơn không trễ.</a:t>
            </a:r>
          </a:p>
          <a:p xmlns:a="http://schemas.openxmlformats.org/drawingml/2006/main">
            <a:pPr algn="l">
              <a:buNone/>
            </a:pPr>
            <a:r>
              <a:rPr sz="1400">
                <a:solidFill>
                  <a:srgbClr val="1F2A36"/>
                </a:solidFill>
                <a:latin typeface="Arial"/>
                <a:ea typeface="Arial"/>
                <a:cs typeface="Arial"/>
              </a:rPr>
              <a:t>• AUC = 0,5: gần như baseline/ngẫu nhiên.</a:t>
            </a:r>
          </a:p>
          <a:p xmlns:a="http://schemas.openxmlformats.org/drawingml/2006/main">
            <a:pPr algn="l">
              <a:buNone/>
            </a:pPr>
            <a:r>
              <a:rPr sz="1400">
                <a:solidFill>
                  <a:srgbClr val="1F2A36"/>
                </a:solidFill>
                <a:latin typeface="Arial"/>
                <a:ea typeface="Arial"/>
                <a:cs typeface="Arial"/>
              </a:rPr>
              <a:t>• AUC càng cao: model xếp hạng tốt hơn qua nhiều ngưỡng.</a:t>
            </a:r>
          </a:p>
        </p:txBody>
      </p:sp>
      <p:sp>
        <p:nvSpPr>
          <p:cNvPr id="12" name="Rectangle 11">
            <a:extLst xmlns:a="http://schemas.openxmlformats.org/drawingml/2006/main">
              <a:ext uri="{FF2B5EF4-FFF2-40B4-BE49-F238E27FC236}">
                <a16:creationId xmlns:a16="http://schemas.microsoft.com/office/drawing/2014/main" id="{CD04A140-3BF1-49D3-8CD5-E374F3D2AE65}"/>
              </a:ext>
            </a:extLst>
          </p:cNvPr>
          <p:cNvSpPr>
            <a:spLocks xmlns:a="http://schemas.openxmlformats.org/drawingml/2006/main" noGrp="1"/>
          </p:cNvSpPr>
          <p:nvPr/>
        </p:nvSpPr>
        <p:spPr>
          <a:xfrm xmlns:a="http://schemas.openxmlformats.org/drawingml/2006/main">
            <a:off x="1325880" y="4160520"/>
            <a:ext cx="2788920" cy="1234440"/>
          </a:xfrm>
          <a:prstGeom xmlns:a="http://schemas.openxmlformats.org/drawingml/2006/main" prst="rect">
            <a:avLst/>
          </a:prstGeom>
          <a:noFill xmlns:a="http://schemas.openxmlformats.org/drawingml/2006/main"/>
          <a:ln xmlns:a="http://schemas.openxmlformats.org/drawingml/2006/main" w="12700">
            <a:solidFill>
              <a:srgbClr val="D5E2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Connector 12">
            <a:extLst xmlns:a="http://schemas.openxmlformats.org/drawingml/2006/main">
              <a:ext uri="{FF2B5EF4-FFF2-40B4-BE49-F238E27FC236}">
                <a16:creationId xmlns:a16="http://schemas.microsoft.com/office/drawing/2014/main" id="{0BDC6658-8D86-4BED-91DC-0A05749B5877}"/>
              </a:ext>
            </a:extLst>
          </p:cNvPr>
          <p:cNvSpPr>
            <a:spLocks xmlns:a="http://schemas.openxmlformats.org/drawingml/2006/main" noGrp="1"/>
          </p:cNvSpPr>
          <p:nvPr/>
        </p:nvSpPr>
        <p:spPr>
          <a:xfrm xmlns:a="http://schemas.openxmlformats.org/drawingml/2006/main">
            <a:off x="1600200" y="5138928"/>
            <a:ext cx="2194560" cy="0"/>
          </a:xfrm>
          <a:prstGeom xmlns:a="http://schemas.openxmlformats.org/drawingml/2006/main" prst="line">
            <a:avLst/>
          </a:prstGeom>
          <a:ln xmlns:a="http://schemas.openxmlformats.org/drawingml/2006/main" w="12700">
            <a:solidFill>
              <a:srgbClr val="7F8A9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35661965-B7C9-4E8D-B286-525F8EC90DF1}"/>
              </a:ext>
            </a:extLst>
          </p:cNvPr>
          <p:cNvSpPr>
            <a:spLocks xmlns:a="http://schemas.openxmlformats.org/drawingml/2006/main" noGrp="1"/>
          </p:cNvSpPr>
          <p:nvPr/>
        </p:nvSpPr>
        <p:spPr>
          <a:xfrm xmlns:a="http://schemas.openxmlformats.org/drawingml/2006/main" flipV="1">
            <a:off x="1600200" y="4389120"/>
            <a:ext cx="0" cy="749808"/>
          </a:xfrm>
          <a:prstGeom xmlns:a="http://schemas.openxmlformats.org/drawingml/2006/main" prst="line">
            <a:avLst/>
          </a:prstGeom>
          <a:ln xmlns:a="http://schemas.openxmlformats.org/drawingml/2006/main" w="12700">
            <a:solidFill>
              <a:srgbClr val="7F8A9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77689649-73B2-4B76-B7CB-F1E4A6DE7EE9}"/>
              </a:ext>
            </a:extLst>
          </p:cNvPr>
          <p:cNvSpPr>
            <a:spLocks xmlns:a="http://schemas.openxmlformats.org/drawingml/2006/main" noGrp="1"/>
          </p:cNvSpPr>
          <p:nvPr/>
        </p:nvSpPr>
        <p:spPr>
          <a:xfrm xmlns:a="http://schemas.openxmlformats.org/drawingml/2006/main" flipV="1">
            <a:off x="1600200" y="4389120"/>
            <a:ext cx="2194560" cy="749808"/>
          </a:xfrm>
          <a:prstGeom xmlns:a="http://schemas.openxmlformats.org/drawingml/2006/main" prst="line">
            <a:avLst/>
          </a:prstGeom>
          <a:ln xmlns:a="http://schemas.openxmlformats.org/drawingml/2006/main" w="12700">
            <a:solidFill>
              <a:srgbClr val="B8C1CB"/>
            </a:solidFill>
            <a:prstDash val="dash"/>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82344C41-C532-4A30-A464-21E6881B17BD}"/>
              </a:ext>
            </a:extLst>
          </p:cNvPr>
          <p:cNvSpPr>
            <a:spLocks xmlns:a="http://schemas.openxmlformats.org/drawingml/2006/main" noGrp="1"/>
          </p:cNvSpPr>
          <p:nvPr/>
        </p:nvSpPr>
        <p:spPr>
          <a:xfrm xmlns:a="http://schemas.openxmlformats.org/drawingml/2006/main" flipV="1">
            <a:off x="1600200" y="4617720"/>
            <a:ext cx="548640" cy="521208"/>
          </a:xfrm>
          <a:prstGeom xmlns:a="http://schemas.openxmlformats.org/drawingml/2006/main" prst="line">
            <a:avLst/>
          </a:prstGeom>
          <a:ln xmlns:a="http://schemas.openxmlformats.org/drawingml/2006/main" w="25400">
            <a:solidFill>
              <a:srgbClr val="14807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D781FD5C-839F-4EBB-880C-26E3D6849D2B}"/>
              </a:ext>
            </a:extLst>
          </p:cNvPr>
          <p:cNvSpPr>
            <a:spLocks xmlns:a="http://schemas.openxmlformats.org/drawingml/2006/main" noGrp="1"/>
          </p:cNvSpPr>
          <p:nvPr/>
        </p:nvSpPr>
        <p:spPr>
          <a:xfrm xmlns:a="http://schemas.openxmlformats.org/drawingml/2006/main" flipV="1">
            <a:off x="2148840" y="4443984"/>
            <a:ext cx="777240" cy="173736"/>
          </a:xfrm>
          <a:prstGeom xmlns:a="http://schemas.openxmlformats.org/drawingml/2006/main" prst="line">
            <a:avLst/>
          </a:prstGeom>
          <a:ln xmlns:a="http://schemas.openxmlformats.org/drawingml/2006/main" w="25400">
            <a:solidFill>
              <a:srgbClr val="14807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EB449E28-F8EB-4E7B-9474-6C4241AE85B0}"/>
              </a:ext>
            </a:extLst>
          </p:cNvPr>
          <p:cNvSpPr>
            <a:spLocks xmlns:a="http://schemas.openxmlformats.org/drawingml/2006/main" noGrp="1"/>
          </p:cNvSpPr>
          <p:nvPr/>
        </p:nvSpPr>
        <p:spPr>
          <a:xfrm xmlns:a="http://schemas.openxmlformats.org/drawingml/2006/main" flipV="1">
            <a:off x="2926080" y="4389120"/>
            <a:ext cx="868680" cy="54864"/>
          </a:xfrm>
          <a:prstGeom xmlns:a="http://schemas.openxmlformats.org/drawingml/2006/main" prst="line">
            <a:avLst/>
          </a:prstGeom>
          <a:ln xmlns:a="http://schemas.openxmlformats.org/drawingml/2006/main" w="25400">
            <a:solidFill>
              <a:srgbClr val="14807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TextBox 18">
            <a:extLst xmlns:a="http://schemas.openxmlformats.org/drawingml/2006/main">
              <a:ext uri="{FF2B5EF4-FFF2-40B4-BE49-F238E27FC236}">
                <a16:creationId xmlns:a16="http://schemas.microsoft.com/office/drawing/2014/main" id="{9AE12AD9-6164-4B88-9EC4-58DFCA048C0D}"/>
              </a:ext>
            </a:extLst>
          </p:cNvPr>
          <p:cNvSpPr>
            <a:spLocks xmlns:a="http://schemas.openxmlformats.org/drawingml/2006/main" noGrp="1"/>
          </p:cNvSpPr>
          <p:nvPr/>
        </p:nvSpPr>
        <p:spPr>
          <a:xfrm xmlns:a="http://schemas.openxmlformats.org/drawingml/2006/main">
            <a:off x="1212414" y="5422392"/>
            <a:ext cx="3024995" cy="175433"/>
          </a:xfrm>
          <a:prstGeom xmlns:a="http://schemas.openxmlformats.org/drawingml/2006/main" prst="rect">
            <a:avLst/>
          </a:prstGeom>
          <a:noFill xmlns:a="http://schemas.openxmlformats.org/drawingml/2006/main"/>
        </p:spPr>
        <p:txBody>
          <a:bodyPr xmlns:a="http://schemas.openxmlformats.org/drawingml/2006/main" wrap="none" lIns="36576" tIns="18288" rIns="36576" bIns="18288" anchor="t">
            <a:spAutoFit/>
          </a:bodyPr>
          <a:lstStyle xmlns:a="http://schemas.openxmlformats.org/drawingml/2006/main"/>
          <a:p xmlns:a="http://schemas.openxmlformats.org/drawingml/2006/main">
            <a:pPr algn="ctr">
              <a:buNone/>
            </a:pPr>
            <a:r>
              <a:rPr sz="900" b="1">
                <a:latin typeface="Arial"/>
                <a:ea typeface="Arial"/>
                <a:cs typeface="Arial"/>
              </a:rPr>
              <a:t>ROC curve: cao hơn đường chéo → xếp hạng tốt hơn</a:t>
            </a:r>
          </a:p>
        </p:txBody>
      </p:sp>
      <p:sp>
        <p:nvSpPr>
          <p:cNvPr id="20" name="Rounded Rectangle 19">
            <a:extLst xmlns:a="http://schemas.openxmlformats.org/drawingml/2006/main">
              <a:ext uri="{FF2B5EF4-FFF2-40B4-BE49-F238E27FC236}">
                <a16:creationId xmlns:a16="http://schemas.microsoft.com/office/drawing/2014/main" id="{48CA4E40-3B00-4669-A32D-64ECA9144D67}"/>
              </a:ext>
            </a:extLst>
          </p:cNvPr>
          <p:cNvSpPr>
            <a:spLocks xmlns:a="http://schemas.openxmlformats.org/drawingml/2006/main" noGrp="1"/>
          </p:cNvSpPr>
          <p:nvPr/>
        </p:nvSpPr>
        <p:spPr>
          <a:xfrm xmlns:a="http://schemas.openxmlformats.org/drawingml/2006/main">
            <a:off x="4645152" y="1298448"/>
            <a:ext cx="2971800" cy="2514600"/>
          </a:xfrm>
          <a:prstGeom xmlns:a="http://schemas.openxmlformats.org/drawingml/2006/main" prst="roundRect">
            <a:avLst/>
          </a:prstGeom>
          <a:solidFill xmlns:a="http://schemas.openxmlformats.org/drawingml/2006/main">
            <a:srgbClr val="FFF4D9"/>
          </a:solidFill>
          <a:ln xmlns:a="http://schemas.openxmlformats.org/drawingml/2006/main" w="12700">
            <a:solidFill>
              <a:srgbClr val="A4771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28016" tIns="91440" rIns="109728" bIns="73152" anchor="t"/>
          <a:lstStyle xmlns:a="http://schemas.openxmlformats.org/drawingml/2006/main"/>
          <a:p xmlns:a="http://schemas.openxmlformats.org/drawingml/2006/main">
            <a:pPr algn="l">
              <a:buNone/>
            </a:pPr>
            <a:r>
              <a:rPr sz="2000" b="1">
                <a:solidFill>
                  <a:srgbClr val="A47712"/>
                </a:solidFill>
                <a:latin typeface="Arial"/>
                <a:ea typeface="Arial"/>
                <a:cs typeface="Arial"/>
              </a:rPr>
              <a:t>Threshold dùng thế nào?</a:t>
            </a:r>
          </a:p>
          <a:p xmlns:a="http://schemas.openxmlformats.org/drawingml/2006/main">
            <a:pPr algn="l">
              <a:buNone/>
            </a:pPr>
            <a:r>
              <a:rPr sz="1400">
                <a:solidFill>
                  <a:srgbClr val="1F2A36"/>
                </a:solidFill>
                <a:latin typeface="Arial"/>
                <a:ea typeface="Arial"/>
                <a:cs typeface="Arial"/>
              </a:rPr>
              <a:t>• Model tính probability_late trước.</a:t>
            </a:r>
          </a:p>
          <a:p xmlns:a="http://schemas.openxmlformats.org/drawingml/2006/main">
            <a:pPr algn="l">
              <a:buNone/>
            </a:pPr>
            <a:r>
              <a:rPr sz="1400">
                <a:solidFill>
                  <a:srgbClr val="1F2A36"/>
                </a:solidFill>
                <a:latin typeface="Arial"/>
                <a:ea typeface="Arial"/>
                <a:cs typeface="Arial"/>
              </a:rPr>
              <a:t>• Validation chọn common threshold 0,094 bằng F1.</a:t>
            </a:r>
          </a:p>
          <a:p xmlns:a="http://schemas.openxmlformats.org/drawingml/2006/main">
            <a:pPr algn="l">
              <a:buNone/>
            </a:pPr>
            <a:r>
              <a:rPr sz="1400">
                <a:solidFill>
                  <a:srgbClr val="1F2A36"/>
                </a:solidFill>
                <a:latin typeface="Arial"/>
                <a:ea typeface="Arial"/>
                <a:cs typeface="Arial"/>
              </a:rPr>
              <a:t>• Threshold không phải AUC và không huấn luyện model.</a:t>
            </a:r>
          </a:p>
        </p:txBody>
      </p:sp>
      <p:sp>
        <p:nvSpPr>
          <p:cNvPr id="21" name="Rectangle 20">
            <a:extLst xmlns:a="http://schemas.openxmlformats.org/drawingml/2006/main">
              <a:ext uri="{FF2B5EF4-FFF2-40B4-BE49-F238E27FC236}">
                <a16:creationId xmlns:a16="http://schemas.microsoft.com/office/drawing/2014/main" id="{15FD0B77-DA77-42D7-AE3E-7E7C58D7C8CC}"/>
              </a:ext>
            </a:extLst>
          </p:cNvPr>
          <p:cNvSpPr>
            <a:spLocks xmlns:a="http://schemas.openxmlformats.org/drawingml/2006/main" noGrp="1"/>
          </p:cNvSpPr>
          <p:nvPr/>
        </p:nvSpPr>
        <p:spPr>
          <a:xfrm xmlns:a="http://schemas.openxmlformats.org/drawingml/2006/main">
            <a:off x="4919472" y="4343400"/>
            <a:ext cx="2423160" cy="109728"/>
          </a:xfrm>
          <a:prstGeom xmlns:a="http://schemas.openxmlformats.org/drawingml/2006/main" prst="rect">
            <a:avLst/>
          </a:prstGeom>
          <a:solidFill xmlns:a="http://schemas.openxmlformats.org/drawingml/2006/main">
            <a:srgbClr val="D9E3EE"/>
          </a:solidFill>
          <a:ln xmlns:a="http://schemas.openxmlformats.org/drawingml/2006/main">
            <a:solidFill>
              <a:srgbClr val="D9E3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Isosceles Triangle 21">
            <a:extLst xmlns:a="http://schemas.openxmlformats.org/drawingml/2006/main">
              <a:ext uri="{FF2B5EF4-FFF2-40B4-BE49-F238E27FC236}">
                <a16:creationId xmlns:a16="http://schemas.microsoft.com/office/drawing/2014/main" id="{579A51E1-4AB2-4922-ACE7-553C63F0C009}"/>
              </a:ext>
            </a:extLst>
          </p:cNvPr>
          <p:cNvSpPr>
            <a:spLocks xmlns:a="http://schemas.openxmlformats.org/drawingml/2006/main" noGrp="1"/>
          </p:cNvSpPr>
          <p:nvPr/>
        </p:nvSpPr>
        <p:spPr>
          <a:xfrm xmlns:a="http://schemas.openxmlformats.org/drawingml/2006/main">
            <a:off x="5056632" y="4133087"/>
            <a:ext cx="201168" cy="201168"/>
          </a:xfrm>
          <a:prstGeom xmlns:a="http://schemas.openxmlformats.org/drawingml/2006/main" prst="triangle">
            <a:avLst/>
          </a:prstGeom>
          <a:solidFill xmlns:a="http://schemas.openxmlformats.org/drawingml/2006/main">
            <a:srgbClr val="F0A627"/>
          </a:solidFill>
          <a:ln xmlns:a="http://schemas.openxmlformats.org/drawingml/2006/main">
            <a:solidFill>
              <a:srgbClr val="F0A62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29A4AE69-C137-4919-A1B3-1AD8F22390B5}"/>
              </a:ext>
            </a:extLst>
          </p:cNvPr>
          <p:cNvSpPr>
            <a:spLocks xmlns:a="http://schemas.openxmlformats.org/drawingml/2006/main" noGrp="1"/>
          </p:cNvSpPr>
          <p:nvPr/>
        </p:nvSpPr>
        <p:spPr>
          <a:xfrm xmlns:a="http://schemas.openxmlformats.org/drawingml/2006/main">
            <a:off x="4681728" y="4590288"/>
            <a:ext cx="502920" cy="201168"/>
          </a:xfrm>
          <a:prstGeom xmlns:a="http://schemas.openxmlformats.org/drawingml/2006/main" prst="rect">
            <a:avLst/>
          </a:prstGeom>
          <a:noFill xmlns:a="http://schemas.openxmlformats.org/drawingml/2006/main"/>
        </p:spPr>
        <p:txBody>
          <a:bodyPr xmlns:a="http://schemas.openxmlformats.org/drawingml/2006/main" wrap="none" lIns="36576" tIns="18288" rIns="36576" bIns="18288" anchor="t">
            <a:spAutoFit/>
          </a:bodyPr>
          <a:lstStyle xmlns:a="http://schemas.openxmlformats.org/drawingml/2006/main"/>
          <a:p xmlns:a="http://schemas.openxmlformats.org/drawingml/2006/main">
            <a:pPr algn="ctr">
              <a:buNone/>
            </a:pPr>
            <a:r>
              <a:rPr sz="800" b="0">
                <a:solidFill>
                  <a:srgbClr val="444444"/>
                </a:solidFill>
                <a:latin typeface="Arial"/>
                <a:ea typeface="Arial"/>
                <a:cs typeface="Arial"/>
              </a:rPr>
              <a:t>0</a:t>
            </a:r>
          </a:p>
        </p:txBody>
      </p:sp>
      <p:sp>
        <p:nvSpPr>
          <p:cNvPr id="24" name="TextBox 23">
            <a:extLst xmlns:a="http://schemas.openxmlformats.org/drawingml/2006/main">
              <a:ext uri="{FF2B5EF4-FFF2-40B4-BE49-F238E27FC236}">
                <a16:creationId xmlns:a16="http://schemas.microsoft.com/office/drawing/2014/main" id="{2300949B-F4D4-4E00-B76D-17D6AF48B383}"/>
              </a:ext>
            </a:extLst>
          </p:cNvPr>
          <p:cNvSpPr>
            <a:spLocks xmlns:a="http://schemas.openxmlformats.org/drawingml/2006/main" noGrp="1"/>
          </p:cNvSpPr>
          <p:nvPr/>
        </p:nvSpPr>
        <p:spPr>
          <a:xfrm xmlns:a="http://schemas.openxmlformats.org/drawingml/2006/main">
            <a:off x="7150608" y="4590288"/>
            <a:ext cx="502920" cy="201168"/>
          </a:xfrm>
          <a:prstGeom xmlns:a="http://schemas.openxmlformats.org/drawingml/2006/main" prst="rect">
            <a:avLst/>
          </a:prstGeom>
          <a:noFill xmlns:a="http://schemas.openxmlformats.org/drawingml/2006/main"/>
        </p:spPr>
        <p:txBody>
          <a:bodyPr xmlns:a="http://schemas.openxmlformats.org/drawingml/2006/main" wrap="none" lIns="36576" tIns="18288" rIns="36576" bIns="18288" anchor="t">
            <a:spAutoFit/>
          </a:bodyPr>
          <a:lstStyle xmlns:a="http://schemas.openxmlformats.org/drawingml/2006/main"/>
          <a:p xmlns:a="http://schemas.openxmlformats.org/drawingml/2006/main">
            <a:pPr algn="ctr">
              <a:buNone/>
            </a:pPr>
            <a:r>
              <a:rPr sz="800" b="0">
                <a:solidFill>
                  <a:srgbClr val="444444"/>
                </a:solidFill>
                <a:latin typeface="Arial"/>
                <a:ea typeface="Arial"/>
                <a:cs typeface="Arial"/>
              </a:rPr>
              <a:t>1</a:t>
            </a:r>
          </a:p>
        </p:txBody>
      </p:sp>
      <p:sp>
        <p:nvSpPr>
          <p:cNvPr id="25" name="TextBox 24">
            <a:extLst xmlns:a="http://schemas.openxmlformats.org/drawingml/2006/main">
              <a:ext uri="{FF2B5EF4-FFF2-40B4-BE49-F238E27FC236}">
                <a16:creationId xmlns:a16="http://schemas.microsoft.com/office/drawing/2014/main" id="{4B78D42C-C562-49FA-8285-ADB1434048CD}"/>
              </a:ext>
            </a:extLst>
          </p:cNvPr>
          <p:cNvSpPr>
            <a:spLocks xmlns:a="http://schemas.openxmlformats.org/drawingml/2006/main" noGrp="1"/>
          </p:cNvSpPr>
          <p:nvPr/>
        </p:nvSpPr>
        <p:spPr>
          <a:xfrm xmlns:a="http://schemas.openxmlformats.org/drawingml/2006/main">
            <a:off x="5047488" y="3840480"/>
            <a:ext cx="1097280" cy="219456"/>
          </a:xfrm>
          <a:prstGeom xmlns:a="http://schemas.openxmlformats.org/drawingml/2006/main" prst="rect">
            <a:avLst/>
          </a:prstGeom>
          <a:noFill xmlns:a="http://schemas.openxmlformats.org/drawingml/2006/main"/>
        </p:spPr>
        <p:txBody>
          <a:bodyPr xmlns:a="http://schemas.openxmlformats.org/drawingml/2006/main" wrap="none" lIns="36576" tIns="18288" rIns="36576" bIns="18288" anchor="t">
            <a:spAutoFit/>
          </a:bodyPr>
          <a:lstStyle xmlns:a="http://schemas.openxmlformats.org/drawingml/2006/main"/>
          <a:p xmlns:a="http://schemas.openxmlformats.org/drawingml/2006/main">
            <a:pPr algn="l">
              <a:buNone/>
            </a:pPr>
            <a:r>
              <a:rPr sz="1000" b="1">
                <a:solidFill>
                  <a:srgbClr val="A46300"/>
                </a:solidFill>
                <a:latin typeface="Arial"/>
                <a:ea typeface="Arial"/>
                <a:cs typeface="Arial"/>
              </a:rPr>
              <a:t>0,094</a:t>
            </a:r>
          </a:p>
        </p:txBody>
      </p:sp>
      <p:sp>
        <p:nvSpPr>
          <p:cNvPr id="26" name="Rounded Rectangle 25">
            <a:extLst xmlns:a="http://schemas.openxmlformats.org/drawingml/2006/main">
              <a:ext uri="{FF2B5EF4-FFF2-40B4-BE49-F238E27FC236}">
                <a16:creationId xmlns:a16="http://schemas.microsoft.com/office/drawing/2014/main" id="{084FE4A6-EB9D-4D92-9443-A8E09800BC50}"/>
              </a:ext>
            </a:extLst>
          </p:cNvPr>
          <p:cNvSpPr>
            <a:spLocks xmlns:a="http://schemas.openxmlformats.org/drawingml/2006/main" noGrp="1"/>
          </p:cNvSpPr>
          <p:nvPr/>
        </p:nvSpPr>
        <p:spPr>
          <a:xfrm xmlns:a="http://schemas.openxmlformats.org/drawingml/2006/main">
            <a:off x="4892040" y="4919472"/>
            <a:ext cx="2542032" cy="512064"/>
          </a:xfrm>
          <a:prstGeom xmlns:a="http://schemas.openxmlformats.org/drawingml/2006/main" prst="roundRect">
            <a:avLst/>
          </a:prstGeom>
          <a:solidFill xmlns:a="http://schemas.openxmlformats.org/drawingml/2006/main">
            <a:srgbClr val="FFF2D6"/>
          </a:solidFill>
          <a:ln xmlns:a="http://schemas.openxmlformats.org/drawingml/2006/main" w="12700">
            <a:solidFill>
              <a:srgbClr val="F0CA7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100" b="1">
                <a:solidFill>
                  <a:srgbClr val="7B5304"/>
                </a:solidFill>
                <a:latin typeface="Arial"/>
                <a:ea typeface="Arial"/>
                <a:cs typeface="Arial"/>
              </a:rPr>
              <a:t>score ≥ 0,094</a:t>
            </a:r>
          </a:p>
          <a:p xmlns:a="http://schemas.openxmlformats.org/drawingml/2006/main">
            <a:pPr algn="ctr">
              <a:buNone/>
            </a:pPr>
            <a:r>
              <a:rPr sz="1100" b="0">
                <a:solidFill>
                  <a:srgbClr val="7B5304"/>
                </a:solidFill>
                <a:latin typeface="Arial"/>
                <a:ea typeface="Arial"/>
                <a:cs typeface="Arial"/>
              </a:rPr>
              <a:t>→ cảnh báo</a:t>
            </a:r>
          </a:p>
        </p:txBody>
      </p:sp>
      <p:sp>
        <p:nvSpPr>
          <p:cNvPr id="27" name="Rounded Rectangle 26">
            <a:extLst xmlns:a="http://schemas.openxmlformats.org/drawingml/2006/main">
              <a:ext uri="{FF2B5EF4-FFF2-40B4-BE49-F238E27FC236}">
                <a16:creationId xmlns:a16="http://schemas.microsoft.com/office/drawing/2014/main" id="{303A176D-4F43-4D77-A097-92F865A7BF87}"/>
              </a:ext>
            </a:extLst>
          </p:cNvPr>
          <p:cNvSpPr>
            <a:spLocks xmlns:a="http://schemas.openxmlformats.org/drawingml/2006/main" noGrp="1"/>
          </p:cNvSpPr>
          <p:nvPr/>
        </p:nvSpPr>
        <p:spPr>
          <a:xfrm xmlns:a="http://schemas.openxmlformats.org/drawingml/2006/main">
            <a:off x="7818120" y="1298448"/>
            <a:ext cx="3520440" cy="2514600"/>
          </a:xfrm>
          <a:prstGeom xmlns:a="http://schemas.openxmlformats.org/drawingml/2006/main" prst="roundRect">
            <a:avLst/>
          </a:prstGeom>
          <a:solidFill xmlns:a="http://schemas.openxmlformats.org/drawingml/2006/main">
            <a:srgbClr val="E5F4EF"/>
          </a:solidFill>
          <a:ln xmlns:a="http://schemas.openxmlformats.org/drawingml/2006/main" w="12700">
            <a:solidFill>
              <a:srgbClr val="14807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28016" tIns="91440" rIns="109728" bIns="73152" anchor="t"/>
          <a:lstStyle xmlns:a="http://schemas.openxmlformats.org/drawingml/2006/main"/>
          <a:p xmlns:a="http://schemas.openxmlformats.org/drawingml/2006/main">
            <a:pPr algn="l">
              <a:buNone/>
            </a:pPr>
            <a:r>
              <a:rPr sz="2000" b="1">
                <a:solidFill>
                  <a:srgbClr val="148071"/>
                </a:solidFill>
                <a:latin typeface="Arial"/>
                <a:ea typeface="Arial"/>
                <a:cs typeface="Arial"/>
              </a:rPr>
              <a:t>Cách dùng trong bài</a:t>
            </a:r>
          </a:p>
          <a:p xmlns:a="http://schemas.openxmlformats.org/drawingml/2006/main">
            <a:pPr algn="l">
              <a:buNone/>
            </a:pPr>
            <a:r>
              <a:rPr sz="1400">
                <a:solidFill>
                  <a:srgbClr val="1F2A36"/>
                </a:solidFill>
                <a:latin typeface="Arial"/>
                <a:ea typeface="Arial"/>
                <a:cs typeface="Arial"/>
              </a:rPr>
              <a:t>• validation chọn threshold/model bằng F1.</a:t>
            </a:r>
          </a:p>
          <a:p xmlns:a="http://schemas.openxmlformats.org/drawingml/2006/main">
            <a:pPr algn="l">
              <a:buNone/>
            </a:pPr>
            <a:r>
              <a:rPr sz="1400">
                <a:solidFill>
                  <a:srgbClr val="1F2A36"/>
                </a:solidFill>
                <a:latin typeface="Arial"/>
                <a:ea typeface="Arial"/>
                <a:cs typeface="Arial"/>
              </a:rPr>
              <a:t>• train_full huấn luyện lại Pipeline và hai model.</a:t>
            </a:r>
          </a:p>
          <a:p xmlns:a="http://schemas.openxmlformats.org/drawingml/2006/main">
            <a:pPr algn="l">
              <a:buNone/>
            </a:pPr>
            <a:r>
              <a:rPr sz="1400">
                <a:solidFill>
                  <a:srgbClr val="1F2A36"/>
                </a:solidFill>
                <a:latin typeface="Arial"/>
                <a:ea typeface="Arial"/>
                <a:cs typeface="Arial"/>
              </a:rPr>
              <a:t>• test chỉ đánh giá một lần tại 0,094.</a:t>
            </a:r>
          </a:p>
        </p:txBody>
      </p:sp>
      <p:sp>
        <p:nvSpPr>
          <p:cNvPr id="28" name="Rounded Rectangle 27">
            <a:extLst xmlns:a="http://schemas.openxmlformats.org/drawingml/2006/main">
              <a:ext uri="{FF2B5EF4-FFF2-40B4-BE49-F238E27FC236}">
                <a16:creationId xmlns:a16="http://schemas.microsoft.com/office/drawing/2014/main" id="{5549DC97-A89D-4FD1-A25E-D8738FBB7B2E}"/>
              </a:ext>
            </a:extLst>
          </p:cNvPr>
          <p:cNvSpPr>
            <a:spLocks xmlns:a="http://schemas.openxmlformats.org/drawingml/2006/main" noGrp="1"/>
          </p:cNvSpPr>
          <p:nvPr/>
        </p:nvSpPr>
        <p:spPr>
          <a:xfrm xmlns:a="http://schemas.openxmlformats.org/drawingml/2006/main">
            <a:off x="8001000" y="4114800"/>
            <a:ext cx="3108960" cy="411480"/>
          </a:xfrm>
          <a:prstGeom xmlns:a="http://schemas.openxmlformats.org/drawingml/2006/main" prst="roundRect">
            <a:avLst/>
          </a:prstGeom>
          <a:solidFill xmlns:a="http://schemas.openxmlformats.org/drawingml/2006/main">
            <a:srgbClr val="F4F6F8"/>
          </a:solidFill>
          <a:ln xmlns:a="http://schemas.openxmlformats.org/drawingml/2006/main" w="12700">
            <a:solidFill>
              <a:srgbClr val="D6DB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050" b="1">
                <a:solidFill>
                  <a:srgbClr val="444444"/>
                </a:solidFill>
                <a:latin typeface="Arial"/>
                <a:ea typeface="Arial"/>
                <a:cs typeface="Arial"/>
              </a:rPr>
              <a:t>AUC test: baseline = 0,500000</a:t>
            </a:r>
          </a:p>
        </p:txBody>
      </p:sp>
      <p:sp>
        <p:nvSpPr>
          <p:cNvPr id="29" name="Rounded Rectangle 28">
            <a:extLst xmlns:a="http://schemas.openxmlformats.org/drawingml/2006/main">
              <a:ext uri="{FF2B5EF4-FFF2-40B4-BE49-F238E27FC236}">
                <a16:creationId xmlns:a16="http://schemas.microsoft.com/office/drawing/2014/main" id="{9411D1D7-D3CD-438E-9E95-890AD56E9DD3}"/>
              </a:ext>
            </a:extLst>
          </p:cNvPr>
          <p:cNvSpPr>
            <a:spLocks xmlns:a="http://schemas.openxmlformats.org/drawingml/2006/main" noGrp="1"/>
          </p:cNvSpPr>
          <p:nvPr/>
        </p:nvSpPr>
        <p:spPr>
          <a:xfrm xmlns:a="http://schemas.openxmlformats.org/drawingml/2006/main">
            <a:off x="8001000" y="4663440"/>
            <a:ext cx="3108960" cy="411480"/>
          </a:xfrm>
          <a:prstGeom xmlns:a="http://schemas.openxmlformats.org/drawingml/2006/main" prst="roundRect">
            <a:avLst/>
          </a:prstGeom>
          <a:solidFill xmlns:a="http://schemas.openxmlformats.org/drawingml/2006/main">
            <a:srgbClr val="FEEDDC"/>
          </a:solidFill>
          <a:ln xmlns:a="http://schemas.openxmlformats.org/drawingml/2006/main" w="12700">
            <a:solidFill>
              <a:srgbClr val="F0C2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050" b="1">
                <a:solidFill>
                  <a:srgbClr val="A94C18"/>
                </a:solidFill>
                <a:latin typeface="Arial"/>
                <a:ea typeface="Arial"/>
                <a:cs typeface="Arial"/>
              </a:rPr>
              <a:t>Logistic Regression = 0,701896</a:t>
            </a:r>
          </a:p>
        </p:txBody>
      </p:sp>
      <p:sp>
        <p:nvSpPr>
          <p:cNvPr id="30" name="Rounded Rectangle 29">
            <a:extLst xmlns:a="http://schemas.openxmlformats.org/drawingml/2006/main">
              <a:ext uri="{FF2B5EF4-FFF2-40B4-BE49-F238E27FC236}">
                <a16:creationId xmlns:a16="http://schemas.microsoft.com/office/drawing/2014/main" id="{1D48D23C-F2B2-40BC-8970-13ADCC32E6E0}"/>
              </a:ext>
            </a:extLst>
          </p:cNvPr>
          <p:cNvSpPr>
            <a:spLocks xmlns:a="http://schemas.openxmlformats.org/drawingml/2006/main" noGrp="1"/>
          </p:cNvSpPr>
          <p:nvPr/>
        </p:nvSpPr>
        <p:spPr>
          <a:xfrm xmlns:a="http://schemas.openxmlformats.org/drawingml/2006/main">
            <a:off x="8001000" y="5212080"/>
            <a:ext cx="3108960" cy="411480"/>
          </a:xfrm>
          <a:prstGeom xmlns:a="http://schemas.openxmlformats.org/drawingml/2006/main" prst="roundRect">
            <a:avLst/>
          </a:prstGeom>
          <a:solidFill xmlns:a="http://schemas.openxmlformats.org/drawingml/2006/main">
            <a:srgbClr val="E2F4EF"/>
          </a:solidFill>
          <a:ln xmlns:a="http://schemas.openxmlformats.org/drawingml/2006/main" w="12700">
            <a:solidFill>
              <a:srgbClr val="B7DBD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050" b="1">
                <a:solidFill>
                  <a:srgbClr val="148071"/>
                </a:solidFill>
                <a:latin typeface="Arial"/>
                <a:ea typeface="Arial"/>
                <a:cs typeface="Arial"/>
              </a:rPr>
              <a:t>Random Forest = 0,687284</a:t>
            </a:r>
          </a:p>
        </p:txBody>
      </p:sp>
      <p:sp>
        <p:nvSpPr>
          <p:cNvPr id="31" name="Rounded Rectangle 30">
            <a:extLst xmlns:a="http://schemas.openxmlformats.org/drawingml/2006/main">
              <a:ext uri="{FF2B5EF4-FFF2-40B4-BE49-F238E27FC236}">
                <a16:creationId xmlns:a16="http://schemas.microsoft.com/office/drawing/2014/main" id="{F67BC0E0-EF5D-4DD5-A702-BA2B8BC8125A}"/>
              </a:ext>
            </a:extLst>
          </p:cNvPr>
          <p:cNvSpPr>
            <a:spLocks xmlns:a="http://schemas.openxmlformats.org/drawingml/2006/main" noGrp="1"/>
          </p:cNvSpPr>
          <p:nvPr/>
        </p:nvSpPr>
        <p:spPr>
          <a:xfrm xmlns:a="http://schemas.openxmlformats.org/drawingml/2006/main">
            <a:off x="1234440" y="5806440"/>
            <a:ext cx="9738360" cy="384048"/>
          </a:xfrm>
          <a:prstGeom xmlns:a="http://schemas.openxmlformats.org/drawingml/2006/main" prst="roundRect">
            <a:avLst/>
          </a:prstGeom>
          <a:solidFill xmlns:a="http://schemas.openxmlformats.org/drawingml/2006/main">
            <a:srgbClr val="E9F2FB"/>
          </a:solidFill>
          <a:ln xmlns:a="http://schemas.openxmlformats.org/drawingml/2006/main" w="12700">
            <a:solidFill>
              <a:srgbClr val="C6D7E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09728" tIns="54864" rIns="109728" bIns="54864" anchor="ctr"/>
          <a:lstStyle xmlns:a="http://schemas.openxmlformats.org/drawingml/2006/main"/>
          <a:p xmlns:a="http://schemas.openxmlformats.org/drawingml/2006/main">
            <a:pPr algn="ctr">
              <a:buNone/>
            </a:pPr>
            <a:r>
              <a:rPr sz="1050" b="1">
                <a:solidFill>
                  <a:srgbClr val="002F6C"/>
                </a:solidFill>
                <a:latin typeface="Arial"/>
                <a:ea typeface="Arial"/>
                <a:cs typeface="Arial"/>
              </a:rPr>
              <a:t>Diễn giải ngắn: AUC đo khả năng xếp hạng; F1 cân bằng Precision và Recall; common threshold quyết định order nào vào danh sách ưu tiên kiểm tra.</a:t>
            </a:r>
          </a:p>
        </p:txBody>
      </p:sp>
    </p:spTree>
    <p:extLst>
      <p:ext uri="{BB962C8B-B14F-4D97-AF65-F5344CB8AC3E}">
        <p14:creationId xmlns:p14="http://schemas.microsoft.com/office/powerpoint/2010/main" val="64369899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F0F3CB65-38AD-4491-A09D-8F51AB69B232}"/>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669C553-DB4C-48F8-B3C7-926AB2BBE228}"/>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latin typeface="Arial"/>
                <a:ea typeface="Arial"/>
                <a:cs typeface="Arial"/>
              </a:rPr>
              <a:t>HUẤN LUYỆN</a:t>
            </a:r>
          </a:p>
        </p:txBody>
      </p:sp>
      <p:sp>
        <p:nvSpPr>
          <p:cNvPr id="5" name="Text 2">
            <a:extLst xmlns:a="http://schemas.openxmlformats.org/drawingml/2006/main">
              <a:ext uri="{FF2B5EF4-FFF2-40B4-BE49-F238E27FC236}">
                <a16:creationId xmlns:a16="http://schemas.microsoft.com/office/drawing/2014/main" id="{FA537609-4310-4F64-9E8A-76951716308B}"/>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latin typeface="Arial"/>
                <a:ea typeface="Arial"/>
                <a:cs typeface="Arial"/>
              </a:rPr>
              <a:t>Chia dữ liệu và chọn common threshold một cách công bằng</a:t>
            </a:r>
          </a:p>
        </p:txBody>
      </p:sp>
      <p:sp>
        <p:nvSpPr>
          <p:cNvPr id="6" name="Shape 3">
            <a:extLst xmlns:a="http://schemas.openxmlformats.org/drawingml/2006/main">
              <a:ext uri="{FF2B5EF4-FFF2-40B4-BE49-F238E27FC236}">
                <a16:creationId xmlns:a16="http://schemas.microsoft.com/office/drawing/2014/main" id="{94B0183B-5715-4249-AE6E-742DC2383622}"/>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C196FAFD-0F95-41E5-A104-D3B6F4B6BF81}"/>
              </a:ext>
            </a:extLst>
          </p:cNvPr>
          <p:cNvSpPr>
            <a:spLocks xmlns:a="http://schemas.openxmlformats.org/drawingml/2006/main" noGrp="1"/>
          </p:cNvSpPr>
          <p:nvPr/>
        </p:nvSpPr>
        <p:spPr>
          <a:xfrm xmlns:a="http://schemas.openxmlformats.org/drawingml/2006/main">
            <a:off x="777240" y="1357884"/>
            <a:ext cx="1965960" cy="1216152"/>
          </a:xfrm>
          <a:prstGeom xmlns:a="http://schemas.openxmlformats.org/drawingml/2006/main" prst="roundRect">
            <a:avLst>
              <a:gd name="adj" fmla="val 6015"/>
            </a:avLst>
          </a:prstGeom>
          <a:solidFill xmlns:a="http://schemas.openxmlformats.org/drawingml/2006/main">
            <a:srgbClr val="DCEAF7"/>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F9699E26-2111-49B9-8993-2D0F31F071F7}"/>
              </a:ext>
            </a:extLst>
          </p:cNvPr>
          <p:cNvSpPr>
            <a:spLocks xmlns:a="http://schemas.openxmlformats.org/drawingml/2006/main" noGrp="1"/>
          </p:cNvSpPr>
          <p:nvPr/>
        </p:nvSpPr>
        <p:spPr>
          <a:xfrm xmlns:a="http://schemas.openxmlformats.org/drawingml/2006/main">
            <a:off x="941832" y="1499616"/>
            <a:ext cx="1636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latin typeface="Arial"/>
                <a:ea typeface="Arial"/>
                <a:cs typeface="Arial"/>
              </a:rPr>
              <a:t>train_full</a:t>
            </a:r>
          </a:p>
        </p:txBody>
      </p:sp>
      <p:sp>
        <p:nvSpPr>
          <p:cNvPr id="9" name="Text 6">
            <a:extLst xmlns:a="http://schemas.openxmlformats.org/drawingml/2006/main">
              <a:ext uri="{FF2B5EF4-FFF2-40B4-BE49-F238E27FC236}">
                <a16:creationId xmlns:a16="http://schemas.microsoft.com/office/drawing/2014/main" id="{DE5E0FDD-FCFA-4D33-B798-A90C865334B9}"/>
              </a:ext>
            </a:extLst>
          </p:cNvPr>
          <p:cNvSpPr>
            <a:spLocks xmlns:a="http://schemas.openxmlformats.org/drawingml/2006/main" noGrp="1"/>
          </p:cNvSpPr>
          <p:nvPr/>
        </p:nvSpPr>
        <p:spPr>
          <a:xfrm xmlns:a="http://schemas.openxmlformats.org/drawingml/2006/main">
            <a:off x="941832" y="1865376"/>
            <a:ext cx="1636776" cy="57607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100">
                <a:latin typeface="Arial"/>
                <a:ea typeface="Arial"/>
                <a:cs typeface="Arial"/>
              </a:rPr>
              <a:t>77.379 đơn</a:t>
            </a:r>
          </a:p>
        </p:txBody>
      </p:sp>
      <p:sp>
        <p:nvSpPr>
          <p:cNvPr id="10" name="Shape 7">
            <a:extLst xmlns:a="http://schemas.openxmlformats.org/drawingml/2006/main">
              <a:ext uri="{FF2B5EF4-FFF2-40B4-BE49-F238E27FC236}">
                <a16:creationId xmlns:a16="http://schemas.microsoft.com/office/drawing/2014/main" id="{7B1AF9D9-0E0A-4A36-8A06-E0CDE70BEDA5}"/>
              </a:ext>
            </a:extLst>
          </p:cNvPr>
          <p:cNvSpPr>
            <a:spLocks xmlns:a="http://schemas.openxmlformats.org/drawingml/2006/main" noGrp="1"/>
          </p:cNvSpPr>
          <p:nvPr/>
        </p:nvSpPr>
        <p:spPr>
          <a:xfrm xmlns:a="http://schemas.openxmlformats.org/drawingml/2006/main">
            <a:off x="2788920" y="1965960"/>
            <a:ext cx="457200"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1" name="Shape 8">
            <a:extLst xmlns:a="http://schemas.openxmlformats.org/drawingml/2006/main">
              <a:ext uri="{FF2B5EF4-FFF2-40B4-BE49-F238E27FC236}">
                <a16:creationId xmlns:a16="http://schemas.microsoft.com/office/drawing/2014/main" id="{0B0EC647-957E-446E-AC0E-1D4C3EBEBF43}"/>
              </a:ext>
            </a:extLst>
          </p:cNvPr>
          <p:cNvSpPr>
            <a:spLocks xmlns:a="http://schemas.openxmlformats.org/drawingml/2006/main" noGrp="1"/>
          </p:cNvSpPr>
          <p:nvPr/>
        </p:nvSpPr>
        <p:spPr>
          <a:xfrm xmlns:a="http://schemas.openxmlformats.org/drawingml/2006/main">
            <a:off x="3319272" y="1353312"/>
            <a:ext cx="1965960" cy="1216152"/>
          </a:xfrm>
          <a:prstGeom xmlns:a="http://schemas.openxmlformats.org/drawingml/2006/main" prst="roundRect">
            <a:avLst>
              <a:gd name="adj" fmla="val 6015"/>
            </a:avLst>
          </a:prstGeom>
          <a:solidFill xmlns:a="http://schemas.openxmlformats.org/drawingml/2006/main">
            <a:srgbClr val="E4F4F0"/>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CAEA438E-1F26-4247-83E6-415F89B74FAA}"/>
              </a:ext>
            </a:extLst>
          </p:cNvPr>
          <p:cNvSpPr>
            <a:spLocks xmlns:a="http://schemas.openxmlformats.org/drawingml/2006/main" noGrp="1"/>
          </p:cNvSpPr>
          <p:nvPr/>
        </p:nvSpPr>
        <p:spPr>
          <a:xfrm xmlns:a="http://schemas.openxmlformats.org/drawingml/2006/main">
            <a:off x="3483864" y="1499616"/>
            <a:ext cx="1636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latin typeface="Arial"/>
                <a:ea typeface="Arial"/>
                <a:cs typeface="Arial"/>
              </a:rPr>
              <a:t>train_fit</a:t>
            </a:r>
          </a:p>
        </p:txBody>
      </p:sp>
      <p:sp>
        <p:nvSpPr>
          <p:cNvPr id="13" name="Text 10">
            <a:extLst xmlns:a="http://schemas.openxmlformats.org/drawingml/2006/main">
              <a:ext uri="{FF2B5EF4-FFF2-40B4-BE49-F238E27FC236}">
                <a16:creationId xmlns:a16="http://schemas.microsoft.com/office/drawing/2014/main" id="{633BE15D-B370-4E7D-A8E1-D556DD29D5E2}"/>
              </a:ext>
            </a:extLst>
          </p:cNvPr>
          <p:cNvSpPr>
            <a:spLocks xmlns:a="http://schemas.openxmlformats.org/drawingml/2006/main" noGrp="1"/>
          </p:cNvSpPr>
          <p:nvPr/>
        </p:nvSpPr>
        <p:spPr>
          <a:xfrm xmlns:a="http://schemas.openxmlformats.org/drawingml/2006/main">
            <a:off x="3483864" y="1865376"/>
            <a:ext cx="1636776" cy="57607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100">
                <a:latin typeface="Arial"/>
                <a:ea typeface="Arial"/>
                <a:cs typeface="Arial"/>
              </a:rPr>
              <a:t>62.054 đơn</a:t>
            </a:r>
          </a:p>
        </p:txBody>
      </p:sp>
      <p:sp>
        <p:nvSpPr>
          <p:cNvPr id="14" name="Shape 11">
            <a:extLst xmlns:a="http://schemas.openxmlformats.org/drawingml/2006/main">
              <a:ext uri="{FF2B5EF4-FFF2-40B4-BE49-F238E27FC236}">
                <a16:creationId xmlns:a16="http://schemas.microsoft.com/office/drawing/2014/main" id="{A51049D4-E020-4BAD-BF56-BE9C856C165A}"/>
              </a:ext>
            </a:extLst>
          </p:cNvPr>
          <p:cNvSpPr>
            <a:spLocks xmlns:a="http://schemas.openxmlformats.org/drawingml/2006/main" noGrp="1"/>
          </p:cNvSpPr>
          <p:nvPr/>
        </p:nvSpPr>
        <p:spPr>
          <a:xfrm xmlns:a="http://schemas.openxmlformats.org/drawingml/2006/main">
            <a:off x="5623560" y="1353312"/>
            <a:ext cx="1965960" cy="1216152"/>
          </a:xfrm>
          <a:prstGeom xmlns:a="http://schemas.openxmlformats.org/drawingml/2006/main" prst="roundRect">
            <a:avLst>
              <a:gd name="adj" fmla="val 6015"/>
            </a:avLst>
          </a:prstGeom>
          <a:solidFill xmlns:a="http://schemas.openxmlformats.org/drawingml/2006/main">
            <a:srgbClr val="FFF4D6"/>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9B97C1D-4990-4947-81D5-5FF9721B3888}"/>
              </a:ext>
            </a:extLst>
          </p:cNvPr>
          <p:cNvSpPr>
            <a:spLocks xmlns:a="http://schemas.openxmlformats.org/drawingml/2006/main" noGrp="1"/>
          </p:cNvSpPr>
          <p:nvPr/>
        </p:nvSpPr>
        <p:spPr>
          <a:xfrm xmlns:a="http://schemas.openxmlformats.org/drawingml/2006/main">
            <a:off x="5788152" y="1499616"/>
            <a:ext cx="1636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latin typeface="Arial"/>
                <a:ea typeface="Arial"/>
                <a:cs typeface="Arial"/>
              </a:rPr>
              <a:t>validation</a:t>
            </a:r>
          </a:p>
        </p:txBody>
      </p:sp>
      <p:sp>
        <p:nvSpPr>
          <p:cNvPr id="16" name="Text 13">
            <a:extLst xmlns:a="http://schemas.openxmlformats.org/drawingml/2006/main">
              <a:ext uri="{FF2B5EF4-FFF2-40B4-BE49-F238E27FC236}">
                <a16:creationId xmlns:a16="http://schemas.microsoft.com/office/drawing/2014/main" id="{1CFDE777-B630-4B60-8348-96ADDB6F16E4}"/>
              </a:ext>
            </a:extLst>
          </p:cNvPr>
          <p:cNvSpPr>
            <a:spLocks xmlns:a="http://schemas.openxmlformats.org/drawingml/2006/main" noGrp="1"/>
          </p:cNvSpPr>
          <p:nvPr/>
        </p:nvSpPr>
        <p:spPr>
          <a:xfrm xmlns:a="http://schemas.openxmlformats.org/drawingml/2006/main">
            <a:off x="5788152" y="1865376"/>
            <a:ext cx="1636776" cy="57607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100">
                <a:latin typeface="Arial"/>
                <a:ea typeface="Arial"/>
                <a:cs typeface="Arial"/>
              </a:rPr>
              <a:t>15.325 đơn</a:t>
            </a:r>
          </a:p>
        </p:txBody>
      </p:sp>
      <p:sp>
        <p:nvSpPr>
          <p:cNvPr id="17" name="Shape 14">
            <a:extLst xmlns:a="http://schemas.openxmlformats.org/drawingml/2006/main">
              <a:ext uri="{FF2B5EF4-FFF2-40B4-BE49-F238E27FC236}">
                <a16:creationId xmlns:a16="http://schemas.microsoft.com/office/drawing/2014/main" id="{4210007E-01D0-4A75-BC5F-A5D5117E6D14}"/>
              </a:ext>
            </a:extLst>
          </p:cNvPr>
          <p:cNvSpPr>
            <a:spLocks xmlns:a="http://schemas.openxmlformats.org/drawingml/2006/main" noGrp="1"/>
          </p:cNvSpPr>
          <p:nvPr/>
        </p:nvSpPr>
        <p:spPr>
          <a:xfrm xmlns:a="http://schemas.openxmlformats.org/drawingml/2006/main">
            <a:off x="7662672" y="1965960"/>
            <a:ext cx="457200" cy="0"/>
          </a:xfrm>
          <a:prstGeom xmlns:a="http://schemas.openxmlformats.org/drawingml/2006/main" prst="line">
            <a:avLst/>
          </a:prstGeom>
          <a:noFill xmlns:a="http://schemas.openxmlformats.org/drawingml/2006/main"/>
          <a:ln xmlns:a="http://schemas.openxmlformats.org/drawingml/2006/main" w="12700">
            <a:solidFill>
              <a:srgbClr val="5F6B7A"/>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8" name="Shape 15">
            <a:extLst xmlns:a="http://schemas.openxmlformats.org/drawingml/2006/main">
              <a:ext uri="{FF2B5EF4-FFF2-40B4-BE49-F238E27FC236}">
                <a16:creationId xmlns:a16="http://schemas.microsoft.com/office/drawing/2014/main" id="{02C71992-8494-46FB-AB0D-FC8D41983454}"/>
              </a:ext>
            </a:extLst>
          </p:cNvPr>
          <p:cNvSpPr>
            <a:spLocks xmlns:a="http://schemas.openxmlformats.org/drawingml/2006/main" noGrp="1"/>
          </p:cNvSpPr>
          <p:nvPr/>
        </p:nvSpPr>
        <p:spPr>
          <a:xfrm xmlns:a="http://schemas.openxmlformats.org/drawingml/2006/main">
            <a:off x="8193024" y="1353312"/>
            <a:ext cx="1965960" cy="1216152"/>
          </a:xfrm>
          <a:prstGeom xmlns:a="http://schemas.openxmlformats.org/drawingml/2006/main" prst="roundRect">
            <a:avLst>
              <a:gd name="adj" fmla="val 6015"/>
            </a:avLst>
          </a:prstGeom>
          <a:solidFill xmlns:a="http://schemas.openxmlformats.org/drawingml/2006/main">
            <a:srgbClr val="FFF0E4"/>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15B28F61-9F9B-45F7-9AD4-8ED7E651274D}"/>
              </a:ext>
            </a:extLst>
          </p:cNvPr>
          <p:cNvSpPr>
            <a:spLocks xmlns:a="http://schemas.openxmlformats.org/drawingml/2006/main" noGrp="1"/>
          </p:cNvSpPr>
          <p:nvPr/>
        </p:nvSpPr>
        <p:spPr>
          <a:xfrm xmlns:a="http://schemas.openxmlformats.org/drawingml/2006/main">
            <a:off x="8357616" y="1499616"/>
            <a:ext cx="163677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latin typeface="Arial"/>
                <a:ea typeface="Arial"/>
                <a:cs typeface="Arial"/>
              </a:rPr>
              <a:t>test</a:t>
            </a:r>
          </a:p>
        </p:txBody>
      </p:sp>
      <p:sp>
        <p:nvSpPr>
          <p:cNvPr id="20" name="Text 17">
            <a:extLst xmlns:a="http://schemas.openxmlformats.org/drawingml/2006/main">
              <a:ext uri="{FF2B5EF4-FFF2-40B4-BE49-F238E27FC236}">
                <a16:creationId xmlns:a16="http://schemas.microsoft.com/office/drawing/2014/main" id="{D08CA41F-5469-4349-B623-257D9DD0EF29}"/>
              </a:ext>
            </a:extLst>
          </p:cNvPr>
          <p:cNvSpPr>
            <a:spLocks xmlns:a="http://schemas.openxmlformats.org/drawingml/2006/main" noGrp="1"/>
          </p:cNvSpPr>
          <p:nvPr/>
        </p:nvSpPr>
        <p:spPr>
          <a:xfrm xmlns:a="http://schemas.openxmlformats.org/drawingml/2006/main">
            <a:off x="8357616" y="1865376"/>
            <a:ext cx="1636776" cy="57607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100">
                <a:latin typeface="Arial"/>
                <a:ea typeface="Arial"/>
                <a:cs typeface="Arial"/>
              </a:rPr>
              <a:t>19.091 đơn</a:t>
            </a:r>
          </a:p>
        </p:txBody>
      </p:sp>
      <p:sp>
        <p:nvSpPr>
          <p:cNvPr id="21" name="Text 18">
            <a:extLst xmlns:a="http://schemas.openxmlformats.org/drawingml/2006/main">
              <a:ext uri="{FF2B5EF4-FFF2-40B4-BE49-F238E27FC236}">
                <a16:creationId xmlns:a16="http://schemas.microsoft.com/office/drawing/2014/main" id="{D1450805-8B6B-4839-AAE2-7EBE2C2E1F63}"/>
              </a:ext>
            </a:extLst>
          </p:cNvPr>
          <p:cNvSpPr>
            <a:spLocks xmlns:a="http://schemas.openxmlformats.org/drawingml/2006/main" noGrp="1"/>
          </p:cNvSpPr>
          <p:nvPr/>
        </p:nvSpPr>
        <p:spPr>
          <a:xfrm xmlns:a="http://schemas.openxmlformats.org/drawingml/2006/main">
            <a:off x="7973568" y="2697480"/>
            <a:ext cx="2423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latin typeface="Arial"/>
                <a:ea typeface="Arial"/>
                <a:cs typeface="Arial"/>
              </a:rPr>
              <a:t>test không tham gia chọn model hoặc chọn ngưỡng</a:t>
            </a:r>
          </a:p>
        </p:txBody>
      </p:sp>
      <p:sp>
        <p:nvSpPr>
          <p:cNvPr id="22" name="Shape 19">
            <a:extLst xmlns:a="http://schemas.openxmlformats.org/drawingml/2006/main">
              <a:ext uri="{FF2B5EF4-FFF2-40B4-BE49-F238E27FC236}">
                <a16:creationId xmlns:a16="http://schemas.microsoft.com/office/drawing/2014/main" id="{BC9C84D9-218C-4958-A507-4417D142D7AC}"/>
              </a:ext>
            </a:extLst>
          </p:cNvPr>
          <p:cNvSpPr>
            <a:spLocks xmlns:a="http://schemas.openxmlformats.org/drawingml/2006/main" noGrp="1"/>
          </p:cNvSpPr>
          <p:nvPr/>
        </p:nvSpPr>
        <p:spPr>
          <a:xfrm xmlns:a="http://schemas.openxmlformats.org/drawingml/2006/main">
            <a:off x="868680" y="3383280"/>
            <a:ext cx="2834640" cy="1325880"/>
          </a:xfrm>
          <a:prstGeom xmlns:a="http://schemas.openxmlformats.org/drawingml/2006/main" prst="roundRect">
            <a:avLst>
              <a:gd name="adj" fmla="val 5517"/>
            </a:avLst>
          </a:prstGeom>
          <a:solidFill xmlns:a="http://schemas.openxmlformats.org/drawingml/2006/main">
            <a:srgbClr val="F7F9FC"/>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23" name="Text 20">
            <a:extLst xmlns:a="http://schemas.openxmlformats.org/drawingml/2006/main">
              <a:ext uri="{FF2B5EF4-FFF2-40B4-BE49-F238E27FC236}">
                <a16:creationId xmlns:a16="http://schemas.microsoft.com/office/drawing/2014/main" id="{F339C0A0-1B4F-467A-BAA5-21EBB034EE47}"/>
              </a:ext>
            </a:extLst>
          </p:cNvPr>
          <p:cNvSpPr>
            <a:spLocks xmlns:a="http://schemas.openxmlformats.org/drawingml/2006/main" noGrp="1"/>
          </p:cNvSpPr>
          <p:nvPr/>
        </p:nvSpPr>
        <p:spPr>
          <a:xfrm xmlns:a="http://schemas.openxmlformats.org/drawingml/2006/main">
            <a:off x="941832" y="354787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latin typeface="Arial"/>
                <a:ea typeface="Arial"/>
                <a:cs typeface="Arial"/>
              </a:rPr>
              <a:t>110</a:t>
            </a:r>
          </a:p>
        </p:txBody>
      </p:sp>
      <p:sp>
        <p:nvSpPr>
          <p:cNvPr id="24" name="Text 21">
            <a:extLst xmlns:a="http://schemas.openxmlformats.org/drawingml/2006/main">
              <a:ext uri="{FF2B5EF4-FFF2-40B4-BE49-F238E27FC236}">
                <a16:creationId xmlns:a16="http://schemas.microsoft.com/office/drawing/2014/main" id="{22D8D06B-68D5-47B0-B568-952119ADA884}"/>
              </a:ext>
            </a:extLst>
          </p:cNvPr>
          <p:cNvSpPr>
            <a:spLocks xmlns:a="http://schemas.openxmlformats.org/drawingml/2006/main" noGrp="1"/>
          </p:cNvSpPr>
          <p:nvPr/>
        </p:nvSpPr>
        <p:spPr>
          <a:xfrm xmlns:a="http://schemas.openxmlformats.org/drawingml/2006/main">
            <a:off x="960120" y="4069080"/>
            <a:ext cx="26517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latin typeface="Arial"/>
                <a:ea typeface="Arial"/>
                <a:cs typeface="Arial"/>
              </a:rPr>
              <a:t>candidate được thử trên validation; xếp hạng theo average_f1 và minimum_f1</a:t>
            </a:r>
          </a:p>
        </p:txBody>
      </p:sp>
      <p:sp>
        <p:nvSpPr>
          <p:cNvPr id="25" name="Shape 22">
            <a:extLst xmlns:a="http://schemas.openxmlformats.org/drawingml/2006/main">
              <a:ext uri="{FF2B5EF4-FFF2-40B4-BE49-F238E27FC236}">
                <a16:creationId xmlns:a16="http://schemas.microsoft.com/office/drawing/2014/main" id="{6261781D-8BE2-426C-A1D3-3E733FE018D0}"/>
              </a:ext>
            </a:extLst>
          </p:cNvPr>
          <p:cNvSpPr>
            <a:spLocks xmlns:a="http://schemas.openxmlformats.org/drawingml/2006/main" noGrp="1"/>
          </p:cNvSpPr>
          <p:nvPr/>
        </p:nvSpPr>
        <p:spPr>
          <a:xfrm xmlns:a="http://schemas.openxmlformats.org/drawingml/2006/main">
            <a:off x="4023360" y="3383280"/>
            <a:ext cx="2834640" cy="1325880"/>
          </a:xfrm>
          <a:prstGeom xmlns:a="http://schemas.openxmlformats.org/drawingml/2006/main" prst="roundRect">
            <a:avLst>
              <a:gd name="adj" fmla="val 5517"/>
            </a:avLst>
          </a:prstGeom>
          <a:solidFill xmlns:a="http://schemas.openxmlformats.org/drawingml/2006/main">
            <a:srgbClr val="FFF4D6"/>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26" name="Text 23">
            <a:extLst xmlns:a="http://schemas.openxmlformats.org/drawingml/2006/main">
              <a:ext uri="{FF2B5EF4-FFF2-40B4-BE49-F238E27FC236}">
                <a16:creationId xmlns:a16="http://schemas.microsoft.com/office/drawing/2014/main" id="{D28B6212-AD20-40D8-B68C-08101798DB63}"/>
              </a:ext>
            </a:extLst>
          </p:cNvPr>
          <p:cNvSpPr>
            <a:spLocks xmlns:a="http://schemas.openxmlformats.org/drawingml/2006/main" noGrp="1"/>
          </p:cNvSpPr>
          <p:nvPr/>
        </p:nvSpPr>
        <p:spPr>
          <a:xfrm xmlns:a="http://schemas.openxmlformats.org/drawingml/2006/main">
            <a:off x="4096512" y="354787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latin typeface="Arial"/>
                <a:ea typeface="Arial"/>
                <a:cs typeface="Arial"/>
              </a:rPr>
              <a:t>0,094</a:t>
            </a:r>
          </a:p>
        </p:txBody>
      </p:sp>
      <p:sp>
        <p:nvSpPr>
          <p:cNvPr id="27" name="Text 24">
            <a:extLst xmlns:a="http://schemas.openxmlformats.org/drawingml/2006/main">
              <a:ext uri="{FF2B5EF4-FFF2-40B4-BE49-F238E27FC236}">
                <a16:creationId xmlns:a16="http://schemas.microsoft.com/office/drawing/2014/main" id="{1FD39F40-8CE0-4FE4-B4D7-A96E15627B01}"/>
              </a:ext>
            </a:extLst>
          </p:cNvPr>
          <p:cNvSpPr>
            <a:spLocks xmlns:a="http://schemas.openxmlformats.org/drawingml/2006/main" noGrp="1"/>
          </p:cNvSpPr>
          <p:nvPr/>
        </p:nvSpPr>
        <p:spPr>
          <a:xfrm xmlns:a="http://schemas.openxmlformats.org/drawingml/2006/main">
            <a:off x="4114800" y="4069080"/>
            <a:ext cx="26517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latin typeface="Arial"/>
                <a:ea typeface="Arial"/>
                <a:cs typeface="Arial"/>
              </a:rPr>
              <a:t>common threshold được chọn bằng F1 trên validation và khóa trước khi xem test</a:t>
            </a:r>
          </a:p>
        </p:txBody>
      </p:sp>
      <p:sp>
        <p:nvSpPr>
          <p:cNvPr id="28" name="Shape 25">
            <a:extLst xmlns:a="http://schemas.openxmlformats.org/drawingml/2006/main">
              <a:ext uri="{FF2B5EF4-FFF2-40B4-BE49-F238E27FC236}">
                <a16:creationId xmlns:a16="http://schemas.microsoft.com/office/drawing/2014/main" id="{C9FFF0E7-3DA5-46D4-BD11-BC9B90957EB8}"/>
              </a:ext>
            </a:extLst>
          </p:cNvPr>
          <p:cNvSpPr>
            <a:spLocks xmlns:a="http://schemas.openxmlformats.org/drawingml/2006/main" noGrp="1"/>
          </p:cNvSpPr>
          <p:nvPr/>
        </p:nvSpPr>
        <p:spPr>
          <a:xfrm xmlns:a="http://schemas.openxmlformats.org/drawingml/2006/main">
            <a:off x="7178040" y="3383280"/>
            <a:ext cx="2834640" cy="1325880"/>
          </a:xfrm>
          <a:prstGeom xmlns:a="http://schemas.openxmlformats.org/drawingml/2006/main" prst="roundRect">
            <a:avLst>
              <a:gd name="adj" fmla="val 5517"/>
            </a:avLst>
          </a:prstGeom>
          <a:solidFill xmlns:a="http://schemas.openxmlformats.org/drawingml/2006/main">
            <a:srgbClr val="E4F4F0"/>
          </a:solidFill>
          <a:ln xmlns:a="http://schemas.openxmlformats.org/drawingml/2006/main" w="12700">
            <a:solidFill>
              <a:srgbClr val="D6DEE8"/>
            </a:solidFill>
            <a:prstDash val="solid"/>
          </a:ln>
          <a:effectLst xmlns:a="http://schemas.openxmlformats.org/drawingml/2006/main">
            <a:outerShdw blurRad="12700" dist="3810" dir="27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p:txBody>
      </p:sp>
      <p:sp>
        <p:nvSpPr>
          <p:cNvPr id="29" name="Text 26">
            <a:extLst xmlns:a="http://schemas.openxmlformats.org/drawingml/2006/main">
              <a:ext uri="{FF2B5EF4-FFF2-40B4-BE49-F238E27FC236}">
                <a16:creationId xmlns:a16="http://schemas.microsoft.com/office/drawing/2014/main" id="{4BCE7577-2171-447F-AAD7-4271A8A5ECA4}"/>
              </a:ext>
            </a:extLst>
          </p:cNvPr>
          <p:cNvSpPr>
            <a:spLocks xmlns:a="http://schemas.openxmlformats.org/drawingml/2006/main" noGrp="1"/>
          </p:cNvSpPr>
          <p:nvPr/>
        </p:nvSpPr>
        <p:spPr>
          <a:xfrm xmlns:a="http://schemas.openxmlformats.org/drawingml/2006/main">
            <a:off x="7251192" y="354787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latin typeface="Arial"/>
                <a:ea typeface="Arial"/>
                <a:cs typeface="Arial"/>
              </a:rPr>
              <a:t>≤ 20%</a:t>
            </a:r>
          </a:p>
        </p:txBody>
      </p:sp>
      <p:sp>
        <p:nvSpPr>
          <p:cNvPr id="30" name="Text 27">
            <a:extLst xmlns:a="http://schemas.openxmlformats.org/drawingml/2006/main">
              <a:ext uri="{FF2B5EF4-FFF2-40B4-BE49-F238E27FC236}">
                <a16:creationId xmlns:a16="http://schemas.microsoft.com/office/drawing/2014/main" id="{F1086FB1-3743-4804-AD19-BAD3995FFCC6}"/>
              </a:ext>
            </a:extLst>
          </p:cNvPr>
          <p:cNvSpPr>
            <a:spLocks xmlns:a="http://schemas.openxmlformats.org/drawingml/2006/main" noGrp="1"/>
          </p:cNvSpPr>
          <p:nvPr/>
        </p:nvSpPr>
        <p:spPr>
          <a:xfrm xmlns:a="http://schemas.openxmlformats.org/drawingml/2006/main">
            <a:off x="7269480" y="4069080"/>
            <a:ext cx="26517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latin typeface="Arial"/>
                <a:ea typeface="Arial"/>
                <a:cs typeface="Arial"/>
              </a:rPr>
              <a:t>giới hạn alert rate cho cả hai model</a:t>
            </a:r>
          </a:p>
        </p:txBody>
      </p:sp>
      <p:sp>
        <p:nvSpPr>
          <p:cNvPr id="31" name="Shape 28">
            <a:extLst xmlns:a="http://schemas.openxmlformats.org/drawingml/2006/main">
              <a:ext uri="{FF2B5EF4-FFF2-40B4-BE49-F238E27FC236}">
                <a16:creationId xmlns:a16="http://schemas.microsoft.com/office/drawing/2014/main" id="{DC652E33-695E-4261-8360-AE853F631D99}"/>
              </a:ext>
            </a:extLst>
          </p:cNvPr>
          <p:cNvSpPr>
            <a:spLocks xmlns:a="http://schemas.openxmlformats.org/drawingml/2006/main" noGrp="1"/>
          </p:cNvSpPr>
          <p:nvPr/>
        </p:nvSpPr>
        <p:spPr>
          <a:xfrm xmlns:a="http://schemas.openxmlformats.org/drawingml/2006/main">
            <a:off x="1051560" y="5102352"/>
            <a:ext cx="10040112" cy="786384"/>
          </a:xfrm>
          <a:prstGeom xmlns:a="http://schemas.openxmlformats.org/drawingml/2006/main" prst="roundRect">
            <a:avLst>
              <a:gd name="adj" fmla="val 6977"/>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32" name="Text 29">
            <a:extLst xmlns:a="http://schemas.openxmlformats.org/drawingml/2006/main">
              <a:ext uri="{FF2B5EF4-FFF2-40B4-BE49-F238E27FC236}">
                <a16:creationId xmlns:a16="http://schemas.microsoft.com/office/drawing/2014/main" id="{8C9041F9-38B3-4245-9031-85ACFA97154A}"/>
              </a:ext>
            </a:extLst>
          </p:cNvPr>
          <p:cNvSpPr>
            <a:spLocks xmlns:a="http://schemas.openxmlformats.org/drawingml/2006/main" noGrp="1"/>
          </p:cNvSpPr>
          <p:nvPr/>
        </p:nvSpPr>
        <p:spPr>
          <a:xfrm xmlns:a="http://schemas.openxmlformats.org/drawingml/2006/main">
            <a:off x="1298448" y="5340096"/>
            <a:ext cx="95554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56810" lnSpcReduction="20000"/>
          </a:bodyPr>
          <a:lstStyle xmlns:a="http://schemas.openxmlformats.org/drawingml/2006/main"/>
          <a:p xmlns:a="http://schemas.openxmlformats.org/drawingml/2006/main">
            <a:pPr marL="0" indent="0" algn="ctr">
              <a:buNone/>
            </a:pPr>
            <a:r>
              <a:rPr sz="1800" b="1">
                <a:solidFill>
                  <a:schemeClr val="bg1"/>
                </a:solidFill>
                <a:latin typeface="Arial"/>
                <a:ea typeface="Arial"/>
                <a:cs typeface="Arial"/>
              </a:rPr>
              <a:t>Quy trình công bằng: 110 candidate → khóa common threshold 0,094 và Logistic Regression từ validation → retrain trên train_full → đánh giá test một lần.</a:t>
            </a:r>
          </a:p>
        </p:txBody>
      </p:sp>
      <p:sp>
        <p:nvSpPr>
          <p:cNvPr id="34" name="Text 31">
            <a:extLst xmlns:a="http://schemas.openxmlformats.org/drawingml/2006/main">
              <a:ext uri="{FF2B5EF4-FFF2-40B4-BE49-F238E27FC236}">
                <a16:creationId xmlns:a16="http://schemas.microsoft.com/office/drawing/2014/main" id="{C8C598F2-8A30-470C-93FB-D93A036A9760}"/>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latin typeface="Arial"/>
                <a:ea typeface="Arial"/>
                <a:cs typeface="Arial"/>
              </a:rPr>
              <a:t>11</a:t>
            </a:r>
          </a:p>
        </p:txBody>
      </p:sp>
    </p:spTree>
    <p:extLst>
      <p:ext uri="{BB962C8B-B14F-4D97-AF65-F5344CB8AC3E}">
        <p14:creationId xmlns:p14="http://schemas.microsoft.com/office/powerpoint/2010/main" val="20199196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D12650EC-8C77-4896-AEE7-E8B96F3BA6F3}"/>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FCC00A28-65DC-4345-95EF-186DF1E0CB6E}"/>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KẾT QUẢ</a:t>
            </a:r>
          </a:p>
        </p:txBody>
      </p:sp>
      <p:sp>
        <p:nvSpPr>
          <p:cNvPr id="5" name="Text 2">
            <a:extLst xmlns:a="http://schemas.openxmlformats.org/drawingml/2006/main">
              <a:ext uri="{FF2B5EF4-FFF2-40B4-BE49-F238E27FC236}">
                <a16:creationId xmlns:a16="http://schemas.microsoft.com/office/drawing/2014/main" id="{E1107EFC-329D-4C99-B13B-B6575E68B191}"/>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Kết quả test tại common threshold 0,094</a:t>
            </a:r>
          </a:p>
        </p:txBody>
      </p:sp>
      <p:sp>
        <p:nvSpPr>
          <p:cNvPr id="6" name="Shape 3">
            <a:extLst xmlns:a="http://schemas.openxmlformats.org/drawingml/2006/main">
              <a:ext uri="{FF2B5EF4-FFF2-40B4-BE49-F238E27FC236}">
                <a16:creationId xmlns:a16="http://schemas.microsoft.com/office/drawing/2014/main" id="{888AF01F-6660-4F26-9E07-CC498B810A05}"/>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pic>
        <p:nvPicPr>
          <p:cNvPr id="26" name="Image 1"/>
          <p:cNvPicPr>
            <a:picLocks xmlns:a="http://schemas.openxmlformats.org/drawingml/2006/main" noChangeAspect="1"/>
          </p:cNvPicPr>
          <p:nvPr/>
        </p:nvPicPr>
        <p:blipFill>
          <a:blip xmlns:r="http://schemas.openxmlformats.org/officeDocument/2006/relationships" xmlns:a="http://schemas.openxmlformats.org/drawingml/2006/main" r:embed="Rfedf66d854a84f99"/>
          <a:stretch xmlns:a="http://schemas.openxmlformats.org/drawingml/2006/main">
            <a:fillRect l="0" t="0" r="0" b="0"/>
          </a:stretch>
        </p:blipFill>
        <p:spPr>
          <a:xfrm xmlns:a="http://schemas.openxmlformats.org/drawingml/2006/main" flipH="0" flipV="0">
            <a:off x="658368" y="1680882"/>
            <a:ext cx="5760720" cy="3185339"/>
          </a:xfrm>
          <a:prstGeom xmlns:a="http://schemas.openxmlformats.org/drawingml/2006/main" prst="rect">
            <a:avLst/>
          </a:prstGeom>
        </p:spPr>
      </p:pic>
      <p:pic>
        <p:nvPicPr>
          <p:cNvPr id="27" name="Image 2"/>
          <p:cNvPicPr>
            <a:picLocks xmlns:a="http://schemas.openxmlformats.org/drawingml/2006/main" noChangeAspect="1"/>
          </p:cNvPicPr>
          <p:nvPr/>
        </p:nvPicPr>
        <p:blipFill>
          <a:blip xmlns:r="http://schemas.openxmlformats.org/officeDocument/2006/relationships" xmlns:a="http://schemas.openxmlformats.org/drawingml/2006/main" r:embed="R429fc9fbf9bf4904"/>
          <a:stretch xmlns:a="http://schemas.openxmlformats.org/drawingml/2006/main">
            <a:fillRect l="0" t="0" r="0" b="0"/>
          </a:stretch>
        </p:blipFill>
        <p:spPr>
          <a:xfrm xmlns:a="http://schemas.openxmlformats.org/drawingml/2006/main" flipH="0" flipV="0">
            <a:off x="6656416" y="1280160"/>
            <a:ext cx="4700847" cy="3977640"/>
          </a:xfrm>
          <a:prstGeom xmlns:a="http://schemas.openxmlformats.org/drawingml/2006/main" prst="rect">
            <a:avLst/>
          </a:prstGeom>
        </p:spPr>
      </p:pic>
      <p:sp>
        <p:nvSpPr>
          <p:cNvPr id="9" name="Shape 4">
            <a:extLst xmlns:a="http://schemas.openxmlformats.org/drawingml/2006/main">
              <a:ext uri="{FF2B5EF4-FFF2-40B4-BE49-F238E27FC236}">
                <a16:creationId xmlns:a16="http://schemas.microsoft.com/office/drawing/2014/main" id="{3FD68B62-7759-408C-9D70-514C9325A5B5}"/>
              </a:ext>
            </a:extLst>
          </p:cNvPr>
          <p:cNvSpPr>
            <a:spLocks xmlns:a="http://schemas.openxmlformats.org/drawingml/2006/main" noGrp="1"/>
          </p:cNvSpPr>
          <p:nvPr/>
        </p:nvSpPr>
        <p:spPr>
          <a:xfrm xmlns:a="http://schemas.openxmlformats.org/drawingml/2006/main">
            <a:off x="749808" y="5230368"/>
            <a:ext cx="3401568" cy="841248"/>
          </a:xfrm>
          <a:prstGeom xmlns:a="http://schemas.openxmlformats.org/drawingml/2006/main" prst="roundRect">
            <a:avLst>
              <a:gd name="adj" fmla="val 8696"/>
            </a:avLst>
          </a:prstGeom>
          <a:solidFill xmlns:a="http://schemas.openxmlformats.org/drawingml/2006/main">
            <a:srgbClr val="F7F9FC"/>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5">
            <a:extLst xmlns:a="http://schemas.openxmlformats.org/drawingml/2006/main">
              <a:ext uri="{FF2B5EF4-FFF2-40B4-BE49-F238E27FC236}">
                <a16:creationId xmlns:a16="http://schemas.microsoft.com/office/drawing/2014/main" id="{B6A5E2B9-1D5F-4118-9ABC-5F8DCFBA15AD}"/>
              </a:ext>
            </a:extLst>
          </p:cNvPr>
          <p:cNvSpPr>
            <a:spLocks xmlns:a="http://schemas.openxmlformats.org/drawingml/2006/main" noGrp="1"/>
          </p:cNvSpPr>
          <p:nvPr/>
        </p:nvSpPr>
        <p:spPr>
          <a:xfrm xmlns:a="http://schemas.openxmlformats.org/drawingml/2006/main">
            <a:off x="914400" y="5376672"/>
            <a:ext cx="3072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t>baseline</a:t>
            </a:r>
          </a:p>
        </p:txBody>
      </p:sp>
      <p:sp>
        <p:nvSpPr>
          <p:cNvPr id="11" name="Text 6">
            <a:extLst xmlns:a="http://schemas.openxmlformats.org/drawingml/2006/main">
              <a:ext uri="{FF2B5EF4-FFF2-40B4-BE49-F238E27FC236}">
                <a16:creationId xmlns:a16="http://schemas.microsoft.com/office/drawing/2014/main" id="{3CE3CAF4-3E7D-4965-9BF4-B3A7F4B7E465}"/>
              </a:ext>
            </a:extLst>
          </p:cNvPr>
          <p:cNvSpPr>
            <a:spLocks xmlns:a="http://schemas.openxmlformats.org/drawingml/2006/main" noGrp="1"/>
          </p:cNvSpPr>
          <p:nvPr/>
        </p:nvSpPr>
        <p:spPr>
          <a:xfrm xmlns:a="http://schemas.openxmlformats.org/drawingml/2006/main">
            <a:off x="914400" y="5742432"/>
            <a:ext cx="3072384" cy="20116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100"/>
              <a:t>Recall 0,00% | F1 0,00% | FN 1.261</a:t>
            </a:r>
          </a:p>
        </p:txBody>
      </p:sp>
      <p:sp>
        <p:nvSpPr>
          <p:cNvPr id="12" name="Shape 7">
            <a:extLst xmlns:a="http://schemas.openxmlformats.org/drawingml/2006/main">
              <a:ext uri="{FF2B5EF4-FFF2-40B4-BE49-F238E27FC236}">
                <a16:creationId xmlns:a16="http://schemas.microsoft.com/office/drawing/2014/main" id="{9063F892-50A1-4D6E-9B77-A3A29F2431F8}"/>
              </a:ext>
            </a:extLst>
          </p:cNvPr>
          <p:cNvSpPr>
            <a:spLocks xmlns:a="http://schemas.openxmlformats.org/drawingml/2006/main" noGrp="1"/>
          </p:cNvSpPr>
          <p:nvPr/>
        </p:nvSpPr>
        <p:spPr>
          <a:xfrm xmlns:a="http://schemas.openxmlformats.org/drawingml/2006/main">
            <a:off x="4389120" y="5230368"/>
            <a:ext cx="3401568" cy="841248"/>
          </a:xfrm>
          <a:prstGeom xmlns:a="http://schemas.openxmlformats.org/drawingml/2006/main" prst="roundRect">
            <a:avLst>
              <a:gd name="adj" fmla="val 8696"/>
            </a:avLst>
          </a:prstGeom>
          <a:solidFill xmlns:a="http://schemas.openxmlformats.org/drawingml/2006/main">
            <a:srgbClr val="FFF0E4"/>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8">
            <a:extLst xmlns:a="http://schemas.openxmlformats.org/drawingml/2006/main">
              <a:ext uri="{FF2B5EF4-FFF2-40B4-BE49-F238E27FC236}">
                <a16:creationId xmlns:a16="http://schemas.microsoft.com/office/drawing/2014/main" id="{E322CA2C-3D83-4467-A3E3-B28BBEED0E2B}"/>
              </a:ext>
            </a:extLst>
          </p:cNvPr>
          <p:cNvSpPr>
            <a:spLocks xmlns:a="http://schemas.openxmlformats.org/drawingml/2006/main" noGrp="1"/>
          </p:cNvSpPr>
          <p:nvPr/>
        </p:nvSpPr>
        <p:spPr>
          <a:xfrm xmlns:a="http://schemas.openxmlformats.org/drawingml/2006/main">
            <a:off x="4553712" y="5376672"/>
            <a:ext cx="3072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t>Logistic Regression</a:t>
            </a:r>
          </a:p>
        </p:txBody>
      </p:sp>
      <p:sp>
        <p:nvSpPr>
          <p:cNvPr id="14" name="Text 9">
            <a:extLst xmlns:a="http://schemas.openxmlformats.org/drawingml/2006/main">
              <a:ext uri="{FF2B5EF4-FFF2-40B4-BE49-F238E27FC236}">
                <a16:creationId xmlns:a16="http://schemas.microsoft.com/office/drawing/2014/main" id="{C721DF76-56CB-422B-9FCE-C2732333CA3F}"/>
              </a:ext>
            </a:extLst>
          </p:cNvPr>
          <p:cNvSpPr>
            <a:spLocks xmlns:a="http://schemas.openxmlformats.org/drawingml/2006/main" noGrp="1"/>
          </p:cNvSpPr>
          <p:nvPr/>
        </p:nvSpPr>
        <p:spPr>
          <a:xfrm xmlns:a="http://schemas.openxmlformats.org/drawingml/2006/main">
            <a:off x="4553712" y="5742432"/>
            <a:ext cx="3072384" cy="20116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100"/>
              <a:t>P 14,14% | R 43,85% | F1 21,39% | AUC 0,701896</a:t>
            </a:r>
          </a:p>
        </p:txBody>
      </p:sp>
      <p:sp>
        <p:nvSpPr>
          <p:cNvPr id="15" name="Shape 10">
            <a:extLst xmlns:a="http://schemas.openxmlformats.org/drawingml/2006/main">
              <a:ext uri="{FF2B5EF4-FFF2-40B4-BE49-F238E27FC236}">
                <a16:creationId xmlns:a16="http://schemas.microsoft.com/office/drawing/2014/main" id="{FD125C3C-2C94-4F1F-A5B4-AAC17B122ABB}"/>
              </a:ext>
            </a:extLst>
          </p:cNvPr>
          <p:cNvSpPr>
            <a:spLocks xmlns:a="http://schemas.openxmlformats.org/drawingml/2006/main" noGrp="1"/>
          </p:cNvSpPr>
          <p:nvPr/>
        </p:nvSpPr>
        <p:spPr>
          <a:xfrm xmlns:a="http://schemas.openxmlformats.org/drawingml/2006/main">
            <a:off x="8028432" y="5230368"/>
            <a:ext cx="3401568" cy="841248"/>
          </a:xfrm>
          <a:prstGeom xmlns:a="http://schemas.openxmlformats.org/drawingml/2006/main" prst="roundRect">
            <a:avLst>
              <a:gd name="adj" fmla="val 8696"/>
            </a:avLst>
          </a:prstGeom>
          <a:solidFill xmlns:a="http://schemas.openxmlformats.org/drawingml/2006/main">
            <a:srgbClr val="E4F4F0"/>
          </a:solidFill>
          <a:ln xmlns:a="http://schemas.openxmlformats.org/drawingml/2006/main" w="12700">
            <a:solidFill>
              <a:srgbClr val="D6DEE8"/>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6" name="Text 11">
            <a:extLst xmlns:a="http://schemas.openxmlformats.org/drawingml/2006/main">
              <a:ext uri="{FF2B5EF4-FFF2-40B4-BE49-F238E27FC236}">
                <a16:creationId xmlns:a16="http://schemas.microsoft.com/office/drawing/2014/main" id="{73857E29-8EDA-4788-B0B9-651B85D3F441}"/>
              </a:ext>
            </a:extLst>
          </p:cNvPr>
          <p:cNvSpPr>
            <a:spLocks xmlns:a="http://schemas.openxmlformats.org/drawingml/2006/main" noGrp="1"/>
          </p:cNvSpPr>
          <p:nvPr/>
        </p:nvSpPr>
        <p:spPr>
          <a:xfrm xmlns:a="http://schemas.openxmlformats.org/drawingml/2006/main">
            <a:off x="8193024" y="5376672"/>
            <a:ext cx="3072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t>Random Forest</a:t>
            </a:r>
          </a:p>
        </p:txBody>
      </p:sp>
      <p:sp>
        <p:nvSpPr>
          <p:cNvPr id="17" name="Text 12">
            <a:extLst xmlns:a="http://schemas.openxmlformats.org/drawingml/2006/main">
              <a:ext uri="{FF2B5EF4-FFF2-40B4-BE49-F238E27FC236}">
                <a16:creationId xmlns:a16="http://schemas.microsoft.com/office/drawing/2014/main" id="{65EECBEC-2FAF-4230-9F25-EDAD51BDEAF4}"/>
              </a:ext>
            </a:extLst>
          </p:cNvPr>
          <p:cNvSpPr>
            <a:spLocks xmlns:a="http://schemas.openxmlformats.org/drawingml/2006/main" noGrp="1"/>
          </p:cNvSpPr>
          <p:nvPr/>
        </p:nvSpPr>
        <p:spPr>
          <a:xfrm xmlns:a="http://schemas.openxmlformats.org/drawingml/2006/main">
            <a:off x="8193024" y="5742432"/>
            <a:ext cx="3072384" cy="20116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100"/>
              <a:t>P 23,77% | R 19,11% | F1 21,19% | alert 5,31%</a:t>
            </a:r>
          </a:p>
        </p:txBody>
      </p:sp>
      <p:sp>
        <p:nvSpPr>
          <p:cNvPr id="19" name="Text 14">
            <a:extLst xmlns:a="http://schemas.openxmlformats.org/drawingml/2006/main">
              <a:ext uri="{FF2B5EF4-FFF2-40B4-BE49-F238E27FC236}">
                <a16:creationId xmlns:a16="http://schemas.microsoft.com/office/drawing/2014/main" id="{B58A7C51-A842-421A-B926-DD908176E1DF}"/>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000">
                <a:latin typeface="Arial"/>
                <a:ea typeface="Arial"/>
                <a:cs typeface="Arial"/>
              </a:rPr>
              <a:t>12</a:t>
            </a:r>
          </a:p>
        </p:txBody>
      </p:sp>
    </p:spTree>
    <p:extLst>
      <p:ext uri="{BB962C8B-B14F-4D97-AF65-F5344CB8AC3E}">
        <p14:creationId xmlns:p14="http://schemas.microsoft.com/office/powerpoint/2010/main" val="172428840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F0E0D27D-C608-45F5-9494-4F180730C075}"/>
              </a:ext>
            </a:extLst>
          </p:cNvPr>
          <p:cNvSpPr>
            <a:spLocks xmlns:a="http://schemas.openxmlformats.org/drawingml/2006/main" noGrp="1"/>
          </p:cNvSpPr>
          <p:nvPr/>
        </p:nvSpPr>
        <p:spPr>
          <a:xfrm xmlns:a="http://schemas.openxmlformats.org/drawingml/2006/main">
            <a:off x="658368" y="201168"/>
            <a:ext cx="1463040" cy="274320"/>
          </a:xfrm>
          <a:prstGeom xmlns:a="http://schemas.openxmlformats.org/drawingml/2006/main" prst="roundRect">
            <a:avLst>
              <a:gd name="adj" fmla="val 20000"/>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6CCB90B7-BA05-40E7-AB20-D925B6BEF5F3}"/>
              </a:ext>
            </a:extLst>
          </p:cNvPr>
          <p:cNvSpPr>
            <a:spLocks xmlns:a="http://schemas.openxmlformats.org/drawingml/2006/main" noGrp="1"/>
          </p:cNvSpPr>
          <p:nvPr/>
        </p:nvSpPr>
        <p:spPr>
          <a:xfrm xmlns:a="http://schemas.openxmlformats.org/drawingml/2006/main">
            <a:off x="713232" y="233172"/>
            <a:ext cx="13533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ptos"/>
                <a:ea typeface="Aptos"/>
                <a:cs typeface="Aptos"/>
              </a:rPr>
              <a:t>KẾT LUẬN</a:t>
            </a:r>
          </a:p>
        </p:txBody>
      </p:sp>
      <p:sp>
        <p:nvSpPr>
          <p:cNvPr id="5" name="Text 2">
            <a:extLst xmlns:a="http://schemas.openxmlformats.org/drawingml/2006/main">
              <a:ext uri="{FF2B5EF4-FFF2-40B4-BE49-F238E27FC236}">
                <a16:creationId xmlns:a16="http://schemas.microsoft.com/office/drawing/2014/main" id="{6F2A3A4E-E23E-4340-8814-744DC104797C}"/>
              </a:ext>
            </a:extLst>
          </p:cNvPr>
          <p:cNvSpPr>
            <a:spLocks xmlns:a="http://schemas.openxmlformats.org/drawingml/2006/main" noGrp="1"/>
          </p:cNvSpPr>
          <p:nvPr/>
        </p:nvSpPr>
        <p:spPr>
          <a:xfrm xmlns:a="http://schemas.openxmlformats.org/drawingml/2006/main">
            <a:off x="658368" y="521208"/>
            <a:ext cx="108813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4A8B"/>
                </a:solidFill>
                <a:latin typeface="Aptos Display"/>
                <a:ea typeface="Aptos Display"/>
                <a:cs typeface="Aptos Display"/>
              </a:rPr>
              <a:t>Khuyến nghị sử dụng và giới hạn của phân tích</a:t>
            </a:r>
          </a:p>
        </p:txBody>
      </p:sp>
      <p:sp>
        <p:nvSpPr>
          <p:cNvPr id="6" name="Shape 3">
            <a:extLst xmlns:a="http://schemas.openxmlformats.org/drawingml/2006/main">
              <a:ext uri="{FF2B5EF4-FFF2-40B4-BE49-F238E27FC236}">
                <a16:creationId xmlns:a16="http://schemas.microsoft.com/office/drawing/2014/main" id="{9ED5F633-C917-4F17-9ABC-5E7937CFC683}"/>
              </a:ext>
            </a:extLst>
          </p:cNvPr>
          <p:cNvSpPr>
            <a:spLocks xmlns:a="http://schemas.openxmlformats.org/drawingml/2006/main" noGrp="1"/>
          </p:cNvSpPr>
          <p:nvPr/>
        </p:nvSpPr>
        <p:spPr>
          <a:xfrm xmlns:a="http://schemas.openxmlformats.org/drawingml/2006/main">
            <a:off x="658368" y="1024128"/>
            <a:ext cx="10881360" cy="0"/>
          </a:xfrm>
          <a:prstGeom xmlns:a="http://schemas.openxmlformats.org/drawingml/2006/main" prst="line">
            <a:avLst/>
          </a:prstGeom>
          <a:noFill xmlns:a="http://schemas.openxmlformats.org/drawingml/2006/main"/>
          <a:ln xmlns:a="http://schemas.openxmlformats.org/drawingml/2006/main" w="12700">
            <a:solidFill>
              <a:srgbClr val="F4B942"/>
            </a:solidFill>
            <a:prstDash val="solid"/>
          </a:ln>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AAFFCF75-D6DC-48A3-A4EC-8E7CAD37F5B2}"/>
              </a:ext>
            </a:extLst>
          </p:cNvPr>
          <p:cNvSpPr>
            <a:spLocks xmlns:a="http://schemas.openxmlformats.org/drawingml/2006/main" noGrp="1"/>
          </p:cNvSpPr>
          <p:nvPr/>
        </p:nvSpPr>
        <p:spPr>
          <a:xfrm xmlns:a="http://schemas.openxmlformats.org/drawingml/2006/main">
            <a:off x="749808" y="1353312"/>
            <a:ext cx="5257800" cy="3639312"/>
          </a:xfrm>
          <a:prstGeom xmlns:a="http://schemas.openxmlformats.org/drawingml/2006/main" prst="roundRect">
            <a:avLst>
              <a:gd name="adj" fmla="val 2010"/>
            </a:avLst>
          </a:prstGeom>
          <a:solidFill xmlns:a="http://schemas.openxmlformats.org/drawingml/2006/main">
            <a:srgbClr val="EAF6EA"/>
          </a:solidFill>
          <a:ln xmlns:a="http://schemas.openxmlformats.org/drawingml/2006/main" w="12700">
            <a:solidFill>
              <a:srgbClr val="9CCB9E"/>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nchor="t"/>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0632A179-6608-4B03-8EDF-886D8E6D80C1}"/>
              </a:ext>
            </a:extLst>
          </p:cNvPr>
          <p:cNvSpPr>
            <a:spLocks xmlns:a="http://schemas.openxmlformats.org/drawingml/2006/main" noGrp="1"/>
          </p:cNvSpPr>
          <p:nvPr/>
        </p:nvSpPr>
        <p:spPr>
          <a:xfrm xmlns:a="http://schemas.openxmlformats.org/drawingml/2006/main">
            <a:off x="914400" y="1499616"/>
            <a:ext cx="49286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b="1">
                <a:solidFill>
                  <a:srgbClr val="2B7A32"/>
                </a:solidFill>
              </a:rPr>
              <a:t>Nên sử dụng như thế nào</a:t>
            </a:r>
          </a:p>
        </p:txBody>
      </p:sp>
      <p:sp>
        <p:nvSpPr>
          <p:cNvPr id="9" name="Text 6">
            <a:extLst xmlns:a="http://schemas.openxmlformats.org/drawingml/2006/main">
              <a:ext uri="{FF2B5EF4-FFF2-40B4-BE49-F238E27FC236}">
                <a16:creationId xmlns:a16="http://schemas.microsoft.com/office/drawing/2014/main" id="{160D7FDD-BDA7-43D3-AE56-B7CFECEEC8DC}"/>
              </a:ext>
            </a:extLst>
          </p:cNvPr>
          <p:cNvSpPr>
            <a:spLocks xmlns:a="http://schemas.openxmlformats.org/drawingml/2006/main" noGrp="1"/>
          </p:cNvSpPr>
          <p:nvPr/>
        </p:nvSpPr>
        <p:spPr>
          <a:xfrm xmlns:a="http://schemas.openxmlformats.org/drawingml/2006/main">
            <a:off x="914400" y="1865376"/>
            <a:ext cx="4928616" cy="29992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a:solidFill>
                  <a:srgbClr val="1D2630"/>
                </a:solidFill>
              </a:rPr>
              <a:t>• Dùng Logistic Regression để xếp ưu tiên đơn cần kiểm tra sớm.</a:t>
            </a:r>
          </a:p>
          <a:p xmlns:a="http://schemas.openxmlformats.org/drawingml/2006/main">
            <a:pPr marL="0" indent="0">
              <a:buNone/>
            </a:pPr>
            <a:r>
              <a:rPr>
                <a:solidFill>
                  <a:srgbClr val="1D2630"/>
                </a:solidFill>
              </a:rPr>
              <a:t>• Common threshold 0,094 được chọn bằng F1 trên validation.</a:t>
            </a:r>
          </a:p>
          <a:p xmlns:a="http://schemas.openxmlformats.org/drawingml/2006/main">
            <a:pPr marL="0" indent="0">
              <a:buNone/>
            </a:pPr>
            <a:r>
              <a:rPr>
                <a:solidFill>
                  <a:srgbClr val="1D2630"/>
                </a:solidFill>
              </a:rPr>
              <a:t>• Test chỉ mô tả hiệu năng cuối, không dùng để đổi quyết định.</a:t>
            </a:r>
          </a:p>
        </p:txBody>
      </p:sp>
      <p:sp>
        <p:nvSpPr>
          <p:cNvPr id="10" name="Shape 7">
            <a:extLst xmlns:a="http://schemas.openxmlformats.org/drawingml/2006/main">
              <a:ext uri="{FF2B5EF4-FFF2-40B4-BE49-F238E27FC236}">
                <a16:creationId xmlns:a16="http://schemas.microsoft.com/office/drawing/2014/main" id="{5C650593-5EF1-4755-A3CA-8F06F085651A}"/>
              </a:ext>
            </a:extLst>
          </p:cNvPr>
          <p:cNvSpPr>
            <a:spLocks xmlns:a="http://schemas.openxmlformats.org/drawingml/2006/main" noGrp="1"/>
          </p:cNvSpPr>
          <p:nvPr/>
        </p:nvSpPr>
        <p:spPr>
          <a:xfrm xmlns:a="http://schemas.openxmlformats.org/drawingml/2006/main">
            <a:off x="6190488" y="1353312"/>
            <a:ext cx="5257800" cy="3639312"/>
          </a:xfrm>
          <a:prstGeom xmlns:a="http://schemas.openxmlformats.org/drawingml/2006/main" prst="roundRect">
            <a:avLst>
              <a:gd name="adj" fmla="val 2010"/>
            </a:avLst>
          </a:prstGeom>
          <a:solidFill xmlns:a="http://schemas.openxmlformats.org/drawingml/2006/main">
            <a:srgbClr val="FCE9E7"/>
          </a:solidFill>
          <a:ln xmlns:a="http://schemas.openxmlformats.org/drawingml/2006/main" w="12700">
            <a:solidFill>
              <a:srgbClr val="E3A7A4"/>
            </a:solidFill>
            <a:prstDash val="solid"/>
          </a:ln>
          <a:effectLst xmlns:a="http://schemas.openxmlformats.org/drawingml/2006/main">
            <a:outerShdw blurRad="15240" dist="5080" dir="2700000" algn="bl" rotWithShape="0">
              <a:srgbClr val="000000">
                <a:alpha val="12000"/>
              </a:srgbClr>
            </a:outerShdw>
          </a:effectLst>
        </p:spPr>
        <p:txBody>
          <a:bodyPr xmlns:a="http://schemas.openxmlformats.org/drawingml/2006/main" anchor="t"/>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63595DC0-C3C5-4279-ABC3-538637E451FA}"/>
              </a:ext>
            </a:extLst>
          </p:cNvPr>
          <p:cNvSpPr>
            <a:spLocks xmlns:a="http://schemas.openxmlformats.org/drawingml/2006/main" noGrp="1"/>
          </p:cNvSpPr>
          <p:nvPr/>
        </p:nvSpPr>
        <p:spPr>
          <a:xfrm xmlns:a="http://schemas.openxmlformats.org/drawingml/2006/main">
            <a:off x="6355080" y="1499616"/>
            <a:ext cx="49286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b="1">
                <a:solidFill>
                  <a:srgbClr val="D9534F"/>
                </a:solidFill>
              </a:rPr>
              <a:t>Giới hạn cần nói rõ</a:t>
            </a:r>
          </a:p>
        </p:txBody>
      </p:sp>
      <p:sp>
        <p:nvSpPr>
          <p:cNvPr id="12" name="Text 9">
            <a:extLst xmlns:a="http://schemas.openxmlformats.org/drawingml/2006/main">
              <a:ext uri="{FF2B5EF4-FFF2-40B4-BE49-F238E27FC236}">
                <a16:creationId xmlns:a16="http://schemas.microsoft.com/office/drawing/2014/main" id="{26AE6F7C-3D78-4A66-A002-E8647204C8CF}"/>
              </a:ext>
            </a:extLst>
          </p:cNvPr>
          <p:cNvSpPr>
            <a:spLocks xmlns:a="http://schemas.openxmlformats.org/drawingml/2006/main" noGrp="1"/>
          </p:cNvSpPr>
          <p:nvPr/>
        </p:nvSpPr>
        <p:spPr>
          <a:xfrm xmlns:a="http://schemas.openxmlformats.org/drawingml/2006/main">
            <a:off x="6355080" y="1865376"/>
            <a:ext cx="4928616" cy="29992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a:solidFill>
                  <a:srgbClr val="1D2630"/>
                </a:solidFill>
              </a:rPr>
              <a:t>• Class imbalance rõ; Precision của model minh họa 14,14%.</a:t>
            </a:r>
          </a:p>
          <a:p xmlns:a="http://schemas.openxmlformats.org/drawingml/2006/main">
            <a:pPr marL="0" indent="0">
              <a:buNone/>
            </a:pPr>
            <a:r>
              <a:rPr>
                <a:solidFill>
                  <a:srgbClr val="1D2630"/>
                </a:solidFill>
              </a:rPr>
              <a:t>• Probability score chưa được calibration.</a:t>
            </a:r>
          </a:p>
          <a:p xmlns:a="http://schemas.openxmlformats.org/drawingml/2006/main">
            <a:pPr marL="0" indent="0">
              <a:buNone/>
            </a:pPr>
            <a:r>
              <a:rPr>
                <a:solidFill>
                  <a:srgbClr val="1D2630"/>
                </a:solidFill>
              </a:rPr>
              <a:t>• Model không chứng minh quan hệ nhân quả và không tự động thông báo khách hàng.</a:t>
            </a:r>
          </a:p>
        </p:txBody>
      </p:sp>
      <p:sp>
        <p:nvSpPr>
          <p:cNvPr id="13" name="Shape 10">
            <a:extLst xmlns:a="http://schemas.openxmlformats.org/drawingml/2006/main">
              <a:ext uri="{FF2B5EF4-FFF2-40B4-BE49-F238E27FC236}">
                <a16:creationId xmlns:a16="http://schemas.microsoft.com/office/drawing/2014/main" id="{24D46BFC-53DA-450B-BF56-2D42BB5F66A3}"/>
              </a:ext>
            </a:extLst>
          </p:cNvPr>
          <p:cNvSpPr>
            <a:spLocks xmlns:a="http://schemas.openxmlformats.org/drawingml/2006/main" noGrp="1"/>
          </p:cNvSpPr>
          <p:nvPr/>
        </p:nvSpPr>
        <p:spPr>
          <a:xfrm xmlns:a="http://schemas.openxmlformats.org/drawingml/2006/main">
            <a:off x="1097280" y="5303520"/>
            <a:ext cx="9966960" cy="658368"/>
          </a:xfrm>
          <a:prstGeom xmlns:a="http://schemas.openxmlformats.org/drawingml/2006/main" prst="roundRect">
            <a:avLst>
              <a:gd name="adj" fmla="val 6944"/>
            </a:avLst>
          </a:prstGeom>
          <a:solidFill xmlns:a="http://schemas.openxmlformats.org/drawingml/2006/main">
            <a:srgbClr val="0B4A8B"/>
          </a:solidFill>
          <a:ln xmlns:a="http://schemas.openxmlformats.org/drawingml/2006/main" w="12700">
            <a:solidFill>
              <a:srgbClr val="0B4A8B"/>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6DC62735-938E-4F8D-BBFE-678BEE552DCA}"/>
              </a:ext>
            </a:extLst>
          </p:cNvPr>
          <p:cNvSpPr>
            <a:spLocks xmlns:a="http://schemas.openxmlformats.org/drawingml/2006/main" noGrp="1"/>
          </p:cNvSpPr>
          <p:nvPr/>
        </p:nvSpPr>
        <p:spPr>
          <a:xfrm xmlns:a="http://schemas.openxmlformats.org/drawingml/2006/main">
            <a:off x="1353312" y="5504688"/>
            <a:ext cx="9464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6491"/>
          </a:bodyPr>
          <a:lstStyle xmlns:a="http://schemas.openxmlformats.org/drawingml/2006/main"/>
          <a:p xmlns:a="http://schemas.openxmlformats.org/drawingml/2006/main">
            <a:pPr marL="0" indent="0" algn="ctr">
              <a:buNone/>
            </a:pPr>
            <a:r>
              <a:rPr sz="1200" b="1">
                <a:solidFill>
                  <a:srgbClr val="FFFFFF"/>
                </a:solidFill>
              </a:rPr>
              <a:t>Kết luận: Logistic Regression được chọn theo F1 trên validation; Recall test 43,85%, F1 21,39%. Model chỉ hỗ trợ tạo danh sách ưu tiên kiểm tra.</a:t>
            </a:r>
          </a:p>
        </p:txBody>
      </p:sp>
      <p:sp>
        <p:nvSpPr>
          <p:cNvPr id="16" name="Text 13">
            <a:extLst xmlns:a="http://schemas.openxmlformats.org/drawingml/2006/main">
              <a:ext uri="{FF2B5EF4-FFF2-40B4-BE49-F238E27FC236}">
                <a16:creationId xmlns:a16="http://schemas.microsoft.com/office/drawing/2014/main" id="{07ABE0D8-0047-43AF-8E1D-D2A7EE05DFC8}"/>
              </a:ext>
            </a:extLst>
          </p:cNvPr>
          <p:cNvSpPr>
            <a:spLocks xmlns:a="http://schemas.openxmlformats.org/drawingml/2006/main" noGrp="1"/>
          </p:cNvSpPr>
          <p:nvPr/>
        </p:nvSpPr>
        <p:spPr>
          <a:xfrm xmlns:a="http://schemas.openxmlformats.org/drawingml/2006/main">
            <a:off x="11155680" y="6519672"/>
            <a:ext cx="320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600">
                <a:solidFill>
                  <a:srgbClr val="A0A0A0"/>
                </a:solidFill>
                <a:latin typeface="Arial"/>
                <a:ea typeface="Arial"/>
                <a:cs typeface="Arial"/>
              </a:rPr>
              <a:t>13</a:t>
            </a:r>
          </a:p>
        </p:txBody>
      </p:sp>
    </p:spTree>
    <p:extLst>
      <p:ext uri="{BB962C8B-B14F-4D97-AF65-F5344CB8AC3E}">
        <p14:creationId xmlns:p14="http://schemas.microsoft.com/office/powerpoint/2010/main" val="38814796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C6BF881-4589-A4C2-5976-5897640D5573}"/>
              </a:ext>
            </a:extLst>
          </p:cNvPr>
          <p:cNvSpPr>
            <a:spLocks xmlns:a="http://schemas.openxmlformats.org/drawingml/2006/main" noGrp="1"/>
          </p:cNvSpPr>
          <p:nvPr/>
        </p:nvSpPr>
        <p:spPr>
          <a:xfrm xmlns:a="http://schemas.openxmlformats.org/drawingml/2006/main">
            <a:off x="1411072" y="2967335"/>
            <a:ext cx="9369873" cy="923330"/>
          </a:xfrm>
          <a:prstGeom xmlns:a="http://schemas.openxmlformats.org/drawingml/2006/main" prst="rect">
            <a:avLst/>
          </a:prstGeom>
          <a:noFill xmlns:a="http://schemas.openxmlformats.org/drawingml/2006/main"/>
        </p:spPr>
        <p:txBody>
          <a:bodyPr xmlns:a="http://schemas.openxmlformats.org/drawingml/2006/main" wrap="none" lIns="91440" tIns="45720" rIns="91440" bIns="45720">
            <a:spAutoFit/>
          </a:bodyPr>
          <a:lstStyle xmlns:a="http://schemas.openxmlformats.org/drawingml/2006/main"/>
          <a:p xmlns:a="http://schemas.openxmlformats.org/drawingml/2006/main">
            <a:pPr algn="ctr">
              <a:buNone/>
            </a:pPr>
            <a:r>
              <a:rPr sz="5400" b="1" cap="none">
                <a:solidFill>
                  <a:schemeClr val="accent4"/>
                </a:solidFill>
              </a:rPr>
              <a:t>THANK FOR YOUR LISTENING</a:t>
            </a:r>
          </a:p>
        </p:txBody>
      </p:sp>
    </p:spTree>
    <p:extLst>
      <p:ext uri="{BB962C8B-B14F-4D97-AF65-F5344CB8AC3E}">
        <p14:creationId xmlns:p14="http://schemas.microsoft.com/office/powerpoint/2010/main" val="49361824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2026-07-31T15:22:05.7790000Z</dcterms:created>
  <dcterms:modified xsi:type="dcterms:W3CDTF">2026-07-31T15:22:05.7790000Z</dcterms:modified>
</coreProperties>
</file>